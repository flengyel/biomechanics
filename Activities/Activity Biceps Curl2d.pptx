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3" r:id="rId2"/>
    <p:sldId id="332" r:id="rId3"/>
    <p:sldId id="309" r:id="rId4"/>
    <p:sldId id="319" r:id="rId5"/>
    <p:sldId id="312" r:id="rId6"/>
    <p:sldId id="334" r:id="rId7"/>
    <p:sldId id="311" r:id="rId8"/>
    <p:sldId id="32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213"/>
    <p:restoredTop sz="96327"/>
  </p:normalViewPr>
  <p:slideViewPr>
    <p:cSldViewPr snapToGrid="0" showGuides="1">
      <p:cViewPr varScale="1">
        <p:scale>
          <a:sx n="202" d="100"/>
          <a:sy n="202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42E7-2D07-ACFD-74C4-9CB9A1E512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07A934-BC49-E58C-90CD-FCA7B1FF1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462A7-D10E-5491-C519-9752F0CE5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5F86B-8D4B-568E-D9AA-7597B6E85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DE873-D9A4-E671-CD26-13AE292A1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465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575D0-7931-0FD5-EDAA-5081DB327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2E2E-18D4-B561-162C-BA0D09ED8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A16A0-106F-3F6A-E052-7B4CCD6F2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5A0E0-3898-DE16-3BB0-B7846060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9A00F-0439-8E8E-8697-2E7ADD6DC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47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CB13F-3EEB-AE9C-245E-55AB72E4A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4F4BA-1DC3-8646-0F50-7CD99B194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9FF0E-3C6B-C060-C1ED-4A14B240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34430-EE8F-0BBA-2629-03BDA53A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0C423-9660-3AE1-D4F7-9896A41AF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4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32273-F3A4-FA61-94A6-1DFFE869E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9B024-05C5-E870-5918-4C032262D7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E6A6EA-7F4E-F14E-ECE6-3E3B8ED85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EC914-5005-6333-8AC3-A97619F3D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35521-7B81-7841-8674-B1BABACAE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38545-8FCE-A0F0-DD1B-0659705FA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555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2C8E2-8308-F0A8-749F-48FCD74D5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2E8E9-859B-B725-1AEC-900B222B0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BCE78-4623-E6A9-A5CE-60D83DC2FB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6A8EF8-BCFD-29E5-EC48-281BC9B65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55416D-8863-570F-0B4A-E56A75BD29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939369-9981-4F35-DCC2-6FE5F428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887CC-E99A-1D5F-CDDF-BD48036E3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84A92-8029-AAC9-0051-6FC51453C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08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382F-DFD6-EA59-30C1-321B1A88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89CC85-4AAE-2406-894C-DD0B4B52D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4B861C-69C7-EB6A-4184-7E3CB816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03EE71-76EC-9FFD-5340-0A002062D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08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EA6508-56F8-956D-B29B-03245484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5C396-4DB8-5363-E9A9-824416DA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2D92C-512D-95A4-D6BE-4A36B9087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45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29750-4CA4-583D-43BF-5A257D0B9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A282-8A9A-8B59-4D68-E09DC36D2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94F01-EEBD-BAF8-FE61-F394CE4932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201A06-4B93-EA3C-4E73-6B577B13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F7054-9195-9ABB-4732-E52A0DB1B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28CF24-31A4-A219-662C-85E4665C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55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3FD4D-57FA-4EB1-C5CB-3874D439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D111BB-63BE-D777-3983-42ED83F5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2FADD-1607-4EC7-0A97-8D1698F46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ED5267-9240-F970-F54D-453A9113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CAAC4F-9C55-360C-84D0-6C845DF51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A7FDC4-B3FA-6DF5-F4C6-C5D211CD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929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BCB5-8305-A7FF-1D81-199ED0C6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6E09B2-E42A-4328-DDCD-59B6A377F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C04C0-C65E-1514-C6D7-C9E86BBE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933D-101E-3132-38A2-DD94D724A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77E6-8201-0839-4457-046E7C93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779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9C5011-4E65-7588-A3AB-09153AFB60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84C812-8D7B-3402-E8FB-1AF7283937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81582-EEB9-A77E-5C9C-69DC5CFA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324C6-2206-5986-EBEB-052C78DC3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BDB14-CC6D-BBCC-994C-8F2A8B03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4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CC5CC-210B-CF8D-9927-67625BC38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79E25-33D1-8015-2152-A4177EC60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500F8-6CB9-F707-3B5B-72E7105C3E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7642B-6E91-6349-826F-0CE9A9A9DA3A}" type="datetimeFigureOut">
              <a:rPr lang="en-US" smtClean="0"/>
              <a:t>11/21/24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16BC8-6DE7-0A8C-BADD-A7F03308EB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4630F-2498-64E9-77C5-26393B76F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522633-8E2D-5146-83E9-44304A6BBC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082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trengthlevel.com/strength-standards/dumbbell-curl/lb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F25D5D-4900-3391-E9AA-8C2DE2609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062" y="3004624"/>
            <a:ext cx="7064033" cy="35513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78B43C-15EE-6992-3693-876713E85E32}"/>
              </a:ext>
            </a:extLst>
          </p:cNvPr>
          <p:cNvSpPr txBox="1"/>
          <p:nvPr/>
        </p:nvSpPr>
        <p:spPr>
          <a:xfrm>
            <a:off x="1150706" y="400692"/>
            <a:ext cx="31952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Biceps curl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FFBB5D-65FA-973C-7B42-5479F407A1F0}"/>
              </a:ext>
            </a:extLst>
          </p:cNvPr>
          <p:cNvSpPr txBox="1"/>
          <p:nvPr/>
        </p:nvSpPr>
        <p:spPr>
          <a:xfrm>
            <a:off x="809320" y="2273564"/>
            <a:ext cx="6842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Neglect the weight of the arm itself in this analysis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ADEF95-AB05-6986-F2AD-13B42329C5E6}"/>
              </a:ext>
            </a:extLst>
          </p:cNvPr>
          <p:cNvSpPr txBox="1"/>
          <p:nvPr/>
        </p:nvSpPr>
        <p:spPr>
          <a:xfrm>
            <a:off x="6412959" y="911104"/>
            <a:ext cx="48936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She is hold her arm still, so forces and torques on the forearm/hand must balance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0C19C9-8CCA-A86D-97A2-B3C0532BE114}"/>
              </a:ext>
            </a:extLst>
          </p:cNvPr>
          <p:cNvSpPr txBox="1"/>
          <p:nvPr/>
        </p:nvSpPr>
        <p:spPr>
          <a:xfrm>
            <a:off x="301506" y="1110701"/>
            <a:ext cx="4893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Limb system</a:t>
            </a:r>
            <a:r>
              <a:rPr lang="en-US" sz="2400" b="1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forearm/hand</a:t>
            </a:r>
          </a:p>
          <a:p>
            <a:r>
              <a:rPr lang="en-US" sz="2400" b="1" i="1" dirty="0"/>
              <a:t>Joint:</a:t>
            </a:r>
            <a:r>
              <a:rPr lang="en-US" sz="2400" b="1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elbow</a:t>
            </a:r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8A2A8-C150-45DC-5503-FC2DC267E438}"/>
              </a:ext>
            </a:extLst>
          </p:cNvPr>
          <p:cNvSpPr/>
          <p:nvPr/>
        </p:nvSpPr>
        <p:spPr>
          <a:xfrm>
            <a:off x="8562582" y="2408656"/>
            <a:ext cx="23503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muscle    =  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itchFamily="2" charset="2"/>
              </a:rPr>
              <a:t></a:t>
            </a:r>
            <a:r>
              <a:rPr lang="en-US" sz="24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73BCCB-5F2C-5B58-4234-1BFEFAC6C00E}"/>
              </a:ext>
            </a:extLst>
          </p:cNvPr>
          <p:cNvSpPr txBox="1"/>
          <p:nvPr/>
        </p:nvSpPr>
        <p:spPr>
          <a:xfrm>
            <a:off x="8259589" y="1729130"/>
            <a:ext cx="3174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Torque Equilibrium condition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          = 0</a:t>
            </a:r>
            <a:endParaRPr lang="en-US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2CC6FD-A06D-9BF1-CF87-3AB3B32E9659}"/>
              </a:ext>
            </a:extLst>
          </p:cNvPr>
          <p:cNvSpPr txBox="1"/>
          <p:nvPr/>
        </p:nvSpPr>
        <p:spPr>
          <a:xfrm>
            <a:off x="8350591" y="6119336"/>
            <a:ext cx="317461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Force Equilibrium condition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      F = 0</a:t>
            </a:r>
            <a:endParaRPr lang="en-US" sz="24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FDC4AF-8165-0BFE-5CEB-0C4060CD15C4}"/>
              </a:ext>
            </a:extLst>
          </p:cNvPr>
          <p:cNvSpPr/>
          <p:nvPr/>
        </p:nvSpPr>
        <p:spPr>
          <a:xfrm>
            <a:off x="8218818" y="3147320"/>
            <a:ext cx="3678773" cy="425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en-US" sz="2000" b="1" baseline="-250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  <a:r>
              <a:rPr lang="en-US" sz="2000" b="1" baseline="-25000" dirty="0">
                <a:solidFill>
                  <a:srgbClr val="7030A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000" b="1" baseline="-250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dumbbell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07433E-E2E5-CAA0-C7F8-1B3937317CBA}"/>
                  </a:ext>
                </a:extLst>
              </p:cNvPr>
              <p:cNvSpPr txBox="1"/>
              <p:nvPr/>
            </p:nvSpPr>
            <p:spPr>
              <a:xfrm>
                <a:off x="8588136" y="3632176"/>
                <a:ext cx="2444360" cy="5792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 b="0" i="0" smtClean="0">
                            <a:solidFill>
                              <a:srgbClr val="0070C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sz="2000" b="0" i="0" baseline="-25000" smtClean="0">
                            <a:solidFill>
                              <a:srgbClr val="0070C0"/>
                            </a:solidFill>
                          </a:rPr>
                          <m:t>dumbbell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000" smtClean="0">
                            <a:solidFill>
                              <a:srgbClr val="0070C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000" baseline="-25000" smtClean="0">
                            <a:solidFill>
                              <a:srgbClr val="0070C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000" b="0" i="0" baseline="-25000" smtClean="0">
                            <a:solidFill>
                              <a:srgbClr val="0070C0"/>
                            </a:solidFill>
                            <a:sym typeface="Symbol" panose="05050102010706020507" pitchFamily="18" charset="2"/>
                          </a:rPr>
                          <m:t>dumbbell</m:t>
                        </m:r>
                        <m:r>
                          <a:rPr lang="en-US" sz="2000" b="0" i="1" baseline="-25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00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0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0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607433E-E2E5-CAA0-C7F8-1B3937317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136" y="3632176"/>
                <a:ext cx="2444360" cy="579261"/>
              </a:xfrm>
              <a:prstGeom prst="rect">
                <a:avLst/>
              </a:prstGeom>
              <a:blipFill>
                <a:blip r:embed="rId3"/>
                <a:stretch>
                  <a:fillRect b="-108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4029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123590A-3162-487E-F804-1E5E818C2E4D}"/>
              </a:ext>
            </a:extLst>
          </p:cNvPr>
          <p:cNvGrpSpPr/>
          <p:nvPr/>
        </p:nvGrpSpPr>
        <p:grpSpPr>
          <a:xfrm>
            <a:off x="547842" y="2575310"/>
            <a:ext cx="7753677" cy="3971820"/>
            <a:chOff x="625631" y="1306333"/>
            <a:chExt cx="7064033" cy="355135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3074043-6700-026D-60D6-EAF6282FE3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31" y="1306333"/>
              <a:ext cx="7064033" cy="355135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FC00D2-A3E9-99BE-14C2-901E8604A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4000"/>
            </a:blip>
            <a:stretch>
              <a:fillRect/>
            </a:stretch>
          </p:blipFill>
          <p:spPr>
            <a:xfrm>
              <a:off x="953302" y="2413816"/>
              <a:ext cx="3772979" cy="225608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305D3B-4B47-B69C-0FD6-8E72E0BEE604}"/>
              </a:ext>
            </a:extLst>
          </p:cNvPr>
          <p:cNvSpPr txBox="1"/>
          <p:nvPr/>
        </p:nvSpPr>
        <p:spPr>
          <a:xfrm>
            <a:off x="5155328" y="360025"/>
            <a:ext cx="66346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Drag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C00000"/>
                </a:solidFill>
              </a:rPr>
              <a:t>draw </a:t>
            </a:r>
            <a:r>
              <a:rPr lang="en-US" sz="2400" dirty="0"/>
              <a:t>to visualize dumbbell force, </a:t>
            </a:r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/>
              <a:t>, its lever arm,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r>
              <a:rPr lang="en-US" sz="2400" dirty="0"/>
              <a:t>, and its torque direction</a:t>
            </a:r>
            <a:r>
              <a:rPr lang="en-US" sz="2400" dirty="0">
                <a:solidFill>
                  <a:srgbClr val="C00000"/>
                </a:solidFill>
              </a:rPr>
              <a:t>.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5ACC75A-5AEB-021E-481A-853646086F54}"/>
              </a:ext>
            </a:extLst>
          </p:cNvPr>
          <p:cNvGrpSpPr/>
          <p:nvPr/>
        </p:nvGrpSpPr>
        <p:grpSpPr>
          <a:xfrm rot="10494150">
            <a:off x="10024860" y="1556759"/>
            <a:ext cx="964829" cy="1407315"/>
            <a:chOff x="9960105" y="4298318"/>
            <a:chExt cx="964829" cy="1407315"/>
          </a:xfrm>
        </p:grpSpPr>
        <p:sp>
          <p:nvSpPr>
            <p:cNvPr id="21" name="Curved Right Arrow 20">
              <a:extLst>
                <a:ext uri="{FF2B5EF4-FFF2-40B4-BE49-F238E27FC236}">
                  <a16:creationId xmlns:a16="http://schemas.microsoft.com/office/drawing/2014/main" id="{DA619934-5B17-DEFD-9330-B52C2CDD7EDC}"/>
                </a:ext>
              </a:extLst>
            </p:cNvPr>
            <p:cNvSpPr/>
            <p:nvPr/>
          </p:nvSpPr>
          <p:spPr>
            <a:xfrm>
              <a:off x="9960105" y="4298318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DB6E42E4-BC2A-4607-54F4-67E265007B40}"/>
                </a:ext>
              </a:extLst>
            </p:cNvPr>
            <p:cNvSpPr txBox="1"/>
            <p:nvPr/>
          </p:nvSpPr>
          <p:spPr>
            <a:xfrm rot="11105850">
              <a:off x="10038749" y="4703293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flexion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99222D4-C5F7-6BED-EB2F-7E09E067EB76}"/>
              </a:ext>
            </a:extLst>
          </p:cNvPr>
          <p:cNvGrpSpPr/>
          <p:nvPr/>
        </p:nvGrpSpPr>
        <p:grpSpPr>
          <a:xfrm rot="10800000">
            <a:off x="9615659" y="3156311"/>
            <a:ext cx="1291293" cy="1407315"/>
            <a:chOff x="9656347" y="4484625"/>
            <a:chExt cx="1291293" cy="1407315"/>
          </a:xfrm>
        </p:grpSpPr>
        <p:sp>
          <p:nvSpPr>
            <p:cNvPr id="28" name="Curved Right Arrow 27">
              <a:extLst>
                <a:ext uri="{FF2B5EF4-FFF2-40B4-BE49-F238E27FC236}">
                  <a16:creationId xmlns:a16="http://schemas.microsoft.com/office/drawing/2014/main" id="{F9913318-59C3-5759-E9E7-9089A24AB8D8}"/>
                </a:ext>
              </a:extLst>
            </p:cNvPr>
            <p:cNvSpPr/>
            <p:nvPr/>
          </p:nvSpPr>
          <p:spPr>
            <a:xfrm rot="10800000" flipH="1">
              <a:off x="9656347" y="4484625"/>
              <a:ext cx="490951" cy="1407315"/>
            </a:xfrm>
            <a:prstGeom prst="curvedRightArrow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9D98A14-991D-1AE5-A188-FE0D20065A91}"/>
                </a:ext>
              </a:extLst>
            </p:cNvPr>
            <p:cNvSpPr txBox="1"/>
            <p:nvPr/>
          </p:nvSpPr>
          <p:spPr>
            <a:xfrm rot="10800000">
              <a:off x="9775961" y="5003617"/>
              <a:ext cx="11716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F0"/>
                  </a:solidFill>
                </a:rPr>
                <a:t>extension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652118AE-058A-D536-749D-458CC9D81ED8}"/>
              </a:ext>
            </a:extLst>
          </p:cNvPr>
          <p:cNvSpPr txBox="1"/>
          <p:nvPr/>
        </p:nvSpPr>
        <p:spPr>
          <a:xfrm>
            <a:off x="402062" y="221526"/>
            <a:ext cx="48936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Limb system</a:t>
            </a:r>
            <a:r>
              <a:rPr lang="en-US" sz="2400" b="1" dirty="0"/>
              <a:t>: </a:t>
            </a:r>
            <a:r>
              <a:rPr lang="en-US" sz="2400" dirty="0">
                <a:solidFill>
                  <a:srgbClr val="FF0000"/>
                </a:solidFill>
              </a:rPr>
              <a:t>forearm/hand</a:t>
            </a:r>
          </a:p>
          <a:p>
            <a:r>
              <a:rPr lang="en-US" sz="2400" b="1" i="1" dirty="0"/>
              <a:t>Joint:</a:t>
            </a:r>
            <a:r>
              <a:rPr lang="en-US" sz="2400" b="1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elbow</a:t>
            </a:r>
          </a:p>
          <a:p>
            <a:endParaRPr lang="en-US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4C2E374-4634-1F9E-C0D0-68AE0DE9760C}"/>
              </a:ext>
            </a:extLst>
          </p:cNvPr>
          <p:cNvCxnSpPr>
            <a:cxnSpLocks/>
          </p:cNvCxnSpPr>
          <p:nvPr/>
        </p:nvCxnSpPr>
        <p:spPr>
          <a:xfrm>
            <a:off x="5393851" y="1749636"/>
            <a:ext cx="3450351" cy="28577"/>
          </a:xfrm>
          <a:prstGeom prst="line">
            <a:avLst/>
          </a:prstGeom>
          <a:ln w="508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AD3DD74-489B-D330-5633-772A04774557}"/>
              </a:ext>
            </a:extLst>
          </p:cNvPr>
          <p:cNvSpPr txBox="1"/>
          <p:nvPr/>
        </p:nvSpPr>
        <p:spPr>
          <a:xfrm>
            <a:off x="11248356" y="1006062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14" name="Up Arrow 13">
            <a:extLst>
              <a:ext uri="{FF2B5EF4-FFF2-40B4-BE49-F238E27FC236}">
                <a16:creationId xmlns:a16="http://schemas.microsoft.com/office/drawing/2014/main" id="{B8AB4D6C-C4CE-6EC5-38AC-8A9DA287627A}"/>
              </a:ext>
            </a:extLst>
          </p:cNvPr>
          <p:cNvSpPr/>
          <p:nvPr/>
        </p:nvSpPr>
        <p:spPr>
          <a:xfrm rot="16200000">
            <a:off x="1137332" y="1591579"/>
            <a:ext cx="252005" cy="1085671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99C33ED-0915-DA16-755D-2D9470D8F3C5}"/>
              </a:ext>
            </a:extLst>
          </p:cNvPr>
          <p:cNvSpPr/>
          <p:nvPr/>
        </p:nvSpPr>
        <p:spPr>
          <a:xfrm>
            <a:off x="596078" y="1281970"/>
            <a:ext cx="217485" cy="175739"/>
          </a:xfrm>
          <a:prstGeom prst="ellipse">
            <a:avLst/>
          </a:prstGeom>
          <a:solidFill>
            <a:srgbClr val="00206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Left Arrow Callout 15">
            <a:extLst>
              <a:ext uri="{FF2B5EF4-FFF2-40B4-BE49-F238E27FC236}">
                <a16:creationId xmlns:a16="http://schemas.microsoft.com/office/drawing/2014/main" id="{B53CE92F-777D-FC5E-4347-4DC4C8E6F973}"/>
              </a:ext>
            </a:extLst>
          </p:cNvPr>
          <p:cNvSpPr/>
          <p:nvPr/>
        </p:nvSpPr>
        <p:spPr>
          <a:xfrm>
            <a:off x="1133253" y="1106862"/>
            <a:ext cx="2965938" cy="502779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 to show elbow axis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37D4F-B9B4-C621-F835-880AC4F4CD28}"/>
              </a:ext>
            </a:extLst>
          </p:cNvPr>
          <p:cNvSpPr txBox="1"/>
          <p:nvPr/>
        </p:nvSpPr>
        <p:spPr>
          <a:xfrm>
            <a:off x="2253034" y="1955433"/>
            <a:ext cx="1191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dumbell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4" name="Text Box 324">
            <a:extLst>
              <a:ext uri="{FF2B5EF4-FFF2-40B4-BE49-F238E27FC236}">
                <a16:creationId xmlns:a16="http://schemas.microsoft.com/office/drawing/2014/main" id="{6926E6E1-3AC3-8FB2-3FCC-4F8FEFADBCBB}"/>
              </a:ext>
            </a:extLst>
          </p:cNvPr>
          <p:cNvSpPr txBox="1"/>
          <p:nvPr/>
        </p:nvSpPr>
        <p:spPr>
          <a:xfrm>
            <a:off x="6747601" y="2044060"/>
            <a:ext cx="557837" cy="45214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sz="2400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889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55BE639-177B-E8C9-9341-D75060E3CB13}"/>
              </a:ext>
            </a:extLst>
          </p:cNvPr>
          <p:cNvGrpSpPr/>
          <p:nvPr/>
        </p:nvGrpSpPr>
        <p:grpSpPr>
          <a:xfrm>
            <a:off x="230453" y="2147317"/>
            <a:ext cx="8386513" cy="4101655"/>
            <a:chOff x="625631" y="1306333"/>
            <a:chExt cx="7064033" cy="3551351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0ED5BC5-C102-6CAA-51E6-FB837C1336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31" y="1306333"/>
              <a:ext cx="7064033" cy="3551351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F095DB2-F066-C168-5DE7-0B2B42F59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4000"/>
            </a:blip>
            <a:stretch>
              <a:fillRect/>
            </a:stretch>
          </p:blipFill>
          <p:spPr>
            <a:xfrm>
              <a:off x="953302" y="2413816"/>
              <a:ext cx="3772979" cy="2256087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6305D3B-4B47-B69C-0FD6-8E72E0BEE604}"/>
              </a:ext>
            </a:extLst>
          </p:cNvPr>
          <p:cNvSpPr txBox="1"/>
          <p:nvPr/>
        </p:nvSpPr>
        <p:spPr>
          <a:xfrm>
            <a:off x="34337" y="144114"/>
            <a:ext cx="6061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Which muscle provides the counter-torque?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FBB066-589C-FFEB-F213-5E05BC8AF680}"/>
              </a:ext>
            </a:extLst>
          </p:cNvPr>
          <p:cNvSpPr txBox="1"/>
          <p:nvPr/>
        </p:nvSpPr>
        <p:spPr>
          <a:xfrm>
            <a:off x="8396656" y="1496398"/>
            <a:ext cx="103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</a:rPr>
              <a:t>triceps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6" name="Up Arrow 15">
            <a:extLst>
              <a:ext uri="{FF2B5EF4-FFF2-40B4-BE49-F238E27FC236}">
                <a16:creationId xmlns:a16="http://schemas.microsoft.com/office/drawing/2014/main" id="{7E81D838-C54C-1527-7F0D-3FCF1E3BF099}"/>
              </a:ext>
            </a:extLst>
          </p:cNvPr>
          <p:cNvSpPr/>
          <p:nvPr/>
        </p:nvSpPr>
        <p:spPr>
          <a:xfrm rot="5400000" flipV="1">
            <a:off x="6972679" y="728990"/>
            <a:ext cx="230418" cy="1104298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2735E5-74FE-1757-0CB8-5571530AA928}"/>
              </a:ext>
            </a:extLst>
          </p:cNvPr>
          <p:cNvSpPr txBox="1"/>
          <p:nvPr/>
        </p:nvSpPr>
        <p:spPr>
          <a:xfrm>
            <a:off x="8414587" y="976505"/>
            <a:ext cx="1033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baseline="-25000" dirty="0">
                <a:solidFill>
                  <a:srgbClr val="FF0000"/>
                </a:solidFill>
              </a:rPr>
              <a:t>biceps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5114EF3-9EAD-66A7-0CB0-B23FBF67B8CD}"/>
              </a:ext>
            </a:extLst>
          </p:cNvPr>
          <p:cNvGrpSpPr/>
          <p:nvPr/>
        </p:nvGrpSpPr>
        <p:grpSpPr>
          <a:xfrm rot="10500939">
            <a:off x="8995965" y="3473688"/>
            <a:ext cx="1014428" cy="1407315"/>
            <a:chOff x="8560341" y="3464685"/>
            <a:chExt cx="1014428" cy="1407315"/>
          </a:xfrm>
        </p:grpSpPr>
        <p:sp>
          <p:nvSpPr>
            <p:cNvPr id="18" name="Curved Right Arrow 17">
              <a:extLst>
                <a:ext uri="{FF2B5EF4-FFF2-40B4-BE49-F238E27FC236}">
                  <a16:creationId xmlns:a16="http://schemas.microsoft.com/office/drawing/2014/main" id="{52D7B580-CD75-7784-9AAE-962D985B3008}"/>
                </a:ext>
              </a:extLst>
            </p:cNvPr>
            <p:cNvSpPr/>
            <p:nvPr/>
          </p:nvSpPr>
          <p:spPr>
            <a:xfrm>
              <a:off x="8560341" y="3464685"/>
              <a:ext cx="490951" cy="1407315"/>
            </a:xfrm>
            <a:prstGeom prst="curvedRigh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BA79B00-FA1F-9CB7-AC71-B537AF77A9BE}"/>
                </a:ext>
              </a:extLst>
            </p:cNvPr>
            <p:cNvSpPr txBox="1"/>
            <p:nvPr/>
          </p:nvSpPr>
          <p:spPr>
            <a:xfrm rot="11264147">
              <a:off x="8688584" y="3946651"/>
              <a:ext cx="8861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flexion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DC97537-2A89-8D09-0163-407784E85F58}"/>
              </a:ext>
            </a:extLst>
          </p:cNvPr>
          <p:cNvGrpSpPr/>
          <p:nvPr/>
        </p:nvGrpSpPr>
        <p:grpSpPr>
          <a:xfrm rot="10517966">
            <a:off x="10250831" y="3445889"/>
            <a:ext cx="1267310" cy="1653688"/>
            <a:chOff x="10286164" y="3253875"/>
            <a:chExt cx="1267310" cy="1653688"/>
          </a:xfrm>
        </p:grpSpPr>
        <p:sp>
          <p:nvSpPr>
            <p:cNvPr id="20" name="Curved Left Arrow 19">
              <a:extLst>
                <a:ext uri="{FF2B5EF4-FFF2-40B4-BE49-F238E27FC236}">
                  <a16:creationId xmlns:a16="http://schemas.microsoft.com/office/drawing/2014/main" id="{7F1A9E34-36FF-3CEE-50FC-731FD42AFCDD}"/>
                </a:ext>
              </a:extLst>
            </p:cNvPr>
            <p:cNvSpPr/>
            <p:nvPr/>
          </p:nvSpPr>
          <p:spPr>
            <a:xfrm rot="10972835">
              <a:off x="10286164" y="3253875"/>
              <a:ext cx="480073" cy="1653688"/>
            </a:xfrm>
            <a:prstGeom prst="curvedLeft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77D59AA-D8CD-D30D-9775-329A0DBAB436}"/>
                </a:ext>
              </a:extLst>
            </p:cNvPr>
            <p:cNvSpPr txBox="1"/>
            <p:nvPr/>
          </p:nvSpPr>
          <p:spPr>
            <a:xfrm rot="11082034">
              <a:off x="10351051" y="3911801"/>
              <a:ext cx="12024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extension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F35911C-8066-AF71-1D9C-2A70FE7DA87E}"/>
              </a:ext>
            </a:extLst>
          </p:cNvPr>
          <p:cNvSpPr txBox="1"/>
          <p:nvPr/>
        </p:nvSpPr>
        <p:spPr>
          <a:xfrm>
            <a:off x="6307064" y="190281"/>
            <a:ext cx="588493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Drag</a:t>
            </a:r>
            <a:r>
              <a:rPr lang="en-US" sz="2400" dirty="0"/>
              <a:t> or draw to show </a:t>
            </a:r>
            <a:r>
              <a:rPr lang="en-US" sz="2400" dirty="0">
                <a:solidFill>
                  <a:srgbClr val="FF0000"/>
                </a:solidFill>
              </a:rPr>
              <a:t>muscle</a:t>
            </a:r>
            <a:r>
              <a:rPr lang="en-US" sz="2400" dirty="0"/>
              <a:t> force, its torque rotation direction, and lever arm, </a:t>
            </a:r>
            <a:r>
              <a:rPr lang="en-US" sz="2400" dirty="0">
                <a:solidFill>
                  <a:srgbClr val="FF0000"/>
                </a:solidFill>
              </a:rPr>
              <a:t>r</a:t>
            </a:r>
            <a:r>
              <a:rPr lang="en-US" sz="2400" baseline="-25000" dirty="0">
                <a:solidFill>
                  <a:srgbClr val="FF0000"/>
                </a:solidFill>
              </a:rPr>
              <a:t>⟂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25DE6F-0FFE-D798-51C4-55BE4A5EC44E}"/>
              </a:ext>
            </a:extLst>
          </p:cNvPr>
          <p:cNvSpPr txBox="1"/>
          <p:nvPr/>
        </p:nvSpPr>
        <p:spPr>
          <a:xfrm>
            <a:off x="621355" y="994228"/>
            <a:ext cx="1193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Biceps</a:t>
            </a:r>
            <a:endParaRPr lang="en-US" sz="2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65FD461-3D2B-B42A-A51A-29BDBFADA7AA}"/>
              </a:ext>
            </a:extLst>
          </p:cNvPr>
          <p:cNvSpPr txBox="1"/>
          <p:nvPr/>
        </p:nvSpPr>
        <p:spPr>
          <a:xfrm>
            <a:off x="2296970" y="1099813"/>
            <a:ext cx="11741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Triceps</a:t>
            </a:r>
            <a:endParaRPr lang="en-US" sz="2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4257EB-02FB-1DAF-9C36-84C679EB5351}"/>
              </a:ext>
            </a:extLst>
          </p:cNvPr>
          <p:cNvSpPr/>
          <p:nvPr/>
        </p:nvSpPr>
        <p:spPr>
          <a:xfrm>
            <a:off x="1545850" y="609776"/>
            <a:ext cx="1215456" cy="47158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D2E231B-194E-3715-DA10-8324E6D481D7}"/>
              </a:ext>
            </a:extLst>
          </p:cNvPr>
          <p:cNvCxnSpPr>
            <a:cxnSpLocks/>
          </p:cNvCxnSpPr>
          <p:nvPr/>
        </p:nvCxnSpPr>
        <p:spPr>
          <a:xfrm>
            <a:off x="10073590" y="1449475"/>
            <a:ext cx="798619" cy="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659196-4683-C36E-6A1A-52A678D66366}"/>
              </a:ext>
            </a:extLst>
          </p:cNvPr>
          <p:cNvSpPr txBox="1"/>
          <p:nvPr/>
        </p:nvSpPr>
        <p:spPr>
          <a:xfrm>
            <a:off x="11673871" y="1400614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4pts.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B98473-1194-1211-02F9-9A15D42A41EC}"/>
              </a:ext>
            </a:extLst>
          </p:cNvPr>
          <p:cNvSpPr txBox="1"/>
          <p:nvPr/>
        </p:nvSpPr>
        <p:spPr>
          <a:xfrm>
            <a:off x="11231122" y="3088967"/>
            <a:ext cx="6262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3pts.</a:t>
            </a:r>
          </a:p>
        </p:txBody>
      </p:sp>
      <p:sp>
        <p:nvSpPr>
          <p:cNvPr id="22" name="Text Box 324">
            <a:extLst>
              <a:ext uri="{FF2B5EF4-FFF2-40B4-BE49-F238E27FC236}">
                <a16:creationId xmlns:a16="http://schemas.microsoft.com/office/drawing/2014/main" id="{4A7484C1-9477-9D6B-C7BF-0C13AA734895}"/>
              </a:ext>
            </a:extLst>
          </p:cNvPr>
          <p:cNvSpPr txBox="1"/>
          <p:nvPr/>
        </p:nvSpPr>
        <p:spPr>
          <a:xfrm>
            <a:off x="10249650" y="1445846"/>
            <a:ext cx="557837" cy="45214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17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3C817305-A1EE-5081-3345-C9683CA751F0}"/>
              </a:ext>
            </a:extLst>
          </p:cNvPr>
          <p:cNvGrpSpPr/>
          <p:nvPr/>
        </p:nvGrpSpPr>
        <p:grpSpPr>
          <a:xfrm>
            <a:off x="624564" y="1268593"/>
            <a:ext cx="7387178" cy="3892730"/>
            <a:chOff x="625631" y="1306333"/>
            <a:chExt cx="7064033" cy="3551351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7570DCC6-39B9-BA88-73C2-350678A45D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31" y="1306333"/>
              <a:ext cx="7064033" cy="355135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8EEA17-42EE-28E4-281E-7A7078A5F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4000"/>
            </a:blip>
            <a:stretch>
              <a:fillRect/>
            </a:stretch>
          </p:blipFill>
          <p:spPr>
            <a:xfrm>
              <a:off x="953302" y="2413816"/>
              <a:ext cx="3772979" cy="2256087"/>
            </a:xfrm>
            <a:prstGeom prst="rect">
              <a:avLst/>
            </a:prstGeom>
          </p:spPr>
        </p:pic>
      </p:grpSp>
      <p:sp>
        <p:nvSpPr>
          <p:cNvPr id="4" name="Up Arrow 3">
            <a:extLst>
              <a:ext uri="{FF2B5EF4-FFF2-40B4-BE49-F238E27FC236}">
                <a16:creationId xmlns:a16="http://schemas.microsoft.com/office/drawing/2014/main" id="{1CD0BB57-4906-914E-B2AB-BF76C5B841A6}"/>
              </a:ext>
            </a:extLst>
          </p:cNvPr>
          <p:cNvSpPr/>
          <p:nvPr/>
        </p:nvSpPr>
        <p:spPr>
          <a:xfrm rot="16200000">
            <a:off x="7555513" y="1045673"/>
            <a:ext cx="252005" cy="1085671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40306DE-13A7-9E4E-BD13-87DD2FA2A500}"/>
              </a:ext>
            </a:extLst>
          </p:cNvPr>
          <p:cNvCxnSpPr/>
          <p:nvPr/>
        </p:nvCxnSpPr>
        <p:spPr>
          <a:xfrm>
            <a:off x="2474725" y="776387"/>
            <a:ext cx="3039382" cy="10297"/>
          </a:xfrm>
          <a:prstGeom prst="line">
            <a:avLst/>
          </a:prstGeom>
          <a:ln w="50800">
            <a:solidFill>
              <a:srgbClr val="00B0F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B8443-611F-F041-A500-D9B61FD61923}"/>
              </a:ext>
            </a:extLst>
          </p:cNvPr>
          <p:cNvCxnSpPr>
            <a:cxnSpLocks/>
          </p:cNvCxnSpPr>
          <p:nvPr/>
        </p:nvCxnSpPr>
        <p:spPr>
          <a:xfrm flipV="1">
            <a:off x="3665303" y="1231800"/>
            <a:ext cx="359705" cy="12690"/>
          </a:xfrm>
          <a:prstGeom prst="line">
            <a:avLst/>
          </a:prstGeom>
          <a:ln w="381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Box 324">
            <a:extLst>
              <a:ext uri="{FF2B5EF4-FFF2-40B4-BE49-F238E27FC236}">
                <a16:creationId xmlns:a16="http://schemas.microsoft.com/office/drawing/2014/main" id="{1A063F66-36ED-4CD2-A06F-8E7620F730BC}"/>
              </a:ext>
            </a:extLst>
          </p:cNvPr>
          <p:cNvSpPr txBox="1"/>
          <p:nvPr/>
        </p:nvSpPr>
        <p:spPr>
          <a:xfrm>
            <a:off x="3705856" y="404841"/>
            <a:ext cx="577119" cy="384683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00B0F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 Box 324">
            <a:extLst>
              <a:ext uri="{FF2B5EF4-FFF2-40B4-BE49-F238E27FC236}">
                <a16:creationId xmlns:a16="http://schemas.microsoft.com/office/drawing/2014/main" id="{1AEC00D5-3688-4DB8-8AA5-D29D12F98F0C}"/>
              </a:ext>
            </a:extLst>
          </p:cNvPr>
          <p:cNvSpPr txBox="1"/>
          <p:nvPr/>
        </p:nvSpPr>
        <p:spPr>
          <a:xfrm>
            <a:off x="3689258" y="837730"/>
            <a:ext cx="557837" cy="452144"/>
          </a:xfrm>
          <a:prstGeom prst="rect">
            <a:avLst/>
          </a:prstGeom>
          <a:noFill/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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9B3596-EDA7-C945-942F-20215A5AA5E1}"/>
              </a:ext>
            </a:extLst>
          </p:cNvPr>
          <p:cNvSpPr/>
          <p:nvPr/>
        </p:nvSpPr>
        <p:spPr>
          <a:xfrm>
            <a:off x="7866686" y="344417"/>
            <a:ext cx="217485" cy="175739"/>
          </a:xfrm>
          <a:prstGeom prst="ellipse">
            <a:avLst/>
          </a:prstGeom>
          <a:solidFill>
            <a:srgbClr val="002060"/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Left Arrow Callout 10">
            <a:extLst>
              <a:ext uri="{FF2B5EF4-FFF2-40B4-BE49-F238E27FC236}">
                <a16:creationId xmlns:a16="http://schemas.microsoft.com/office/drawing/2014/main" id="{1A4CE105-08EB-474C-9F26-B502218C36C5}"/>
              </a:ext>
            </a:extLst>
          </p:cNvPr>
          <p:cNvSpPr/>
          <p:nvPr/>
        </p:nvSpPr>
        <p:spPr>
          <a:xfrm>
            <a:off x="8709547" y="232181"/>
            <a:ext cx="2965938" cy="575951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 to show elbow axis</a:t>
            </a:r>
          </a:p>
        </p:txBody>
      </p:sp>
      <p:sp>
        <p:nvSpPr>
          <p:cNvPr id="31" name="Left Arrow Callout 30">
            <a:extLst>
              <a:ext uri="{FF2B5EF4-FFF2-40B4-BE49-F238E27FC236}">
                <a16:creationId xmlns:a16="http://schemas.microsoft.com/office/drawing/2014/main" id="{E97AB905-8EAC-C645-A813-8AD11AAAF3A0}"/>
              </a:ext>
            </a:extLst>
          </p:cNvPr>
          <p:cNvSpPr/>
          <p:nvPr/>
        </p:nvSpPr>
        <p:spPr>
          <a:xfrm>
            <a:off x="8770676" y="1276392"/>
            <a:ext cx="3300134" cy="624235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 to show where forces applied</a:t>
            </a:r>
          </a:p>
        </p:txBody>
      </p:sp>
      <p:sp>
        <p:nvSpPr>
          <p:cNvPr id="32" name="Left Arrow Callout 31">
            <a:extLst>
              <a:ext uri="{FF2B5EF4-FFF2-40B4-BE49-F238E27FC236}">
                <a16:creationId xmlns:a16="http://schemas.microsoft.com/office/drawing/2014/main" id="{F9D7B4FF-D5FB-604D-B735-CF313A4DD40A}"/>
              </a:ext>
            </a:extLst>
          </p:cNvPr>
          <p:cNvSpPr/>
          <p:nvPr/>
        </p:nvSpPr>
        <p:spPr>
          <a:xfrm>
            <a:off x="5409413" y="637096"/>
            <a:ext cx="3300134" cy="552297"/>
          </a:xfrm>
          <a:prstGeom prst="leftArrow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Drag to show lever arm distances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0E8A46-DB24-2D4C-B4A2-302B250D5C94}"/>
              </a:ext>
            </a:extLst>
          </p:cNvPr>
          <p:cNvSpPr txBox="1"/>
          <p:nvPr/>
        </p:nvSpPr>
        <p:spPr>
          <a:xfrm>
            <a:off x="4828042" y="1867925"/>
            <a:ext cx="9342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lang="en-US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F2E547-30C3-F745-98F3-DBACB0B791E5}"/>
              </a:ext>
            </a:extLst>
          </p:cNvPr>
          <p:cNvSpPr txBox="1"/>
          <p:nvPr/>
        </p:nvSpPr>
        <p:spPr>
          <a:xfrm>
            <a:off x="7431635" y="1682236"/>
            <a:ext cx="1191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3" name="Up Arrow 2">
            <a:extLst>
              <a:ext uri="{FF2B5EF4-FFF2-40B4-BE49-F238E27FC236}">
                <a16:creationId xmlns:a16="http://schemas.microsoft.com/office/drawing/2014/main" id="{2BFB849D-854B-004B-B63D-9D7D474326B0}"/>
              </a:ext>
            </a:extLst>
          </p:cNvPr>
          <p:cNvSpPr/>
          <p:nvPr/>
        </p:nvSpPr>
        <p:spPr>
          <a:xfrm rot="16200000" flipH="1">
            <a:off x="4958257" y="162402"/>
            <a:ext cx="338800" cy="3039670"/>
          </a:xfrm>
          <a:prstGeom prst="upArrow">
            <a:avLst/>
          </a:prstGeom>
          <a:solidFill>
            <a:srgbClr val="FF000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264517-8209-559C-959D-FF31B67873E1}"/>
              </a:ext>
            </a:extLst>
          </p:cNvPr>
          <p:cNvSpPr txBox="1"/>
          <p:nvPr/>
        </p:nvSpPr>
        <p:spPr>
          <a:xfrm>
            <a:off x="8007994" y="3542041"/>
            <a:ext cx="42416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How much larger is the </a:t>
            </a:r>
            <a:r>
              <a:rPr lang="en-US" sz="2000" dirty="0">
                <a:solidFill>
                  <a:srgbClr val="FF0000"/>
                </a:solidFill>
              </a:rPr>
              <a:t>muscle force </a:t>
            </a:r>
            <a:r>
              <a:rPr lang="en-US" sz="2000" dirty="0">
                <a:solidFill>
                  <a:srgbClr val="C00000"/>
                </a:solidFill>
              </a:rPr>
              <a:t>compared to the </a:t>
            </a:r>
            <a:r>
              <a:rPr lang="en-US" sz="2000" dirty="0">
                <a:solidFill>
                  <a:srgbClr val="00B0F0"/>
                </a:solidFill>
              </a:rPr>
              <a:t>dumbbell force  </a:t>
            </a:r>
            <a:r>
              <a:rPr lang="en-US" sz="2000" b="1" dirty="0"/>
              <a:t>Look at the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25C66C-77C5-73AC-0FA2-52C1A833CCE4}"/>
              </a:ext>
            </a:extLst>
          </p:cNvPr>
          <p:cNvSpPr txBox="1"/>
          <p:nvPr/>
        </p:nvSpPr>
        <p:spPr>
          <a:xfrm>
            <a:off x="8103765" y="2308606"/>
            <a:ext cx="50807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relative lengths  of lever arms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53950E-BA90-3F24-390A-8A31663EE2CA}"/>
                  </a:ext>
                </a:extLst>
              </p:cNvPr>
              <p:cNvSpPr txBox="1"/>
              <p:nvPr/>
            </p:nvSpPr>
            <p:spPr>
              <a:xfrm>
                <a:off x="9017345" y="2780354"/>
                <a:ext cx="2039481" cy="6207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</a:rPr>
                          <m:t>⟂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</a:rPr>
                          <m:t>⟂</m:t>
                        </m:r>
                      </m:den>
                    </m:f>
                  </m:oMath>
                </a14:m>
                <a:r>
                  <a:rPr lang="en-US" sz="2400" dirty="0"/>
                  <a:t> =  ?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153950E-BA90-3F24-390A-8A31663EE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7345" y="2780354"/>
                <a:ext cx="2039481" cy="620747"/>
              </a:xfrm>
              <a:prstGeom prst="rect">
                <a:avLst/>
              </a:prstGeom>
              <a:blipFill>
                <a:blip r:embed="rId4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9FA6B392-5445-E3A4-3656-AB1547EE8429}"/>
              </a:ext>
            </a:extLst>
          </p:cNvPr>
          <p:cNvSpPr txBox="1"/>
          <p:nvPr/>
        </p:nvSpPr>
        <p:spPr>
          <a:xfrm>
            <a:off x="424409" y="99701"/>
            <a:ext cx="44217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Limb system</a:t>
            </a:r>
            <a:r>
              <a:rPr lang="en-US" sz="2400" dirty="0"/>
              <a:t>: forearm/hand</a:t>
            </a:r>
          </a:p>
          <a:p>
            <a:r>
              <a:rPr lang="en-US" sz="2400" i="1" dirty="0"/>
              <a:t>Joint:</a:t>
            </a:r>
            <a:r>
              <a:rPr lang="en-US" sz="2400" dirty="0"/>
              <a:t> elbow</a:t>
            </a:r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93056-E7F2-33EE-0D81-10014D3521A3}"/>
                  </a:ext>
                </a:extLst>
              </p:cNvPr>
              <p:cNvSpPr txBox="1"/>
              <p:nvPr/>
            </p:nvSpPr>
            <p:spPr>
              <a:xfrm>
                <a:off x="8624413" y="4590184"/>
                <a:ext cx="2838681" cy="676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b="0" i="0" baseline="-25000" smtClean="0">
                            <a:solidFill>
                              <a:srgbClr val="00B0F0"/>
                            </a:solidFill>
                          </a:rPr>
                          <m:t>Fdumbbell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="0" i="0" baseline="-25000" smtClean="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dumbbell</m:t>
                        </m:r>
                        <m:r>
                          <a:rPr lang="en-US" sz="2400" b="0" i="1" baseline="-2500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sz="2400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893056-E7F2-33EE-0D81-10014D352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4413" y="4590184"/>
                <a:ext cx="2838681" cy="676724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DD9F917-424A-9415-474C-94C0B8C2662D}"/>
              </a:ext>
            </a:extLst>
          </p:cNvPr>
          <p:cNvSpPr txBox="1"/>
          <p:nvPr/>
        </p:nvSpPr>
        <p:spPr>
          <a:xfrm>
            <a:off x="1070999" y="5111476"/>
            <a:ext cx="6360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Resize force vectors to show relative values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45BF20-9CE4-A856-73E7-B8C6333D0CE3}"/>
              </a:ext>
            </a:extLst>
          </p:cNvPr>
          <p:cNvSpPr txBox="1"/>
          <p:nvPr/>
        </p:nvSpPr>
        <p:spPr>
          <a:xfrm>
            <a:off x="1017322" y="5789437"/>
            <a:ext cx="73061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Approximate the muscle force, if </a:t>
            </a:r>
            <a:r>
              <a:rPr lang="en-US" sz="2400" dirty="0">
                <a:solidFill>
                  <a:srgbClr val="00B0F0"/>
                </a:solidFill>
              </a:rPr>
              <a:t>dumbbell is 10bs.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31EE10-1F68-5A04-A266-FB606CA11173}"/>
              </a:ext>
            </a:extLst>
          </p:cNvPr>
          <p:cNvSpPr txBox="1"/>
          <p:nvPr/>
        </p:nvSpPr>
        <p:spPr>
          <a:xfrm>
            <a:off x="8486595" y="5789437"/>
            <a:ext cx="2813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 lbs.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6574D4-02A3-1AF5-51FD-6048DE54A65B}"/>
              </a:ext>
            </a:extLst>
          </p:cNvPr>
          <p:cNvSpPr txBox="1"/>
          <p:nvPr/>
        </p:nvSpPr>
        <p:spPr>
          <a:xfrm>
            <a:off x="11360631" y="4731088"/>
            <a:ext cx="12375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695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B1425-D50C-5342-817C-18F3B279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2903" y="495300"/>
            <a:ext cx="5467350" cy="4381500"/>
          </a:xfrm>
          <a:prstGeom prst="rect">
            <a:avLst/>
          </a:prstGeom>
        </p:spPr>
      </p:pic>
      <p:sp>
        <p:nvSpPr>
          <p:cNvPr id="2" name="Down Arrow 6">
            <a:extLst>
              <a:ext uri="{FF2B5EF4-FFF2-40B4-BE49-F238E27FC236}">
                <a16:creationId xmlns:a16="http://schemas.microsoft.com/office/drawing/2014/main" id="{12180B13-6BBA-3709-974B-4F7FD3281F7E}"/>
              </a:ext>
            </a:extLst>
          </p:cNvPr>
          <p:cNvSpPr/>
          <p:nvPr/>
        </p:nvSpPr>
        <p:spPr>
          <a:xfrm rot="10800000">
            <a:off x="4155931" y="704298"/>
            <a:ext cx="324075" cy="3020247"/>
          </a:xfrm>
          <a:prstGeom prst="downArrow">
            <a:avLst/>
          </a:prstGeom>
          <a:pattFill prst="trellis">
            <a:fgClr>
              <a:srgbClr val="7030A0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88D08B-9E41-0643-4FAD-7D82A709A6F1}"/>
              </a:ext>
            </a:extLst>
          </p:cNvPr>
          <p:cNvSpPr txBox="1"/>
          <p:nvPr/>
        </p:nvSpPr>
        <p:spPr>
          <a:xfrm>
            <a:off x="4606508" y="5001802"/>
            <a:ext cx="1985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endParaRPr lang="en-US" sz="2400" baseline="-25000" dirty="0">
              <a:solidFill>
                <a:srgbClr val="7030A0"/>
              </a:solidFill>
            </a:endParaRPr>
          </a:p>
        </p:txBody>
      </p:sp>
      <p:sp>
        <p:nvSpPr>
          <p:cNvPr id="5" name="Down Arrow 6">
            <a:extLst>
              <a:ext uri="{FF2B5EF4-FFF2-40B4-BE49-F238E27FC236}">
                <a16:creationId xmlns:a16="http://schemas.microsoft.com/office/drawing/2014/main" id="{9D5E11A7-3B1C-AE24-A81F-D34965F75C76}"/>
              </a:ext>
            </a:extLst>
          </p:cNvPr>
          <p:cNvSpPr/>
          <p:nvPr/>
        </p:nvSpPr>
        <p:spPr>
          <a:xfrm>
            <a:off x="4155931" y="3765366"/>
            <a:ext cx="324075" cy="3020248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E0016-D4B3-A98B-928B-73157664450D}"/>
              </a:ext>
            </a:extLst>
          </p:cNvPr>
          <p:cNvSpPr txBox="1"/>
          <p:nvPr/>
        </p:nvSpPr>
        <p:spPr>
          <a:xfrm>
            <a:off x="4940296" y="1041617"/>
            <a:ext cx="725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Forearm bone (ulna)  on upper arm bone (humerus)</a:t>
            </a:r>
            <a:endParaRPr lang="en-US" sz="2400" baseline="-25000" dirty="0">
              <a:solidFill>
                <a:srgbClr val="7030A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15D0D4-459B-1751-91F2-69145FE229A4}"/>
              </a:ext>
            </a:extLst>
          </p:cNvPr>
          <p:cNvSpPr txBox="1"/>
          <p:nvPr/>
        </p:nvSpPr>
        <p:spPr>
          <a:xfrm>
            <a:off x="4574536" y="5659156"/>
            <a:ext cx="725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Upper arm bone (humerus)  on forearm bone (ulna)</a:t>
            </a:r>
            <a:endParaRPr lang="en-US" sz="2400" baseline="-25000" dirty="0">
              <a:solidFill>
                <a:srgbClr val="7030A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08915B-80AF-ED7D-FABB-AF47D42DDDED}"/>
              </a:ext>
            </a:extLst>
          </p:cNvPr>
          <p:cNvSpPr txBox="1"/>
          <p:nvPr/>
        </p:nvSpPr>
        <p:spPr>
          <a:xfrm>
            <a:off x="5033219" y="112775"/>
            <a:ext cx="63343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Joint force is the force of the two bones against each other at the joint</a:t>
            </a:r>
          </a:p>
        </p:txBody>
      </p:sp>
    </p:spTree>
    <p:extLst>
      <p:ext uri="{BB962C8B-B14F-4D97-AF65-F5344CB8AC3E}">
        <p14:creationId xmlns:p14="http://schemas.microsoft.com/office/powerpoint/2010/main" val="2616255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D6B66F5-21F9-6289-9616-79360825B0A3}"/>
              </a:ext>
            </a:extLst>
          </p:cNvPr>
          <p:cNvGrpSpPr/>
          <p:nvPr/>
        </p:nvGrpSpPr>
        <p:grpSpPr>
          <a:xfrm>
            <a:off x="1972741" y="2406491"/>
            <a:ext cx="7064033" cy="3551351"/>
            <a:chOff x="625631" y="1306333"/>
            <a:chExt cx="7064033" cy="35513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BB6B68A-C405-69CF-91C2-8E926B00D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31" y="1306333"/>
              <a:ext cx="7064033" cy="355135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37B90FD-5F1F-D5E3-5A42-C73857A3C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4000"/>
            </a:blip>
            <a:stretch>
              <a:fillRect/>
            </a:stretch>
          </p:blipFill>
          <p:spPr>
            <a:xfrm>
              <a:off x="953302" y="2413816"/>
              <a:ext cx="3772979" cy="225608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F7B54B19-D59A-7AD8-6CC6-8E1F8B5DC075}"/>
              </a:ext>
            </a:extLst>
          </p:cNvPr>
          <p:cNvSpPr txBox="1"/>
          <p:nvPr/>
        </p:nvSpPr>
        <p:spPr>
          <a:xfrm>
            <a:off x="688369" y="575353"/>
            <a:ext cx="932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In this next section, assume all forces are vertical – for simplicity </a:t>
            </a:r>
          </a:p>
        </p:txBody>
      </p:sp>
    </p:spTree>
    <p:extLst>
      <p:ext uri="{BB962C8B-B14F-4D97-AF65-F5344CB8AC3E}">
        <p14:creationId xmlns:p14="http://schemas.microsoft.com/office/powerpoint/2010/main" val="3096931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A7B4DC-6F30-150B-06F5-9D7ACBF0EEC2}"/>
              </a:ext>
            </a:extLst>
          </p:cNvPr>
          <p:cNvGrpSpPr/>
          <p:nvPr/>
        </p:nvGrpSpPr>
        <p:grpSpPr>
          <a:xfrm>
            <a:off x="534359" y="1584558"/>
            <a:ext cx="7064033" cy="3551351"/>
            <a:chOff x="625631" y="1306333"/>
            <a:chExt cx="7064033" cy="355135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E7BC5EA-3C85-1A4C-C0F7-927E3E4B3E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5631" y="1306333"/>
              <a:ext cx="7064033" cy="355135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36A8A8B-F0A5-D496-44B7-8EE4E5D12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34000"/>
            </a:blip>
            <a:stretch>
              <a:fillRect/>
            </a:stretch>
          </p:blipFill>
          <p:spPr>
            <a:xfrm>
              <a:off x="953302" y="2413816"/>
              <a:ext cx="3772979" cy="2256087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4A1733A9-95AD-174D-A073-9A7B9326568B}"/>
              </a:ext>
            </a:extLst>
          </p:cNvPr>
          <p:cNvSpPr txBox="1"/>
          <p:nvPr/>
        </p:nvSpPr>
        <p:spPr>
          <a:xfrm>
            <a:off x="396795" y="51955"/>
            <a:ext cx="294905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Limb system</a:t>
            </a:r>
            <a:r>
              <a:rPr lang="en-US" sz="1600" dirty="0"/>
              <a:t>: lower arm/hand</a:t>
            </a:r>
          </a:p>
          <a:p>
            <a:r>
              <a:rPr lang="en-US" sz="1600" i="1" dirty="0"/>
              <a:t>Joint:</a:t>
            </a:r>
            <a:r>
              <a:rPr lang="en-US" sz="1600" dirty="0"/>
              <a:t> elbow</a:t>
            </a:r>
          </a:p>
          <a:p>
            <a:endParaRPr lang="en-US" dirty="0"/>
          </a:p>
        </p:txBody>
      </p:sp>
      <p:sp>
        <p:nvSpPr>
          <p:cNvPr id="34" name="Down Arrow 6">
            <a:extLst>
              <a:ext uri="{FF2B5EF4-FFF2-40B4-BE49-F238E27FC236}">
                <a16:creationId xmlns:a16="http://schemas.microsoft.com/office/drawing/2014/main" id="{B3123CBB-6A67-424F-A2A8-53040F670D67}"/>
              </a:ext>
            </a:extLst>
          </p:cNvPr>
          <p:cNvSpPr/>
          <p:nvPr/>
        </p:nvSpPr>
        <p:spPr>
          <a:xfrm rot="16200000">
            <a:off x="9440770" y="-350687"/>
            <a:ext cx="324075" cy="3259733"/>
          </a:xfrm>
          <a:prstGeom prst="downArrow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E313643-C9A0-BE47-82D6-DCFA8990965B}"/>
              </a:ext>
            </a:extLst>
          </p:cNvPr>
          <p:cNvSpPr txBox="1"/>
          <p:nvPr/>
        </p:nvSpPr>
        <p:spPr>
          <a:xfrm>
            <a:off x="9456780" y="1354319"/>
            <a:ext cx="19858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endParaRPr lang="en-US" sz="2400" baseline="-25000" dirty="0">
              <a:solidFill>
                <a:srgbClr val="7030A0"/>
              </a:solidFill>
            </a:endParaRPr>
          </a:p>
        </p:txBody>
      </p:sp>
      <p:sp>
        <p:nvSpPr>
          <p:cNvPr id="7" name="Down Arrow 6">
            <a:extLst>
              <a:ext uri="{FF2B5EF4-FFF2-40B4-BE49-F238E27FC236}">
                <a16:creationId xmlns:a16="http://schemas.microsoft.com/office/drawing/2014/main" id="{1DEEFBD5-DE70-8839-0206-B1BC31FA8E1D}"/>
              </a:ext>
            </a:extLst>
          </p:cNvPr>
          <p:cNvSpPr/>
          <p:nvPr/>
        </p:nvSpPr>
        <p:spPr>
          <a:xfrm rot="5400000">
            <a:off x="1380312" y="-334618"/>
            <a:ext cx="199892" cy="219639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Up Arrow 10">
            <a:extLst>
              <a:ext uri="{FF2B5EF4-FFF2-40B4-BE49-F238E27FC236}">
                <a16:creationId xmlns:a16="http://schemas.microsoft.com/office/drawing/2014/main" id="{90BBEFF8-E109-B031-D417-3F30A48B3E3C}"/>
              </a:ext>
            </a:extLst>
          </p:cNvPr>
          <p:cNvSpPr/>
          <p:nvPr/>
        </p:nvSpPr>
        <p:spPr>
          <a:xfrm rot="16200000">
            <a:off x="2452451" y="520508"/>
            <a:ext cx="252005" cy="1085671"/>
          </a:xfrm>
          <a:prstGeom prst="up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1BD764-3668-316A-A303-6C2017D64CAA}"/>
              </a:ext>
            </a:extLst>
          </p:cNvPr>
          <p:cNvSpPr txBox="1"/>
          <p:nvPr/>
        </p:nvSpPr>
        <p:spPr>
          <a:xfrm>
            <a:off x="309904" y="958514"/>
            <a:ext cx="649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lang="en-US" sz="2400" baseline="-25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0AB127-A562-8598-5883-AE2E36E77ED6}"/>
              </a:ext>
            </a:extLst>
          </p:cNvPr>
          <p:cNvSpPr txBox="1"/>
          <p:nvPr/>
        </p:nvSpPr>
        <p:spPr>
          <a:xfrm>
            <a:off x="2273460" y="1112794"/>
            <a:ext cx="1191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dumbell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930DAC-6A05-676D-7D2C-4EB90099B566}"/>
              </a:ext>
            </a:extLst>
          </p:cNvPr>
          <p:cNvSpPr txBox="1"/>
          <p:nvPr/>
        </p:nvSpPr>
        <p:spPr>
          <a:xfrm>
            <a:off x="7720710" y="4225760"/>
            <a:ext cx="4401036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Algebra: </a:t>
            </a:r>
            <a:r>
              <a:rPr lang="en-US" sz="2400" dirty="0">
                <a:solidFill>
                  <a:srgbClr val="C00000"/>
                </a:solidFill>
              </a:rPr>
              <a:t>choose signs</a:t>
            </a:r>
          </a:p>
          <a:p>
            <a:r>
              <a:rPr lang="en-US" sz="2400" dirty="0"/>
              <a:t>∓ </a:t>
            </a:r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∓ </a:t>
            </a:r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dumbbell</a:t>
            </a:r>
            <a:r>
              <a:rPr lang="en-US" sz="2400" baseline="-25000" dirty="0">
                <a:solidFill>
                  <a:srgbClr val="7030A0"/>
                </a:solidFill>
              </a:rPr>
              <a:t> </a:t>
            </a:r>
            <a:r>
              <a:rPr lang="en-US" sz="2400" dirty="0"/>
              <a:t>∓</a:t>
            </a:r>
            <a:r>
              <a:rPr lang="en-US" sz="2400" dirty="0">
                <a:solidFill>
                  <a:srgbClr val="7030A0"/>
                </a:solidFill>
              </a:rPr>
              <a:t> </a:t>
            </a:r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r>
              <a:rPr lang="en-US" sz="2400" b="1" baseline="-25000" dirty="0">
                <a:solidFill>
                  <a:schemeClr val="accent2"/>
                </a:solidFill>
              </a:rPr>
              <a:t> </a:t>
            </a:r>
            <a:r>
              <a:rPr lang="en-US" sz="2400" b="1" dirty="0"/>
              <a:t>= 0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 ∓</a:t>
            </a:r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∓ </a:t>
            </a:r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dumbbell </a:t>
            </a:r>
            <a:r>
              <a:rPr lang="en-US" sz="2400" dirty="0"/>
              <a:t>          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B7CB78-0D74-9C3E-904C-BE23A3CC5521}"/>
              </a:ext>
            </a:extLst>
          </p:cNvPr>
          <p:cNvSpPr txBox="1"/>
          <p:nvPr/>
        </p:nvSpPr>
        <p:spPr>
          <a:xfrm>
            <a:off x="8868847" y="1984999"/>
            <a:ext cx="3174614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ym typeface="Symbol" panose="05050102010706020507" pitchFamily="18" charset="2"/>
              </a:rPr>
              <a:t>Force Equilibrium condition</a:t>
            </a:r>
          </a:p>
          <a:p>
            <a:r>
              <a:rPr lang="en-US" sz="2400" dirty="0">
                <a:sym typeface="Symbol" panose="05050102010706020507" pitchFamily="18" charset="2"/>
              </a:rPr>
              <a:t>            F = 0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797BD4-ED80-AD44-60A8-B6CA208541A2}"/>
              </a:ext>
            </a:extLst>
          </p:cNvPr>
          <p:cNvSpPr txBox="1"/>
          <p:nvPr/>
        </p:nvSpPr>
        <p:spPr>
          <a:xfrm>
            <a:off x="8929766" y="2798158"/>
            <a:ext cx="3256419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(forces up  forces down, if arm not moving)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9B1AAA-399A-7E88-6991-34B5D76DF996}"/>
              </a:ext>
            </a:extLst>
          </p:cNvPr>
          <p:cNvSpPr txBox="1"/>
          <p:nvPr/>
        </p:nvSpPr>
        <p:spPr>
          <a:xfrm>
            <a:off x="8199766" y="3604292"/>
            <a:ext cx="38436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Find the elbow joint force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B2EE07-9E34-BD63-9F0A-855B4EFABA77}"/>
              </a:ext>
            </a:extLst>
          </p:cNvPr>
          <p:cNvSpPr txBox="1"/>
          <p:nvPr/>
        </p:nvSpPr>
        <p:spPr>
          <a:xfrm>
            <a:off x="7720710" y="5688647"/>
            <a:ext cx="4057654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Calculation</a:t>
            </a:r>
          </a:p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 ? lbs.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5889A5-D0BA-4E0F-1596-563C97E84EF5}"/>
              </a:ext>
            </a:extLst>
          </p:cNvPr>
          <p:cNvSpPr txBox="1"/>
          <p:nvPr/>
        </p:nvSpPr>
        <p:spPr>
          <a:xfrm>
            <a:off x="3530566" y="106188"/>
            <a:ext cx="85911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Drag or draw </a:t>
            </a:r>
            <a:r>
              <a:rPr lang="en-US" sz="2400" dirty="0">
                <a:solidFill>
                  <a:srgbClr val="FF0000"/>
                </a:solidFill>
              </a:rPr>
              <a:t>M</a:t>
            </a:r>
            <a:r>
              <a:rPr lang="en-US" sz="2400" dirty="0">
                <a:solidFill>
                  <a:srgbClr val="C00000"/>
                </a:solidFill>
              </a:rPr>
              <a:t> and </a:t>
            </a:r>
            <a:r>
              <a:rPr lang="en-US" sz="2400" dirty="0">
                <a:solidFill>
                  <a:srgbClr val="00B0F0"/>
                </a:solidFill>
              </a:rPr>
              <a:t>F</a:t>
            </a:r>
            <a:r>
              <a:rPr lang="en-US" sz="2400" baseline="-25000" dirty="0">
                <a:solidFill>
                  <a:srgbClr val="00B0F0"/>
                </a:solidFill>
              </a:rPr>
              <a:t>dumbell</a:t>
            </a:r>
            <a:r>
              <a:rPr lang="en-US" sz="2400" dirty="0">
                <a:solidFill>
                  <a:srgbClr val="C00000"/>
                </a:solidFill>
              </a:rPr>
              <a:t>  vectors showing relative size.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Drag or draw the </a:t>
            </a:r>
            <a:r>
              <a:rPr lang="en-US" sz="2400" b="1" dirty="0">
                <a:solidFill>
                  <a:srgbClr val="7030A0"/>
                </a:solidFill>
              </a:rPr>
              <a:t>elbow joint force </a:t>
            </a:r>
            <a:r>
              <a:rPr lang="en-US" sz="2400" dirty="0">
                <a:solidFill>
                  <a:srgbClr val="C00000"/>
                </a:solidFill>
              </a:rPr>
              <a:t>needed to balance out the other forces </a:t>
            </a:r>
            <a:r>
              <a:rPr lang="en-US" sz="2400" dirty="0"/>
              <a:t>(arm not moving)</a:t>
            </a:r>
          </a:p>
        </p:txBody>
      </p:sp>
    </p:spTree>
    <p:extLst>
      <p:ext uri="{BB962C8B-B14F-4D97-AF65-F5344CB8AC3E}">
        <p14:creationId xmlns:p14="http://schemas.microsoft.com/office/powerpoint/2010/main" val="346567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C366F2-9209-B6C2-B3E3-E277021DB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9" y="631930"/>
            <a:ext cx="4966056" cy="33972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8D1E5F-632E-8799-D907-67A86907FC14}"/>
              </a:ext>
            </a:extLst>
          </p:cNvPr>
          <p:cNvSpPr txBox="1"/>
          <p:nvPr/>
        </p:nvSpPr>
        <p:spPr>
          <a:xfrm>
            <a:off x="530618" y="246848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363636"/>
                </a:solidFill>
                <a:effectLst/>
                <a:latin typeface="Arial" panose="020B0604020202020204" pitchFamily="34" charset="0"/>
              </a:rPr>
              <a:t>Female Dumbbell Curl Standards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DF5DA-7AE3-218B-62A4-BF0C3972153B}"/>
              </a:ext>
            </a:extLst>
          </p:cNvPr>
          <p:cNvSpPr txBox="1"/>
          <p:nvPr/>
        </p:nvSpPr>
        <p:spPr>
          <a:xfrm>
            <a:off x="971122" y="5141"/>
            <a:ext cx="44536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https://strengthlevel.com/strength-standards/dumbbell-curl/lb</a:t>
            </a: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C085E-4434-EE9A-AFC6-CF652E2A5FBB}"/>
              </a:ext>
            </a:extLst>
          </p:cNvPr>
          <p:cNvSpPr txBox="1"/>
          <p:nvPr/>
        </p:nvSpPr>
        <p:spPr>
          <a:xfrm>
            <a:off x="6206663" y="143640"/>
            <a:ext cx="47261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If  she lifted at the Elite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75E48-7AF1-9244-43FA-9214C363815F}"/>
              </a:ext>
            </a:extLst>
          </p:cNvPr>
          <p:cNvSpPr txBox="1"/>
          <p:nvPr/>
        </p:nvSpPr>
        <p:spPr>
          <a:xfrm>
            <a:off x="5603690" y="1111253"/>
            <a:ext cx="51131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would her </a:t>
            </a:r>
            <a:r>
              <a:rPr lang="en-US" sz="2000" dirty="0"/>
              <a:t>(biceps or triceps) </a:t>
            </a:r>
            <a:r>
              <a:rPr lang="en-US" sz="2000" dirty="0">
                <a:solidFill>
                  <a:srgbClr val="C00000"/>
                </a:solidFill>
              </a:rPr>
              <a:t>muscle force be, in terms of body weight?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210CCC-B436-29CA-7146-84AF797DFE35}"/>
              </a:ext>
            </a:extLst>
          </p:cNvPr>
          <p:cNvSpPr txBox="1"/>
          <p:nvPr/>
        </p:nvSpPr>
        <p:spPr>
          <a:xfrm>
            <a:off x="7966832" y="4218588"/>
            <a:ext cx="37774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What would her elbow joint force be, in terms of body weight?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D80BE-43DA-BCCC-9923-22014FE0BD08}"/>
              </a:ext>
            </a:extLst>
          </p:cNvPr>
          <p:cNvSpPr txBox="1"/>
          <p:nvPr/>
        </p:nvSpPr>
        <p:spPr>
          <a:xfrm>
            <a:off x="8722973" y="5507076"/>
            <a:ext cx="258866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7030A0"/>
                </a:solidFill>
              </a:rPr>
              <a:t>J</a:t>
            </a:r>
            <a:r>
              <a:rPr lang="en-US" sz="2400" b="1" baseline="-25000" dirty="0">
                <a:solidFill>
                  <a:srgbClr val="7030A0"/>
                </a:solidFill>
              </a:rPr>
              <a:t>elbow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  <a:endParaRPr lang="en-US" sz="2400" dirty="0">
              <a:solidFill>
                <a:srgbClr val="7030A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A51C28-C31F-2B30-CBDC-5EB8FA0B6434}"/>
              </a:ext>
            </a:extLst>
          </p:cNvPr>
          <p:cNvSpPr txBox="1"/>
          <p:nvPr/>
        </p:nvSpPr>
        <p:spPr>
          <a:xfrm>
            <a:off x="7010844" y="1845856"/>
            <a:ext cx="2813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M </a:t>
            </a:r>
            <a:r>
              <a:rPr lang="en-US" sz="2400" dirty="0"/>
              <a:t>= </a:t>
            </a:r>
            <a:r>
              <a:rPr lang="en-US" sz="2400" dirty="0">
                <a:solidFill>
                  <a:srgbClr val="C00000"/>
                </a:solidFill>
              </a:rPr>
              <a:t>?</a:t>
            </a:r>
            <a:r>
              <a:rPr lang="en-US" sz="2400" dirty="0"/>
              <a:t> w</a:t>
            </a:r>
            <a:r>
              <a:rPr lang="en-US" sz="2400" baseline="-25000" dirty="0"/>
              <a:t>body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D87D55-62DD-3BFC-850F-554A69304C04}"/>
              </a:ext>
            </a:extLst>
          </p:cNvPr>
          <p:cNvSpPr txBox="1"/>
          <p:nvPr/>
        </p:nvSpPr>
        <p:spPr>
          <a:xfrm>
            <a:off x="6096000" y="2763849"/>
            <a:ext cx="51131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/>
              <a:t>Hint: Use the same arm lever arm ratio as before</a:t>
            </a:r>
            <a:r>
              <a:rPr lang="en-US" sz="1800" dirty="0"/>
              <a:t>. </a:t>
            </a:r>
            <a:r>
              <a:rPr lang="en-US" sz="1800" i="1" dirty="0"/>
              <a:t>That ratio wouldn’t change</a:t>
            </a:r>
          </a:p>
          <a:p>
            <a:r>
              <a:rPr lang="en-US" dirty="0">
                <a:solidFill>
                  <a:srgbClr val="FF0000"/>
                </a:solidFill>
              </a:rPr>
              <a:t>                            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BF7F952-2FA0-0879-44DB-72E7A13CF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797" y="4044938"/>
            <a:ext cx="7748035" cy="28437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68BBBE-454D-4259-F53B-10A1EAE41863}"/>
              </a:ext>
            </a:extLst>
          </p:cNvPr>
          <p:cNvSpPr txBox="1"/>
          <p:nvPr/>
        </p:nvSpPr>
        <p:spPr>
          <a:xfrm>
            <a:off x="9546188" y="1498416"/>
            <a:ext cx="2586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Indicate</a:t>
            </a:r>
            <a:r>
              <a:rPr lang="en-US" dirty="0"/>
              <a:t> which muscle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FF32F7-ED85-760F-1C4A-BA9101A61CD6}"/>
                  </a:ext>
                </a:extLst>
              </p:cNvPr>
              <p:cNvSpPr txBox="1"/>
              <p:nvPr/>
            </p:nvSpPr>
            <p:spPr>
              <a:xfrm>
                <a:off x="7482990" y="3323588"/>
                <a:ext cx="1869115" cy="5305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FF0000"/>
                            </a:solidFill>
                          </a:rPr>
                          <m:t>M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smtClean="0">
                            <a:solidFill>
                              <a:srgbClr val="00B0F0"/>
                            </a:solidFill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b="0" i="0" baseline="-25000" smtClean="0">
                            <a:solidFill>
                              <a:srgbClr val="00B0F0"/>
                            </a:solidFill>
                          </a:rPr>
                          <m:t>dumbbell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Symbol" panose="05050102010706020507" pitchFamily="18" charset="2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>
                            <a:solidFill>
                              <a:srgbClr val="00B0F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00B0F0"/>
                            </a:solidFill>
                            <a:sym typeface="Symbol" panose="05050102010706020507" pitchFamily="18" charset="2"/>
                          </a:rPr>
                          <m:t>n</m:t>
                        </m:r>
                        <m:r>
                          <a:rPr lang="en-US" b="0" i="1" baseline="-2500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sym typeface="Symbol" panose="05050102010706020507" pitchFamily="18" charset="2"/>
                          </a:rPr>
                          <m:t> 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>
                            <a:solidFill>
                              <a:srgbClr val="FF0000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</m:t>
                        </m:r>
                        <m:r>
                          <m:rPr>
                            <m:nor/>
                          </m:rPr>
                          <a:rPr lang="en-US" baseline="-25000">
                            <a:solidFill>
                              <a:srgbClr val="FF0000"/>
                            </a:solidFill>
                            <a:sym typeface="Symbol" panose="05050102010706020507" pitchFamily="18" charset="2"/>
                          </a:rPr>
                          <m:t>M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CFF32F7-ED85-760F-1C4A-BA9101A61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990" y="3323588"/>
                <a:ext cx="1869115" cy="530530"/>
              </a:xfrm>
              <a:prstGeom prst="rect">
                <a:avLst/>
              </a:prstGeom>
              <a:blipFill>
                <a:blip r:embed="rId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5B00DF-1279-DB08-2DB4-CA7232160D80}"/>
                  </a:ext>
                </a:extLst>
              </p:cNvPr>
              <p:cNvSpPr txBox="1"/>
              <p:nvPr/>
            </p:nvSpPr>
            <p:spPr>
              <a:xfrm>
                <a:off x="6852537" y="612132"/>
                <a:ext cx="2903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smtClean="0">
                        <a:solidFill>
                          <a:srgbClr val="00B0F0"/>
                        </a:solidFill>
                      </a:rPr>
                      <m:t>F</m:t>
                    </m:r>
                    <m:r>
                      <m:rPr>
                        <m:nor/>
                      </m:rPr>
                      <a:rPr lang="en-US" b="0" i="0" baseline="-25000" smtClean="0">
                        <a:solidFill>
                          <a:srgbClr val="00B0F0"/>
                        </a:solidFill>
                      </a:rPr>
                      <m:t>dumbbel</m:t>
                    </m:r>
                  </m:oMath>
                </a14:m>
                <a:r>
                  <a:rPr lang="en-US" baseline="-25000" dirty="0">
                    <a:solidFill>
                      <a:srgbClr val="00B0F0"/>
                    </a:solidFill>
                  </a:rPr>
                  <a:t>l</a:t>
                </a:r>
                <a:r>
                  <a:rPr lang="en-US" dirty="0"/>
                  <a:t> = 0.45w</a:t>
                </a:r>
                <a:r>
                  <a:rPr lang="en-US" baseline="-25000" dirty="0"/>
                  <a:t>body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5B00DF-1279-DB08-2DB4-CA723216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2537" y="612132"/>
                <a:ext cx="2903920" cy="369332"/>
              </a:xfrm>
              <a:prstGeom prst="rect">
                <a:avLst/>
              </a:prstGeom>
              <a:blipFill>
                <a:blip r:embed="rId6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827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466</Words>
  <Application>Microsoft Macintosh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Cambria Math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Beverly, Nancy</dc:creator>
  <cp:lastModifiedBy>Beverly, Nancy</cp:lastModifiedBy>
  <cp:revision>12</cp:revision>
  <dcterms:created xsi:type="dcterms:W3CDTF">2024-04-03T14:47:08Z</dcterms:created>
  <dcterms:modified xsi:type="dcterms:W3CDTF">2024-11-21T19:47:23Z</dcterms:modified>
</cp:coreProperties>
</file>