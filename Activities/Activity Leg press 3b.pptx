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2" r:id="rId3"/>
    <p:sldId id="323" r:id="rId4"/>
    <p:sldId id="257" r:id="rId5"/>
    <p:sldId id="32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BC81-6875-D846-5017-B634C723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BB32B-83A7-96E7-49ED-3413BF915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42E9-25A2-A0AD-FDCD-A8DC2387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44E62-EC5E-F63B-03F0-672FA8CF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1251-E608-313C-3B85-13834E1C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3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72F0-36C9-B01F-1620-DB23D3233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9DA1E-EDD0-97B7-05C3-4AC1ABBCA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20DA4-F2A7-5883-DBE8-E5F547A1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475C8-AEE4-ECEE-A82A-B71DE1A9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55F9-5E24-19CA-178F-CF06654E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2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E73D-44EA-FCC9-8EAB-11B142D8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0B704-FD36-A4FB-62A1-809B291F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DEC2D-FCE0-075B-72F2-81C75EAC8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BF023-ED98-1D6F-7D8F-652BB2D1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1941-D200-FEF2-E224-101717A0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0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6CBC-3F5E-9797-CA84-D4D6C51D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F41B8-976E-4A66-4E8E-3C4474D7A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28683-69FB-D20B-96B0-ABC29DF7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37E6D-91B0-8D40-07AF-1B8D4DFA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B4D1F-F877-3018-F55C-D7315F42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2CE6C-E217-74F6-ECD6-F3071186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3FBC-8081-30D5-52DD-8B8F2D58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75089-F899-8AF1-0042-5175D1A58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06A99-9456-9D36-5011-844166728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28208-E852-C77A-AC36-60B9DA191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7D0A4-9556-571F-55AA-A663884EA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3D19F-B00C-9C16-411B-7F98E5BF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AC80F-CBD7-CCC9-3177-CCECE660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040A6-78FE-04F7-B7DA-DE90AE89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4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5D2-1344-C3E4-462C-F20F14E2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40C0F-E23A-E00A-E814-FD206D3B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F2EC5-FECB-D35A-9EAE-97F58963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178D6-E4AE-E68F-0AC7-23037340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6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1B684-43C8-4D89-243E-1C6D7463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D8D7C-0EFA-582D-2A41-E68505DF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6D8C8-A476-DC51-87FE-7F308481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3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D088-B159-3BBF-8344-D3D9BEF42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45751-F1D5-D991-7E9C-3964FA83A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01AB3-C010-23E3-CD8A-B8B6627FA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7F39E-2083-8235-90BE-3C62AA46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74174-04CC-E28C-7A31-0B9BA4DA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95A0-B3CB-3962-861E-A1BB8278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8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90B6-3A0A-1A74-8AE9-0C2BCD94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824D4-BC40-DBB7-C64A-3466096AF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39F0A-E6A0-4447-0C5B-178400A1E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4AF95-EB1F-74A9-C832-12A31215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0A73D-34B0-C09D-662B-9B90253C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90AB-21F6-0A40-762D-8D26B2CB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0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2561-F954-10BC-C0BA-33B1CC9B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363FD-8D2B-0860-1B58-C184C5C04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E22C8-DB9A-9D25-8612-AF92C79B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9B37C-3E52-FFB8-2304-605B9CCB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2595D-B29F-4356-C644-1E565B00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62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CD7FF-59DB-F07B-06AA-D52F06A9C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FC7C2-E23D-C19D-FC33-71A0E5743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D299C-00B2-9D88-6C0A-77651F82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78344-D93F-AFF9-ABE5-01DDC7AC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1A2F0-CFE0-AC2E-A7EE-226B42D1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4B09E-9FE3-5B79-7E5C-35847A63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F5AE0-FC1F-C662-386E-B619CE72B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D27A2-947B-53BC-C944-60D3EBC78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DD05B-9491-4BBC-BA3A-553793BF9E1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1935C-5882-5B29-4E8C-FFA3E009B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2B451-5E63-F144-5325-AEFF61573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1F936-1BD6-443B-8758-426CD31EC2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04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leg-press--861383866216316692/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ngthlevel.com/strength-standards/horizontal-leg-pres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eg Press | Leg press, Legs, Custom site">
            <a:extLst>
              <a:ext uri="{FF2B5EF4-FFF2-40B4-BE49-F238E27FC236}">
                <a16:creationId xmlns:a16="http://schemas.microsoft.com/office/drawing/2014/main" id="{A3E9A784-F69C-B541-8EAF-EF6030C9D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9" y="1484188"/>
            <a:ext cx="64516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E535D-6BAB-9B4C-96AD-CAE04C90AFB2}"/>
              </a:ext>
            </a:extLst>
          </p:cNvPr>
          <p:cNvSpPr txBox="1"/>
          <p:nvPr/>
        </p:nvSpPr>
        <p:spPr>
          <a:xfrm>
            <a:off x="376719" y="511220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https://www.pinterest.com/pin/leg-press--861383866216316692/</a:t>
            </a:r>
            <a:endParaRPr lang="en-US" sz="10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B4C55-4C11-604B-B9AD-A9BDC1751857}"/>
              </a:ext>
            </a:extLst>
          </p:cNvPr>
          <p:cNvSpPr txBox="1"/>
          <p:nvPr/>
        </p:nvSpPr>
        <p:spPr>
          <a:xfrm>
            <a:off x="1055076" y="773722"/>
            <a:ext cx="3036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Leg Press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9F2AB1-21B7-92C2-3B4F-3EED4FCF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856" y="773722"/>
            <a:ext cx="5229225" cy="5724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6B0C5-65CE-A02B-DF8E-21F93C765A10}"/>
              </a:ext>
            </a:extLst>
          </p:cNvPr>
          <p:cNvSpPr txBox="1"/>
          <p:nvPr/>
        </p:nvSpPr>
        <p:spPr>
          <a:xfrm>
            <a:off x="3143892" y="205483"/>
            <a:ext cx="7818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We will look at a place where the person is holding the platform still so forces and torques are  balanced</a:t>
            </a:r>
          </a:p>
        </p:txBody>
      </p:sp>
    </p:spTree>
    <p:extLst>
      <p:ext uri="{BB962C8B-B14F-4D97-AF65-F5344CB8AC3E}">
        <p14:creationId xmlns:p14="http://schemas.microsoft.com/office/powerpoint/2010/main" val="311463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289D0A5-2191-62DF-FB5B-5D271A5E8029}"/>
              </a:ext>
            </a:extLst>
          </p:cNvPr>
          <p:cNvGrpSpPr/>
          <p:nvPr/>
        </p:nvGrpSpPr>
        <p:grpSpPr>
          <a:xfrm>
            <a:off x="286470" y="819660"/>
            <a:ext cx="5229225" cy="5724525"/>
            <a:chOff x="286470" y="819660"/>
            <a:chExt cx="5229225" cy="572452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4BBD6B-42D4-3BD9-D1FB-DBF2AC4EDDC1}"/>
                </a:ext>
              </a:extLst>
            </p:cNvPr>
            <p:cNvGrpSpPr/>
            <p:nvPr/>
          </p:nvGrpSpPr>
          <p:grpSpPr>
            <a:xfrm>
              <a:off x="286470" y="819660"/>
              <a:ext cx="5229225" cy="5724525"/>
              <a:chOff x="654129" y="975085"/>
              <a:chExt cx="5229225" cy="572452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34A94CF-3326-4C09-B663-1323E7F33D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4129" y="975085"/>
                <a:ext cx="5229225" cy="5724525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61D4FE7-517B-C6F2-7116-A557064457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60000"/>
              </a:blip>
              <a:stretch>
                <a:fillRect/>
              </a:stretch>
            </p:blipFill>
            <p:spPr>
              <a:xfrm>
                <a:off x="2291029" y="2151307"/>
                <a:ext cx="2762018" cy="1720602"/>
              </a:xfrm>
              <a:prstGeom prst="rect">
                <a:avLst/>
              </a:prstGeom>
            </p:spPr>
          </p:pic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50232B3-6F5D-24AE-2591-0D36B115874E}"/>
                </a:ext>
              </a:extLst>
            </p:cNvPr>
            <p:cNvSpPr/>
            <p:nvPr/>
          </p:nvSpPr>
          <p:spPr>
            <a:xfrm flipV="1">
              <a:off x="3695143" y="3399398"/>
              <a:ext cx="186891" cy="152187"/>
            </a:xfrm>
            <a:prstGeom prst="ellipse">
              <a:avLst/>
            </a:prstGeom>
            <a:solidFill>
              <a:srgbClr val="FFFF00"/>
            </a:solidFill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34DEEA-FCF2-9461-8DF6-1E9BD3D6DDC2}"/>
              </a:ext>
            </a:extLst>
          </p:cNvPr>
          <p:cNvGrpSpPr/>
          <p:nvPr/>
        </p:nvGrpSpPr>
        <p:grpSpPr>
          <a:xfrm>
            <a:off x="6190188" y="755674"/>
            <a:ext cx="5229225" cy="5724525"/>
            <a:chOff x="6190188" y="755674"/>
            <a:chExt cx="5229225" cy="57245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AE92F10-502F-8D2A-5C31-0072B55D8C51}"/>
                </a:ext>
              </a:extLst>
            </p:cNvPr>
            <p:cNvGrpSpPr/>
            <p:nvPr/>
          </p:nvGrpSpPr>
          <p:grpSpPr>
            <a:xfrm>
              <a:off x="6190188" y="755674"/>
              <a:ext cx="5229225" cy="5724525"/>
              <a:chOff x="5712707" y="1362294"/>
              <a:chExt cx="5229225" cy="572452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4822B32-FEDB-33B8-715F-74FD8A92C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2707" y="1362294"/>
                <a:ext cx="5229225" cy="5724525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F3319C2-516A-BA80-C37B-44954EFC81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46000"/>
              </a:blip>
              <a:stretch>
                <a:fillRect/>
              </a:stretch>
            </p:blipFill>
            <p:spPr>
              <a:xfrm rot="2820326" flipH="1">
                <a:off x="8785527" y="3410091"/>
                <a:ext cx="1286582" cy="991377"/>
              </a:xfrm>
              <a:prstGeom prst="rect">
                <a:avLst/>
              </a:prstGeom>
            </p:spPr>
          </p:pic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813E16-CC16-1ED5-5BDF-2374945AAA10}"/>
                </a:ext>
              </a:extLst>
            </p:cNvPr>
            <p:cNvSpPr/>
            <p:nvPr/>
          </p:nvSpPr>
          <p:spPr>
            <a:xfrm flipV="1">
              <a:off x="9815850" y="3493848"/>
              <a:ext cx="186891" cy="152187"/>
            </a:xfrm>
            <a:prstGeom prst="ellipse">
              <a:avLst/>
            </a:prstGeom>
            <a:solidFill>
              <a:srgbClr val="FFFF00"/>
            </a:solidFill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Down Arrow 6">
            <a:extLst>
              <a:ext uri="{FF2B5EF4-FFF2-40B4-BE49-F238E27FC236}">
                <a16:creationId xmlns:a16="http://schemas.microsoft.com/office/drawing/2014/main" id="{8AD19B69-5A81-4A17-96F4-476321890216}"/>
              </a:ext>
            </a:extLst>
          </p:cNvPr>
          <p:cNvSpPr/>
          <p:nvPr/>
        </p:nvSpPr>
        <p:spPr>
          <a:xfrm rot="14486939">
            <a:off x="4015729" y="3852932"/>
            <a:ext cx="245460" cy="13875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70D27-3B6D-2849-949D-21DB9FFF42AE}"/>
              </a:ext>
            </a:extLst>
          </p:cNvPr>
          <p:cNvSpPr txBox="1"/>
          <p:nvPr/>
        </p:nvSpPr>
        <p:spPr>
          <a:xfrm>
            <a:off x="5822063" y="0"/>
            <a:ext cx="1704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Leg Press 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48A45-0F3E-7B4E-A3C2-5699FC89AE16}"/>
              </a:ext>
            </a:extLst>
          </p:cNvPr>
          <p:cNvSpPr txBox="1"/>
          <p:nvPr/>
        </p:nvSpPr>
        <p:spPr>
          <a:xfrm>
            <a:off x="407779" y="111003"/>
            <a:ext cx="250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Limb system</a:t>
            </a:r>
            <a:r>
              <a:rPr lang="en-US" b="1" dirty="0"/>
              <a:t>: </a:t>
            </a:r>
            <a:r>
              <a:rPr lang="en-US" dirty="0">
                <a:solidFill>
                  <a:srgbClr val="FF0000"/>
                </a:solidFill>
              </a:rPr>
              <a:t>whole leg</a:t>
            </a:r>
          </a:p>
          <a:p>
            <a:r>
              <a:rPr lang="en-US" b="1" i="1" dirty="0"/>
              <a:t>Joint: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hip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845D25-C436-9E4F-A509-A4AB95B8A4E8}"/>
              </a:ext>
            </a:extLst>
          </p:cNvPr>
          <p:cNvSpPr txBox="1"/>
          <p:nvPr/>
        </p:nvSpPr>
        <p:spPr>
          <a:xfrm>
            <a:off x="3053665" y="300600"/>
            <a:ext cx="8730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Drag to show each muscle force and its torque rotation direction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7970C2-6DF1-934C-99D6-05D28D8B8F48}"/>
              </a:ext>
            </a:extLst>
          </p:cNvPr>
          <p:cNvSpPr txBox="1"/>
          <p:nvPr/>
        </p:nvSpPr>
        <p:spPr>
          <a:xfrm>
            <a:off x="8836577" y="876563"/>
            <a:ext cx="106972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66"/>
                </a:solidFill>
              </a:rPr>
              <a:t>Psoas</a:t>
            </a:r>
            <a:endParaRPr lang="en-US" sz="2400" dirty="0">
              <a:solidFill>
                <a:srgbClr val="FF0066"/>
              </a:solidFill>
            </a:endParaRPr>
          </a:p>
        </p:txBody>
      </p:sp>
      <p:sp>
        <p:nvSpPr>
          <p:cNvPr id="23" name="Down Arrow 6">
            <a:extLst>
              <a:ext uri="{FF2B5EF4-FFF2-40B4-BE49-F238E27FC236}">
                <a16:creationId xmlns:a16="http://schemas.microsoft.com/office/drawing/2014/main" id="{0254AB87-A952-141C-E20B-959C5907AA9C}"/>
              </a:ext>
            </a:extLst>
          </p:cNvPr>
          <p:cNvSpPr/>
          <p:nvPr/>
        </p:nvSpPr>
        <p:spPr>
          <a:xfrm rot="14486939">
            <a:off x="6745170" y="3537883"/>
            <a:ext cx="245460" cy="13875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F9E29-E1E4-34CF-911E-BC8B4658527C}"/>
              </a:ext>
            </a:extLst>
          </p:cNvPr>
          <p:cNvSpPr txBox="1"/>
          <p:nvPr/>
        </p:nvSpPr>
        <p:spPr>
          <a:xfrm>
            <a:off x="1920893" y="893184"/>
            <a:ext cx="233546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66"/>
                </a:solidFill>
              </a:rPr>
              <a:t>Gluteus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Maximus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B6BFC1-434A-6CA3-34E4-4388517DE28D}"/>
              </a:ext>
            </a:extLst>
          </p:cNvPr>
          <p:cNvGrpSpPr/>
          <p:nvPr/>
        </p:nvGrpSpPr>
        <p:grpSpPr>
          <a:xfrm>
            <a:off x="5087476" y="1189505"/>
            <a:ext cx="1849973" cy="1507331"/>
            <a:chOff x="2072016" y="4054287"/>
            <a:chExt cx="1849973" cy="1507331"/>
          </a:xfrm>
        </p:grpSpPr>
        <p:sp>
          <p:nvSpPr>
            <p:cNvPr id="6" name="Arc 5">
              <a:extLst>
                <a:ext uri="{FF2B5EF4-FFF2-40B4-BE49-F238E27FC236}">
                  <a16:creationId xmlns:a16="http://schemas.microsoft.com/office/drawing/2014/main" id="{B04D3317-C27B-EBCE-5EC9-78E8AAC3FC18}"/>
                </a:ext>
              </a:extLst>
            </p:cNvPr>
            <p:cNvSpPr/>
            <p:nvPr/>
          </p:nvSpPr>
          <p:spPr>
            <a:xfrm rot="7933824">
              <a:off x="2050274" y="4076029"/>
              <a:ext cx="1507331" cy="1463848"/>
            </a:xfrm>
            <a:prstGeom prst="arc">
              <a:avLst>
                <a:gd name="adj1" fmla="val 17185535"/>
                <a:gd name="adj2" fmla="val 0"/>
              </a:avLst>
            </a:prstGeom>
            <a:ln w="57150">
              <a:solidFill>
                <a:srgbClr val="FF0000"/>
              </a:solidFill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Text Box 78">
              <a:extLst>
                <a:ext uri="{FF2B5EF4-FFF2-40B4-BE49-F238E27FC236}">
                  <a16:creationId xmlns:a16="http://schemas.microsoft.com/office/drawing/2014/main" id="{480895BA-291C-EDF6-1FDD-B0F6CF8C2099}"/>
                </a:ext>
              </a:extLst>
            </p:cNvPr>
            <p:cNvSpPr txBox="1"/>
            <p:nvPr/>
          </p:nvSpPr>
          <p:spPr>
            <a:xfrm>
              <a:off x="2517804" y="4956288"/>
              <a:ext cx="1404185" cy="53483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29E021-1E9D-1607-9D82-37FB3DDED2A6}"/>
              </a:ext>
            </a:extLst>
          </p:cNvPr>
          <p:cNvGrpSpPr/>
          <p:nvPr/>
        </p:nvGrpSpPr>
        <p:grpSpPr>
          <a:xfrm>
            <a:off x="5259542" y="422280"/>
            <a:ext cx="1463848" cy="1507331"/>
            <a:chOff x="5157631" y="3932742"/>
            <a:chExt cx="1463848" cy="1507331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85E38F39-4242-575C-9960-648F1283F232}"/>
                </a:ext>
              </a:extLst>
            </p:cNvPr>
            <p:cNvSpPr/>
            <p:nvPr/>
          </p:nvSpPr>
          <p:spPr>
            <a:xfrm rot="7933824">
              <a:off x="5135889" y="3954484"/>
              <a:ext cx="1507331" cy="1463848"/>
            </a:xfrm>
            <a:prstGeom prst="arc">
              <a:avLst>
                <a:gd name="adj1" fmla="val 17185535"/>
                <a:gd name="adj2" fmla="val 0"/>
              </a:avLst>
            </a:prstGeom>
            <a:ln w="57150">
              <a:solidFill>
                <a:srgbClr val="FF000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Text Box 78">
              <a:extLst>
                <a:ext uri="{FF2B5EF4-FFF2-40B4-BE49-F238E27FC236}">
                  <a16:creationId xmlns:a16="http://schemas.microsoft.com/office/drawing/2014/main" id="{F71C28A8-19C6-F1E2-6FE3-E09E79C0EF11}"/>
                </a:ext>
              </a:extLst>
            </p:cNvPr>
            <p:cNvSpPr txBox="1"/>
            <p:nvPr/>
          </p:nvSpPr>
          <p:spPr>
            <a:xfrm>
              <a:off x="5339168" y="4851836"/>
              <a:ext cx="1100772" cy="53483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81A6A00-A5CC-9EB5-715B-3B0189F6D683}"/>
              </a:ext>
            </a:extLst>
          </p:cNvPr>
          <p:cNvSpPr txBox="1"/>
          <p:nvPr/>
        </p:nvSpPr>
        <p:spPr>
          <a:xfrm>
            <a:off x="11380574" y="128241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 pts.</a:t>
            </a:r>
          </a:p>
        </p:txBody>
      </p:sp>
    </p:spTree>
    <p:extLst>
      <p:ext uri="{BB962C8B-B14F-4D97-AF65-F5344CB8AC3E}">
        <p14:creationId xmlns:p14="http://schemas.microsoft.com/office/powerpoint/2010/main" val="25861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A94CF-3326-4C09-B663-1323E7F3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975085"/>
            <a:ext cx="5229225" cy="5724525"/>
          </a:xfrm>
          <a:prstGeom prst="rect">
            <a:avLst/>
          </a:prstGeom>
        </p:spPr>
      </p:pic>
      <p:sp>
        <p:nvSpPr>
          <p:cNvPr id="7" name="Up Arrow 4">
            <a:extLst>
              <a:ext uri="{FF2B5EF4-FFF2-40B4-BE49-F238E27FC236}">
                <a16:creationId xmlns:a16="http://schemas.microsoft.com/office/drawing/2014/main" id="{93DF25DA-CE5D-474A-B73E-E42C388E3DEE}"/>
              </a:ext>
            </a:extLst>
          </p:cNvPr>
          <p:cNvSpPr/>
          <p:nvPr/>
        </p:nvSpPr>
        <p:spPr>
          <a:xfrm rot="272250">
            <a:off x="6969875" y="1241379"/>
            <a:ext cx="262209" cy="823024"/>
          </a:xfrm>
          <a:prstGeom prst="upArrow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4AD8C-B5F8-4961-AD19-CD1FE5FC4573}"/>
              </a:ext>
            </a:extLst>
          </p:cNvPr>
          <p:cNvCxnSpPr>
            <a:cxnSpLocks/>
          </p:cNvCxnSpPr>
          <p:nvPr/>
        </p:nvCxnSpPr>
        <p:spPr>
          <a:xfrm flipV="1">
            <a:off x="5950922" y="5019352"/>
            <a:ext cx="648754" cy="925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own Arrow 6">
            <a:extLst>
              <a:ext uri="{FF2B5EF4-FFF2-40B4-BE49-F238E27FC236}">
                <a16:creationId xmlns:a16="http://schemas.microsoft.com/office/drawing/2014/main" id="{8AD19B69-5A81-4A17-96F4-476321890216}"/>
              </a:ext>
            </a:extLst>
          </p:cNvPr>
          <p:cNvSpPr/>
          <p:nvPr/>
        </p:nvSpPr>
        <p:spPr>
          <a:xfrm rot="14486939">
            <a:off x="7761823" y="3717247"/>
            <a:ext cx="245460" cy="13875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09F0AA-C4A4-4662-BF24-6F06C684031D}"/>
              </a:ext>
            </a:extLst>
          </p:cNvPr>
          <p:cNvCxnSpPr>
            <a:cxnSpLocks/>
          </p:cNvCxnSpPr>
          <p:nvPr/>
        </p:nvCxnSpPr>
        <p:spPr>
          <a:xfrm>
            <a:off x="6292759" y="5494838"/>
            <a:ext cx="1000045" cy="846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1D1C8C6-AFA0-469D-BC8D-2E1A417C91D7}"/>
              </a:ext>
            </a:extLst>
          </p:cNvPr>
          <p:cNvSpPr/>
          <p:nvPr/>
        </p:nvSpPr>
        <p:spPr>
          <a:xfrm flipV="1">
            <a:off x="4171563" y="3614909"/>
            <a:ext cx="186891" cy="152187"/>
          </a:xfrm>
          <a:prstGeom prst="ellipse">
            <a:avLst/>
          </a:prstGeom>
          <a:solidFill>
            <a:srgbClr val="FFFF0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70D27-3B6D-2849-949D-21DB9FFF42AE}"/>
              </a:ext>
            </a:extLst>
          </p:cNvPr>
          <p:cNvSpPr txBox="1"/>
          <p:nvPr/>
        </p:nvSpPr>
        <p:spPr>
          <a:xfrm>
            <a:off x="194977" y="146969"/>
            <a:ext cx="1704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Leg Press </a:t>
            </a:r>
            <a:endParaRPr lang="en-US" dirty="0"/>
          </a:p>
        </p:txBody>
      </p:sp>
      <p:sp>
        <p:nvSpPr>
          <p:cNvPr id="16" name="Text Box 324">
            <a:extLst>
              <a:ext uri="{FF2B5EF4-FFF2-40B4-BE49-F238E27FC236}">
                <a16:creationId xmlns:a16="http://schemas.microsoft.com/office/drawing/2014/main" id="{B7067FC0-9C75-DE46-8613-170A93606C38}"/>
              </a:ext>
            </a:extLst>
          </p:cNvPr>
          <p:cNvSpPr txBox="1"/>
          <p:nvPr/>
        </p:nvSpPr>
        <p:spPr>
          <a:xfrm>
            <a:off x="6684392" y="5138521"/>
            <a:ext cx="628650" cy="2657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 Box 324">
            <a:extLst>
              <a:ext uri="{FF2B5EF4-FFF2-40B4-BE49-F238E27FC236}">
                <a16:creationId xmlns:a16="http://schemas.microsoft.com/office/drawing/2014/main" id="{C6AB7F79-5C77-9148-AE42-0F23E1EF371F}"/>
              </a:ext>
            </a:extLst>
          </p:cNvPr>
          <p:cNvSpPr txBox="1"/>
          <p:nvPr/>
        </p:nvSpPr>
        <p:spPr>
          <a:xfrm>
            <a:off x="6023289" y="4608043"/>
            <a:ext cx="628650" cy="2657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allout: Down Arrow 69">
            <a:extLst>
              <a:ext uri="{FF2B5EF4-FFF2-40B4-BE49-F238E27FC236}">
                <a16:creationId xmlns:a16="http://schemas.microsoft.com/office/drawing/2014/main" id="{38A7FD4F-ED36-194D-8069-6288C56B5468}"/>
              </a:ext>
            </a:extLst>
          </p:cNvPr>
          <p:cNvSpPr/>
          <p:nvPr/>
        </p:nvSpPr>
        <p:spPr>
          <a:xfrm>
            <a:off x="5966948" y="3461093"/>
            <a:ext cx="3724243" cy="542522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Drag and reorient </a:t>
            </a:r>
            <a:r>
              <a:rPr lang="en-US" dirty="0">
                <a:solidFill>
                  <a:srgbClr val="FF0000"/>
                </a:solidFill>
              </a:rPr>
              <a:t>muscle</a:t>
            </a:r>
            <a:r>
              <a:rPr lang="en-US" dirty="0">
                <a:solidFill>
                  <a:schemeClr val="tx1"/>
                </a:solidFill>
              </a:rPr>
              <a:t> force vector</a:t>
            </a:r>
          </a:p>
        </p:txBody>
      </p:sp>
      <p:sp>
        <p:nvSpPr>
          <p:cNvPr id="19" name="Up Arrow Callout 18">
            <a:extLst>
              <a:ext uri="{FF2B5EF4-FFF2-40B4-BE49-F238E27FC236}">
                <a16:creationId xmlns:a16="http://schemas.microsoft.com/office/drawing/2014/main" id="{DB859F35-1B12-5040-A0CF-DE8E63619B7E}"/>
              </a:ext>
            </a:extLst>
          </p:cNvPr>
          <p:cNvSpPr/>
          <p:nvPr/>
        </p:nvSpPr>
        <p:spPr>
          <a:xfrm>
            <a:off x="5911422" y="5668758"/>
            <a:ext cx="1679199" cy="860799"/>
          </a:xfrm>
          <a:prstGeom prst="up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Drag </a:t>
            </a:r>
            <a:r>
              <a:rPr lang="en-US" dirty="0">
                <a:solidFill>
                  <a:srgbClr val="FF0000"/>
                </a:solidFill>
              </a:rPr>
              <a:t>lever arms </a:t>
            </a:r>
            <a:r>
              <a:rPr lang="en-US" dirty="0">
                <a:solidFill>
                  <a:schemeClr val="tx1"/>
                </a:solidFill>
              </a:rPr>
              <a:t>for each force</a:t>
            </a:r>
          </a:p>
        </p:txBody>
      </p:sp>
      <p:sp>
        <p:nvSpPr>
          <p:cNvPr id="22" name="Google Shape;101;p14">
            <a:extLst>
              <a:ext uri="{FF2B5EF4-FFF2-40B4-BE49-F238E27FC236}">
                <a16:creationId xmlns:a16="http://schemas.microsoft.com/office/drawing/2014/main" id="{A12E9C77-6245-3046-A589-E494E53CF80F}"/>
              </a:ext>
            </a:extLst>
          </p:cNvPr>
          <p:cNvSpPr/>
          <p:nvPr/>
        </p:nvSpPr>
        <p:spPr>
          <a:xfrm>
            <a:off x="7241089" y="1495928"/>
            <a:ext cx="14945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 b="1" baseline="-250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platform on leg</a:t>
            </a:r>
            <a:endParaRPr sz="1800" b="1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48A45-0F3E-7B4E-A3C2-5699FC89AE16}"/>
              </a:ext>
            </a:extLst>
          </p:cNvPr>
          <p:cNvSpPr txBox="1"/>
          <p:nvPr/>
        </p:nvSpPr>
        <p:spPr>
          <a:xfrm>
            <a:off x="2227840" y="225213"/>
            <a:ext cx="250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Limb system</a:t>
            </a:r>
            <a:r>
              <a:rPr lang="en-US" b="1" dirty="0"/>
              <a:t>: </a:t>
            </a:r>
            <a:r>
              <a:rPr lang="en-US" dirty="0">
                <a:solidFill>
                  <a:srgbClr val="FF0000"/>
                </a:solidFill>
              </a:rPr>
              <a:t>whole leg</a:t>
            </a:r>
          </a:p>
          <a:p>
            <a:r>
              <a:rPr lang="en-US" b="1" i="1" dirty="0"/>
              <a:t>Joint: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hip</a:t>
            </a:r>
          </a:p>
          <a:p>
            <a:endParaRPr lang="en-US" dirty="0"/>
          </a:p>
        </p:txBody>
      </p:sp>
      <p:sp>
        <p:nvSpPr>
          <p:cNvPr id="27" name="Callout: Down Arrow 69">
            <a:extLst>
              <a:ext uri="{FF2B5EF4-FFF2-40B4-BE49-F238E27FC236}">
                <a16:creationId xmlns:a16="http://schemas.microsoft.com/office/drawing/2014/main" id="{1475D495-B995-7A48-857D-4AD23A70DED7}"/>
              </a:ext>
            </a:extLst>
          </p:cNvPr>
          <p:cNvSpPr/>
          <p:nvPr/>
        </p:nvSpPr>
        <p:spPr>
          <a:xfrm>
            <a:off x="6042099" y="328443"/>
            <a:ext cx="3351707" cy="1036596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Drag and reorient </a:t>
            </a:r>
            <a:r>
              <a:rPr lang="en-US" sz="2000" dirty="0">
                <a:solidFill>
                  <a:srgbClr val="0070C0"/>
                </a:solidFill>
              </a:rPr>
              <a:t>force of leg press platform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on foot/leg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A60B6-B8D9-6741-A04F-67C3DB935910}"/>
                  </a:ext>
                </a:extLst>
              </p:cNvPr>
              <p:cNvSpPr txBox="1"/>
              <p:nvPr/>
            </p:nvSpPr>
            <p:spPr>
              <a:xfrm>
                <a:off x="8292069" y="5465891"/>
                <a:ext cx="3724244" cy="1016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Estimate ratio of lever arms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⟂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⟂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fPr>
                      <m:num/>
                      <m:den/>
                    </m:f>
                  </m:oMath>
                </a14:m>
                <a:r>
                  <a:rPr lang="en-US" sz="2400" dirty="0">
                    <a:latin typeface="Calibri"/>
                    <a:ea typeface="Calibri"/>
                    <a:cs typeface="Calibri"/>
                    <a:sym typeface="Calibri"/>
                  </a:rPr>
                  <a:t> = ?</a:t>
                </a:r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A60B6-B8D9-6741-A04F-67C3DB935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069" y="5465891"/>
                <a:ext cx="3724244" cy="1016689"/>
              </a:xfrm>
              <a:prstGeom prst="rect">
                <a:avLst/>
              </a:prstGeom>
              <a:blipFill>
                <a:blip r:embed="rId3"/>
                <a:stretch>
                  <a:fillRect l="-2373" t="-4938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allout: Down Arrow 69">
            <a:extLst>
              <a:ext uri="{FF2B5EF4-FFF2-40B4-BE49-F238E27FC236}">
                <a16:creationId xmlns:a16="http://schemas.microsoft.com/office/drawing/2014/main" id="{76AF8F2D-C7FB-C647-BC51-9C746ACAA8F0}"/>
              </a:ext>
            </a:extLst>
          </p:cNvPr>
          <p:cNvSpPr/>
          <p:nvPr/>
        </p:nvSpPr>
        <p:spPr>
          <a:xfrm>
            <a:off x="9541843" y="225213"/>
            <a:ext cx="2474470" cy="1139826"/>
          </a:xfrm>
          <a:prstGeom prst="down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Drag to indicate torque rotation direction of </a:t>
            </a:r>
            <a:r>
              <a:rPr lang="en-US" sz="1600" dirty="0">
                <a:solidFill>
                  <a:srgbClr val="0070C0"/>
                </a:solidFill>
              </a:rPr>
              <a:t>platform force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FA12EF-4AB6-CB2A-4F62-A96E9183570A}"/>
              </a:ext>
            </a:extLst>
          </p:cNvPr>
          <p:cNvGrpSpPr/>
          <p:nvPr/>
        </p:nvGrpSpPr>
        <p:grpSpPr>
          <a:xfrm>
            <a:off x="9232236" y="497108"/>
            <a:ext cx="1463848" cy="1507331"/>
            <a:chOff x="3951160" y="3985437"/>
            <a:chExt cx="1463848" cy="1507331"/>
          </a:xfrm>
        </p:grpSpPr>
        <p:sp>
          <p:nvSpPr>
            <p:cNvPr id="5" name="Text Box 78">
              <a:extLst>
                <a:ext uri="{FF2B5EF4-FFF2-40B4-BE49-F238E27FC236}">
                  <a16:creationId xmlns:a16="http://schemas.microsoft.com/office/drawing/2014/main" id="{8F12F55F-9AC5-4F42-1267-F67F50518825}"/>
                </a:ext>
              </a:extLst>
            </p:cNvPr>
            <p:cNvSpPr txBox="1"/>
            <p:nvPr/>
          </p:nvSpPr>
          <p:spPr>
            <a:xfrm>
              <a:off x="4237826" y="4893976"/>
              <a:ext cx="1131560" cy="44401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dirty="0">
                  <a:solidFill>
                    <a:srgbClr val="00B0F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38262E39-9817-AE7C-6DE2-B8A6F4DFA9F5}"/>
                </a:ext>
              </a:extLst>
            </p:cNvPr>
            <p:cNvSpPr/>
            <p:nvPr/>
          </p:nvSpPr>
          <p:spPr>
            <a:xfrm rot="7933824">
              <a:off x="3929418" y="4007179"/>
              <a:ext cx="1507331" cy="1463848"/>
            </a:xfrm>
            <a:prstGeom prst="arc">
              <a:avLst>
                <a:gd name="adj1" fmla="val 17185535"/>
                <a:gd name="adj2" fmla="val 0"/>
              </a:avLst>
            </a:prstGeom>
            <a:ln w="57150">
              <a:solidFill>
                <a:srgbClr val="00B0F0"/>
              </a:solidFill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079EB9-843B-2515-0B93-0F77730920E1}"/>
              </a:ext>
            </a:extLst>
          </p:cNvPr>
          <p:cNvGrpSpPr/>
          <p:nvPr/>
        </p:nvGrpSpPr>
        <p:grpSpPr>
          <a:xfrm>
            <a:off x="10599814" y="671741"/>
            <a:ext cx="1463848" cy="1507331"/>
            <a:chOff x="5157631" y="3932742"/>
            <a:chExt cx="1463848" cy="1507331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9442DAE6-80B2-AFE8-95C1-64EFF786F7B0}"/>
                </a:ext>
              </a:extLst>
            </p:cNvPr>
            <p:cNvSpPr/>
            <p:nvPr/>
          </p:nvSpPr>
          <p:spPr>
            <a:xfrm rot="7933824">
              <a:off x="5135889" y="3954484"/>
              <a:ext cx="1507331" cy="1463848"/>
            </a:xfrm>
            <a:prstGeom prst="arc">
              <a:avLst>
                <a:gd name="adj1" fmla="val 17185535"/>
                <a:gd name="adj2" fmla="val 0"/>
              </a:avLst>
            </a:prstGeom>
            <a:ln w="57150">
              <a:solidFill>
                <a:srgbClr val="00B0F0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00" dirty="0"/>
            </a:p>
          </p:txBody>
        </p:sp>
        <p:sp>
          <p:nvSpPr>
            <p:cNvPr id="14" name="Text Box 78">
              <a:extLst>
                <a:ext uri="{FF2B5EF4-FFF2-40B4-BE49-F238E27FC236}">
                  <a16:creationId xmlns:a16="http://schemas.microsoft.com/office/drawing/2014/main" id="{87A205EA-C559-EB21-F20A-AF0F0A303688}"/>
                </a:ext>
              </a:extLst>
            </p:cNvPr>
            <p:cNvSpPr txBox="1"/>
            <p:nvPr/>
          </p:nvSpPr>
          <p:spPr>
            <a:xfrm>
              <a:off x="5359136" y="4769505"/>
              <a:ext cx="1100772" cy="53483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dirty="0">
                  <a:solidFill>
                    <a:srgbClr val="00B0F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FF2526-36C1-E801-9B1C-021D76E9F263}"/>
              </a:ext>
            </a:extLst>
          </p:cNvPr>
          <p:cNvSpPr txBox="1"/>
          <p:nvPr/>
        </p:nvSpPr>
        <p:spPr>
          <a:xfrm>
            <a:off x="6000094" y="2313902"/>
            <a:ext cx="6306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Which muscle </a:t>
            </a:r>
            <a:r>
              <a:rPr lang="en-US" sz="2400" dirty="0">
                <a:solidFill>
                  <a:srgbClr val="C00000"/>
                </a:solidFill>
              </a:rPr>
              <a:t>can provide counter-torque to force of platform on leg/foot?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5C6EDE-B0E7-2F84-C9EE-9C080E8019FE}"/>
              </a:ext>
            </a:extLst>
          </p:cNvPr>
          <p:cNvSpPr/>
          <p:nvPr/>
        </p:nvSpPr>
        <p:spPr>
          <a:xfrm>
            <a:off x="10735179" y="2875071"/>
            <a:ext cx="887323" cy="3778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EA27C8-669A-BDE3-0296-E06A8F244366}"/>
              </a:ext>
            </a:extLst>
          </p:cNvPr>
          <p:cNvSpPr txBox="1"/>
          <p:nvPr/>
        </p:nvSpPr>
        <p:spPr>
          <a:xfrm>
            <a:off x="9992199" y="3302509"/>
            <a:ext cx="99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66"/>
                </a:solidFill>
              </a:rPr>
              <a:t>Gluteus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ECC76C-2A71-8C8C-FFFB-851D06BC379A}"/>
              </a:ext>
            </a:extLst>
          </p:cNvPr>
          <p:cNvSpPr txBox="1"/>
          <p:nvPr/>
        </p:nvSpPr>
        <p:spPr>
          <a:xfrm>
            <a:off x="9960813" y="2809029"/>
            <a:ext cx="941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66"/>
                </a:solidFill>
              </a:rPr>
              <a:t>Psoas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99CCB0-14AE-3FA2-8797-589C6C2F58F4}"/>
              </a:ext>
            </a:extLst>
          </p:cNvPr>
          <p:cNvSpPr txBox="1"/>
          <p:nvPr/>
        </p:nvSpPr>
        <p:spPr>
          <a:xfrm>
            <a:off x="7805951" y="1219176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BBC5A9-BDE9-FE6C-7DDC-B23968E573C0}"/>
              </a:ext>
            </a:extLst>
          </p:cNvPr>
          <p:cNvSpPr txBox="1"/>
          <p:nvPr/>
        </p:nvSpPr>
        <p:spPr>
          <a:xfrm>
            <a:off x="11123248" y="1115392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BC8870-10D5-96F8-7D2A-22A57FAFF2FE}"/>
              </a:ext>
            </a:extLst>
          </p:cNvPr>
          <p:cNvSpPr txBox="1"/>
          <p:nvPr/>
        </p:nvSpPr>
        <p:spPr>
          <a:xfrm>
            <a:off x="11613814" y="2819752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64331E-0175-6DF3-F2C8-8AB1565CD336}"/>
              </a:ext>
            </a:extLst>
          </p:cNvPr>
          <p:cNvSpPr txBox="1"/>
          <p:nvPr/>
        </p:nvSpPr>
        <p:spPr>
          <a:xfrm>
            <a:off x="11572329" y="6174803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0BF56A-8587-68B8-AF5D-D7512E5D1C6C}"/>
              </a:ext>
            </a:extLst>
          </p:cNvPr>
          <p:cNvSpPr txBox="1"/>
          <p:nvPr/>
        </p:nvSpPr>
        <p:spPr>
          <a:xfrm>
            <a:off x="7274139" y="5593350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0251F5-C14C-EB46-FDF4-CB5CDFC81F5B}"/>
              </a:ext>
            </a:extLst>
          </p:cNvPr>
          <p:cNvSpPr txBox="1"/>
          <p:nvPr/>
        </p:nvSpPr>
        <p:spPr>
          <a:xfrm>
            <a:off x="8567780" y="3971634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 pts.</a:t>
            </a:r>
          </a:p>
        </p:txBody>
      </p:sp>
    </p:spTree>
    <p:extLst>
      <p:ext uri="{BB962C8B-B14F-4D97-AF65-F5344CB8AC3E}">
        <p14:creationId xmlns:p14="http://schemas.microsoft.com/office/powerpoint/2010/main" val="144704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17A329-8707-CF53-305E-EB1B0D90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40" y="1646857"/>
            <a:ext cx="6877050" cy="379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9C7DC-DEFB-2CAF-FF57-1092EB7B196B}"/>
              </a:ext>
            </a:extLst>
          </p:cNvPr>
          <p:cNvSpPr txBox="1"/>
          <p:nvPr/>
        </p:nvSpPr>
        <p:spPr>
          <a:xfrm>
            <a:off x="7779791" y="1416024"/>
            <a:ext cx="32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platform each leg </a:t>
            </a:r>
            <a:r>
              <a:rPr lang="en-US" sz="2400" dirty="0"/>
              <a:t>=  </a:t>
            </a:r>
            <a:r>
              <a:rPr lang="en-US" sz="2400" dirty="0">
                <a:solidFill>
                  <a:srgbClr val="C00000"/>
                </a:solidFill>
              </a:rPr>
              <a:t>? 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ECA17-CBF7-0219-980C-5490B867BF7E}"/>
              </a:ext>
            </a:extLst>
          </p:cNvPr>
          <p:cNvSpPr txBox="1"/>
          <p:nvPr/>
        </p:nvSpPr>
        <p:spPr>
          <a:xfrm>
            <a:off x="934403" y="35266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63636"/>
                </a:solidFill>
                <a:effectLst/>
                <a:latin typeface="Arial" panose="020B0604020202020204" pitchFamily="34" charset="0"/>
              </a:rPr>
              <a:t>Female Horizontal Leg Press Standards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EDDD2-6F3A-CF8E-369F-9B3AC2002360}"/>
              </a:ext>
            </a:extLst>
          </p:cNvPr>
          <p:cNvSpPr txBox="1"/>
          <p:nvPr/>
        </p:nvSpPr>
        <p:spPr>
          <a:xfrm>
            <a:off x="360044" y="5327599"/>
            <a:ext cx="4543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https://strengthlevel.com/strength-standards/horizontal-leg-press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429335-99F9-C8D1-7B4F-C435276018E0}"/>
              </a:ext>
            </a:extLst>
          </p:cNvPr>
          <p:cNvSpPr/>
          <p:nvPr/>
        </p:nvSpPr>
        <p:spPr>
          <a:xfrm>
            <a:off x="5818988" y="1100428"/>
            <a:ext cx="1233362" cy="392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D1B14-5614-3FDA-7AB3-9851BEF643EE}"/>
              </a:ext>
            </a:extLst>
          </p:cNvPr>
          <p:cNvSpPr txBox="1"/>
          <p:nvPr/>
        </p:nvSpPr>
        <p:spPr>
          <a:xfrm>
            <a:off x="360043" y="756558"/>
            <a:ext cx="5054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Choose level and platform force relative to body weight (for </a:t>
            </a:r>
            <a:r>
              <a:rPr lang="en-US" sz="2400" b="1" dirty="0">
                <a:solidFill>
                  <a:srgbClr val="C00000"/>
                </a:solidFill>
              </a:rPr>
              <a:t>both</a:t>
            </a:r>
            <a:r>
              <a:rPr lang="en-US" sz="2400" dirty="0">
                <a:solidFill>
                  <a:srgbClr val="C00000"/>
                </a:solidFill>
              </a:rPr>
              <a:t> legs)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62CCD-F7C8-2963-0C02-DDBC805EA6B3}"/>
              </a:ext>
            </a:extLst>
          </p:cNvPr>
          <p:cNvSpPr txBox="1"/>
          <p:nvPr/>
        </p:nvSpPr>
        <p:spPr>
          <a:xfrm>
            <a:off x="228390" y="5836905"/>
            <a:ext cx="11963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On following page, show your strategy to find muscle force, starting from the torque balance equation, Σ𝝉 = 0</a:t>
            </a:r>
            <a:r>
              <a:rPr lang="en-US" sz="2000" dirty="0"/>
              <a:t>, </a:t>
            </a:r>
          </a:p>
          <a:p>
            <a:r>
              <a:rPr lang="en-US" sz="2000" dirty="0"/>
              <a:t>either by using the equation editor, writing digitally (touchscreen), or rearranging symbols provided.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1D9CE-748D-8FA7-F948-103ECDC02CDC}"/>
              </a:ext>
            </a:extLst>
          </p:cNvPr>
          <p:cNvSpPr txBox="1"/>
          <p:nvPr/>
        </p:nvSpPr>
        <p:spPr>
          <a:xfrm>
            <a:off x="11276111" y="1492967"/>
            <a:ext cx="61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55364-D0C0-A1D8-3F7F-D5724D8A4B1A}"/>
              </a:ext>
            </a:extLst>
          </p:cNvPr>
          <p:cNvSpPr txBox="1"/>
          <p:nvPr/>
        </p:nvSpPr>
        <p:spPr>
          <a:xfrm>
            <a:off x="7456336" y="930539"/>
            <a:ext cx="4122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</a:t>
            </a:r>
            <a:r>
              <a:rPr lang="en-US" sz="2000" u="sng" dirty="0"/>
              <a:t>one leg </a:t>
            </a:r>
            <a:r>
              <a:rPr lang="en-US" sz="2000" dirty="0"/>
              <a:t>it would be half of that</a:t>
            </a:r>
          </a:p>
        </p:txBody>
      </p:sp>
    </p:spTree>
    <p:extLst>
      <p:ext uri="{BB962C8B-B14F-4D97-AF65-F5344CB8AC3E}">
        <p14:creationId xmlns:p14="http://schemas.microsoft.com/office/powerpoint/2010/main" val="2433087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966B0-8A81-A3AC-8EAE-C915000DB4C3}"/>
              </a:ext>
            </a:extLst>
          </p:cNvPr>
          <p:cNvSpPr txBox="1"/>
          <p:nvPr/>
        </p:nvSpPr>
        <p:spPr>
          <a:xfrm>
            <a:off x="2248474" y="286539"/>
            <a:ext cx="133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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1A368-D4DC-2D0E-B55A-8C19BFDA48FE}"/>
              </a:ext>
            </a:extLst>
          </p:cNvPr>
          <p:cNvSpPr txBox="1"/>
          <p:nvPr/>
        </p:nvSpPr>
        <p:spPr>
          <a:xfrm>
            <a:off x="5225829" y="644782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3E8DD-AFD7-C824-1FB6-2957BD33CA67}"/>
              </a:ext>
            </a:extLst>
          </p:cNvPr>
          <p:cNvSpPr txBox="1"/>
          <p:nvPr/>
        </p:nvSpPr>
        <p:spPr>
          <a:xfrm>
            <a:off x="10796923" y="1331998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DFD60-DFB8-E31F-5677-7B770EE3D049}"/>
              </a:ext>
            </a:extLst>
          </p:cNvPr>
          <p:cNvSpPr txBox="1"/>
          <p:nvPr/>
        </p:nvSpPr>
        <p:spPr>
          <a:xfrm>
            <a:off x="6090262" y="624785"/>
            <a:ext cx="783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9811D-830F-8A35-FAE9-37ADC1A1CF76}"/>
              </a:ext>
            </a:extLst>
          </p:cNvPr>
          <p:cNvSpPr txBox="1"/>
          <p:nvPr/>
        </p:nvSpPr>
        <p:spPr>
          <a:xfrm>
            <a:off x="251499" y="748203"/>
            <a:ext cx="340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terms of individual torques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9B487-BA83-743C-9FBC-B9572CA10C36}"/>
              </a:ext>
            </a:extLst>
          </p:cNvPr>
          <p:cNvSpPr txBox="1"/>
          <p:nvPr/>
        </p:nvSpPr>
        <p:spPr>
          <a:xfrm>
            <a:off x="251499" y="1663515"/>
            <a:ext cx="578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terms of force times lever arm for each torque above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96FC0-D2AA-4ACF-EEE9-71411707457D}"/>
              </a:ext>
            </a:extLst>
          </p:cNvPr>
          <p:cNvSpPr txBox="1"/>
          <p:nvPr/>
        </p:nvSpPr>
        <p:spPr>
          <a:xfrm>
            <a:off x="6056511" y="1793663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BCBD6-4508-06F7-EB5C-11F1483D2DB1}"/>
              </a:ext>
            </a:extLst>
          </p:cNvPr>
          <p:cNvSpPr txBox="1"/>
          <p:nvPr/>
        </p:nvSpPr>
        <p:spPr>
          <a:xfrm>
            <a:off x="6911806" y="1710977"/>
            <a:ext cx="1196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B4399-291A-B91D-A673-8B8C98D17FB9}"/>
              </a:ext>
            </a:extLst>
          </p:cNvPr>
          <p:cNvSpPr txBox="1"/>
          <p:nvPr/>
        </p:nvSpPr>
        <p:spPr>
          <a:xfrm>
            <a:off x="6546885" y="2144200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⟂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C22240-5398-90A8-4F97-E2C080DB7BAB}"/>
              </a:ext>
            </a:extLst>
          </p:cNvPr>
          <p:cNvSpPr txBox="1"/>
          <p:nvPr/>
        </p:nvSpPr>
        <p:spPr>
          <a:xfrm>
            <a:off x="7386183" y="2144200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⟂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D7941-9E5D-F4C4-8E88-E79D73DC2D5C}"/>
              </a:ext>
            </a:extLst>
          </p:cNvPr>
          <p:cNvSpPr txBox="1"/>
          <p:nvPr/>
        </p:nvSpPr>
        <p:spPr>
          <a:xfrm>
            <a:off x="281325" y="2609674"/>
            <a:ext cx="659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Rearrange equation to isolate M in terms of the lever arm ratio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77D819-283D-E507-D3A1-0661BCDADED3}"/>
              </a:ext>
            </a:extLst>
          </p:cNvPr>
          <p:cNvSpPr txBox="1"/>
          <p:nvPr/>
        </p:nvSpPr>
        <p:spPr>
          <a:xfrm>
            <a:off x="9455049" y="4679460"/>
            <a:ext cx="1153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7E63FA-4D7A-ED16-8EAB-4E2A294D31E1}"/>
              </a:ext>
            </a:extLst>
          </p:cNvPr>
          <p:cNvSpPr txBox="1"/>
          <p:nvPr/>
        </p:nvSpPr>
        <p:spPr>
          <a:xfrm>
            <a:off x="260170" y="4098264"/>
            <a:ext cx="2654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Numbers</a:t>
            </a:r>
          </a:p>
          <a:p>
            <a:r>
              <a:rPr lang="en-US" dirty="0"/>
              <a:t>   Put values in equation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D5325B-75DE-E74B-541D-4BC925875417}"/>
              </a:ext>
            </a:extLst>
          </p:cNvPr>
          <p:cNvSpPr txBox="1"/>
          <p:nvPr/>
        </p:nvSpPr>
        <p:spPr>
          <a:xfrm>
            <a:off x="533838" y="5966510"/>
            <a:ext cx="1714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? 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20AF36-FA66-88AC-2265-CFBD915990DF}"/>
              </a:ext>
            </a:extLst>
          </p:cNvPr>
          <p:cNvSpPr txBox="1"/>
          <p:nvPr/>
        </p:nvSpPr>
        <p:spPr>
          <a:xfrm>
            <a:off x="583990" y="4986101"/>
            <a:ext cx="30381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 ? * ? </a:t>
            </a:r>
            <a:endParaRPr lang="en-US" sz="2400" dirty="0"/>
          </a:p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FDC3C7-3AD5-EE9B-78A8-8A013C772AE0}"/>
                  </a:ext>
                </a:extLst>
              </p:cNvPr>
              <p:cNvSpPr txBox="1"/>
              <p:nvPr/>
            </p:nvSpPr>
            <p:spPr>
              <a:xfrm>
                <a:off x="372896" y="3221798"/>
                <a:ext cx="1714636" cy="619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r>
                  <a:rPr lang="en-US" sz="2400" baseline="-2500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  ?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⟂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ea typeface="Calibri"/>
                            <a:cs typeface="Calibri"/>
                            <a:sym typeface="Calibri"/>
                          </a:rPr>
                          <m:t>⟂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FDC3C7-3AD5-EE9B-78A8-8A013C772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96" y="3221798"/>
                <a:ext cx="1714636" cy="619272"/>
              </a:xfrm>
              <a:prstGeom prst="rect">
                <a:avLst/>
              </a:prstGeom>
              <a:blipFill>
                <a:blip r:embed="rId2"/>
                <a:stretch>
                  <a:fillRect l="-5882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07C4964-E3E7-ADAF-2E40-C38D1B7AC89D}"/>
              </a:ext>
            </a:extLst>
          </p:cNvPr>
          <p:cNvSpPr txBox="1"/>
          <p:nvPr/>
        </p:nvSpPr>
        <p:spPr>
          <a:xfrm>
            <a:off x="372897" y="5596939"/>
            <a:ext cx="495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to get result, in terms of body weight.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1875A2-CEF1-B89C-25F5-69116DEE14AC}"/>
              </a:ext>
            </a:extLst>
          </p:cNvPr>
          <p:cNvSpPr txBox="1"/>
          <p:nvPr/>
        </p:nvSpPr>
        <p:spPr>
          <a:xfrm>
            <a:off x="10981940" y="2047018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038B65-5FCF-8AE8-420B-316656E05734}"/>
              </a:ext>
            </a:extLst>
          </p:cNvPr>
          <p:cNvSpPr txBox="1"/>
          <p:nvPr/>
        </p:nvSpPr>
        <p:spPr>
          <a:xfrm>
            <a:off x="10949029" y="655870"/>
            <a:ext cx="566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(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C63C1-B822-F4D8-C920-63A86CCE3D7F}"/>
              </a:ext>
            </a:extLst>
          </p:cNvPr>
          <p:cNvSpPr txBox="1"/>
          <p:nvPr/>
        </p:nvSpPr>
        <p:spPr>
          <a:xfrm>
            <a:off x="11532567" y="585506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4C3808-1097-9859-349D-FBED630E8A86}"/>
              </a:ext>
            </a:extLst>
          </p:cNvPr>
          <p:cNvSpPr txBox="1"/>
          <p:nvPr/>
        </p:nvSpPr>
        <p:spPr>
          <a:xfrm>
            <a:off x="11215646" y="1346427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00199-39C0-0B7C-8999-0F8365EF2249}"/>
              </a:ext>
            </a:extLst>
          </p:cNvPr>
          <p:cNvSpPr txBox="1"/>
          <p:nvPr/>
        </p:nvSpPr>
        <p:spPr>
          <a:xfrm>
            <a:off x="8123483" y="1728679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D32FB4-EB22-B96E-CD5A-9BAF9FD5DC6D}"/>
              </a:ext>
            </a:extLst>
          </p:cNvPr>
          <p:cNvSpPr txBox="1"/>
          <p:nvPr/>
        </p:nvSpPr>
        <p:spPr>
          <a:xfrm>
            <a:off x="8386826" y="2031445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aseline="-25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⟂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846934-8F93-F011-B320-2A77EF1A269A}"/>
              </a:ext>
            </a:extLst>
          </p:cNvPr>
          <p:cNvSpPr txBox="1"/>
          <p:nvPr/>
        </p:nvSpPr>
        <p:spPr>
          <a:xfrm>
            <a:off x="9226124" y="2024496"/>
            <a:ext cx="61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⟂</a:t>
            </a:r>
            <a:endParaRPr lang="en-US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FBB431-2CB3-67DA-33AD-DA23817459A8}"/>
              </a:ext>
            </a:extLst>
          </p:cNvPr>
          <p:cNvSpPr txBox="1"/>
          <p:nvPr/>
        </p:nvSpPr>
        <p:spPr>
          <a:xfrm>
            <a:off x="3622113" y="723126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E9DBE8-6027-BCDA-A5DE-61E15DA25184}"/>
              </a:ext>
            </a:extLst>
          </p:cNvPr>
          <p:cNvSpPr txBox="1"/>
          <p:nvPr/>
        </p:nvSpPr>
        <p:spPr>
          <a:xfrm>
            <a:off x="5357027" y="1919892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112FEB-FAAD-B56B-29A7-42CEBFDDBB6F}"/>
              </a:ext>
            </a:extLst>
          </p:cNvPr>
          <p:cNvSpPr txBox="1"/>
          <p:nvPr/>
        </p:nvSpPr>
        <p:spPr>
          <a:xfrm>
            <a:off x="5684781" y="3391587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5699A2-8D5C-BBFF-E5A9-2C4C187D8334}"/>
              </a:ext>
            </a:extLst>
          </p:cNvPr>
          <p:cNvSpPr txBox="1"/>
          <p:nvPr/>
        </p:nvSpPr>
        <p:spPr>
          <a:xfrm>
            <a:off x="5651971" y="4222206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845B58-6679-16B9-D583-D14472FAAF85}"/>
              </a:ext>
            </a:extLst>
          </p:cNvPr>
          <p:cNvSpPr txBox="1"/>
          <p:nvPr/>
        </p:nvSpPr>
        <p:spPr>
          <a:xfrm>
            <a:off x="5651971" y="5710150"/>
            <a:ext cx="58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 pt.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59F369-03DE-B0DD-9ADC-F926D4ADAED8}"/>
              </a:ext>
            </a:extLst>
          </p:cNvPr>
          <p:cNvSpPr/>
          <p:nvPr/>
        </p:nvSpPr>
        <p:spPr>
          <a:xfrm>
            <a:off x="125595" y="200506"/>
            <a:ext cx="11814906" cy="38430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1DBFD-05EE-39F2-F948-F301B508CD77}"/>
              </a:ext>
            </a:extLst>
          </p:cNvPr>
          <p:cNvSpPr txBox="1"/>
          <p:nvPr/>
        </p:nvSpPr>
        <p:spPr>
          <a:xfrm>
            <a:off x="251499" y="137372"/>
            <a:ext cx="1823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Algebra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9CC64-5C29-0B66-2FFB-28FE2D12B3D3}"/>
              </a:ext>
            </a:extLst>
          </p:cNvPr>
          <p:cNvSpPr/>
          <p:nvPr/>
        </p:nvSpPr>
        <p:spPr>
          <a:xfrm>
            <a:off x="179455" y="4115459"/>
            <a:ext cx="11243202" cy="26863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5D390-39EF-4C66-BD9D-49FC2C720913}"/>
              </a:ext>
            </a:extLst>
          </p:cNvPr>
          <p:cNvSpPr txBox="1"/>
          <p:nvPr/>
        </p:nvSpPr>
        <p:spPr>
          <a:xfrm>
            <a:off x="3350586" y="181658"/>
            <a:ext cx="8741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Show by using the equation editor, writing digitally (touchscreen), or rearranging symbols provided</a:t>
            </a:r>
            <a:r>
              <a:rPr lang="en-US" sz="14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F2E5C-FFA4-E13F-F757-E0F66E590417}"/>
              </a:ext>
            </a:extLst>
          </p:cNvPr>
          <p:cNvSpPr txBox="1"/>
          <p:nvPr/>
        </p:nvSpPr>
        <p:spPr>
          <a:xfrm>
            <a:off x="11422657" y="1848181"/>
            <a:ext cx="37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0092C-3802-595B-097B-D4849B1A0A8D}"/>
              </a:ext>
            </a:extLst>
          </p:cNvPr>
          <p:cNvSpPr txBox="1"/>
          <p:nvPr/>
        </p:nvSpPr>
        <p:spPr>
          <a:xfrm>
            <a:off x="11515778" y="1540517"/>
            <a:ext cx="37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5E7686-48E2-3F83-E87E-523C8D2EDBCB}"/>
              </a:ext>
            </a:extLst>
          </p:cNvPr>
          <p:cNvSpPr txBox="1"/>
          <p:nvPr/>
        </p:nvSpPr>
        <p:spPr>
          <a:xfrm>
            <a:off x="11422657" y="2172642"/>
            <a:ext cx="533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3DE18-4BFF-FFA2-9901-C56BF7DB5177}"/>
              </a:ext>
            </a:extLst>
          </p:cNvPr>
          <p:cNvSpPr txBox="1"/>
          <p:nvPr/>
        </p:nvSpPr>
        <p:spPr>
          <a:xfrm>
            <a:off x="8944636" y="1689059"/>
            <a:ext cx="1196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47B57-010D-B244-28E4-10FCA40107AD}"/>
              </a:ext>
            </a:extLst>
          </p:cNvPr>
          <p:cNvSpPr txBox="1"/>
          <p:nvPr/>
        </p:nvSpPr>
        <p:spPr>
          <a:xfrm>
            <a:off x="8649181" y="5987598"/>
            <a:ext cx="1153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939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368</Words>
  <Application>Microsoft Macintosh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Beverly, Nancy</dc:creator>
  <cp:lastModifiedBy>Beverly, Nancy</cp:lastModifiedBy>
  <cp:revision>7</cp:revision>
  <dcterms:created xsi:type="dcterms:W3CDTF">2022-11-01T20:54:58Z</dcterms:created>
  <dcterms:modified xsi:type="dcterms:W3CDTF">2025-01-05T15:23:46Z</dcterms:modified>
</cp:coreProperties>
</file>