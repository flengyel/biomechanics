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8" r:id="rId2"/>
    <p:sldId id="323" r:id="rId3"/>
    <p:sldId id="322" r:id="rId4"/>
    <p:sldId id="257" r:id="rId5"/>
    <p:sldId id="28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1F1F6-0CB7-F346-CC7E-C14847E673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B162AE-298E-9032-3057-C94BCB426A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2300C-16B8-2173-A5FC-E4221957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A0D2A-49A9-4396-A2E5-82CC9D5F461D}" type="datetimeFigureOut">
              <a:rPr lang="en-US" smtClean="0"/>
              <a:t>11/21/24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F0BE-95F9-D091-ED3F-A66087522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2BE8C-85D4-8E17-9CC2-9DD21EE2F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17534-2EB3-46FB-A1BE-81288AFB5B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006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65871-7A70-1DDB-F624-03B9A2B2E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682CF-E1ED-3080-0C58-E2F2CDFD3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F823F-5683-0091-7653-36A0E5349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A0D2A-49A9-4396-A2E5-82CC9D5F461D}" type="datetimeFigureOut">
              <a:rPr lang="en-US" smtClean="0"/>
              <a:t>11/21/24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13184-CC8D-7B5C-F28F-3686F0424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C24C1-246B-741F-7AA6-11CF38182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17534-2EB3-46FB-A1BE-81288AFB5B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432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E48A9-50CA-427F-AE5C-DC8B2286B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8ED54-DFFA-94E4-0B7C-72A367E57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04ACA-EA51-D64C-802B-FF910D0C9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A0D2A-49A9-4396-A2E5-82CC9D5F461D}" type="datetimeFigureOut">
              <a:rPr lang="en-US" smtClean="0"/>
              <a:t>11/21/24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3FBD0-D332-A4EF-1239-AB0DC395D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726F6-F975-F6E5-22F3-A8133A58E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17534-2EB3-46FB-A1BE-81288AFB5B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133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8B16E-338E-D0AA-A91F-CB93311B8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05387-C7F8-6804-A6E7-3A88F7A93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559403-2B8B-BDDB-FF1D-561D866CF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FAD0E-5902-AB43-B077-5129FDE04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A0D2A-49A9-4396-A2E5-82CC9D5F461D}" type="datetimeFigureOut">
              <a:rPr lang="en-US" smtClean="0"/>
              <a:t>11/21/24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3F087-B9DC-5092-7AF4-3DA5FD2B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1D19B-6E93-6FE1-EBCB-AD54E92BD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17534-2EB3-46FB-A1BE-81288AFB5B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200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E4704-C201-8319-FD16-A347A34AB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10BF0-237D-73EC-CE83-B2A78EDBA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FE3C0A-0B23-AD95-5573-237BB4795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6DCD54-8152-4592-83E5-819FE4C4B9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4C17F8-2676-66C5-C329-3A2F128408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AD2F79-35C1-6A3F-0693-D2263D3D7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A0D2A-49A9-4396-A2E5-82CC9D5F461D}" type="datetimeFigureOut">
              <a:rPr lang="en-US" smtClean="0"/>
              <a:t>11/21/24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752517-1718-05CC-0614-3E4EAF130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7CCC07-C09B-62BB-F2AF-F0AA5CC53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17534-2EB3-46FB-A1BE-81288AFB5B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296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5CAE4-E78B-F3D0-E983-1615FD7CE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638F38-E82F-4D32-4D8C-4A8B0DC53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A0D2A-49A9-4396-A2E5-82CC9D5F461D}" type="datetimeFigureOut">
              <a:rPr lang="en-US" smtClean="0"/>
              <a:t>11/21/24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398960-D1FB-2596-5BB2-D09F67170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0BD515-2E57-227C-E4AF-237F72549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17534-2EB3-46FB-A1BE-81288AFB5B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823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D95C8-3B6C-770C-D8D8-D240E79F3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A0D2A-49A9-4396-A2E5-82CC9D5F461D}" type="datetimeFigureOut">
              <a:rPr lang="en-US" smtClean="0"/>
              <a:t>11/21/24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1955B2-3F44-5671-3CFB-60E5EEF31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52C66-C488-31ED-604F-1789DBE06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17534-2EB3-46FB-A1BE-81288AFB5B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606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945B8-1172-EDA7-15F5-5B71635F9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92557-ECC3-27AD-BA54-9F2C93C0C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848A4-4EE9-40EF-312D-F8D5FC62D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6A890-5F84-A0C5-30BE-F5F9AB351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A0D2A-49A9-4396-A2E5-82CC9D5F461D}" type="datetimeFigureOut">
              <a:rPr lang="en-US" smtClean="0"/>
              <a:t>11/21/24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83F8E7-7276-7157-9C78-9E69787BC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07C0B-8DDD-D04A-BC50-A875D562C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17534-2EB3-46FB-A1BE-81288AFB5B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34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9E621-7770-866B-B57A-6C62A8CEB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0FD324-676B-69A7-657A-FFD49A82D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0CAB5-9511-7016-563F-DA929602E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1F434-F79F-E9F5-9858-35F284155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A0D2A-49A9-4396-A2E5-82CC9D5F461D}" type="datetimeFigureOut">
              <a:rPr lang="en-US" smtClean="0"/>
              <a:t>11/21/24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94F3F-CA16-2205-85CC-3222086A9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889D5-E4CF-2EE5-069A-04BD3E0FA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17534-2EB3-46FB-A1BE-81288AFB5B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859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A9C5E-C847-37CD-9946-6BF71AC3B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44464A-A81D-9C72-9BA3-2416A9B6A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2AC05-F64F-AFF5-2EF8-E3D1643A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A0D2A-49A9-4396-A2E5-82CC9D5F461D}" type="datetimeFigureOut">
              <a:rPr lang="en-US" smtClean="0"/>
              <a:t>11/21/24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3AA05-5D0A-3685-0AA9-9FFBF157A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5D9EB-CBB3-381D-7EE5-6A30D267D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17534-2EB3-46FB-A1BE-81288AFB5B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509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5CAC63-7FCD-FB54-5E53-1F6D543131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28FA46-6536-AE65-54EE-BADAF05B2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6D381-B6B4-379B-07E9-C01C7A829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A0D2A-49A9-4396-A2E5-82CC9D5F461D}" type="datetimeFigureOut">
              <a:rPr lang="en-US" smtClean="0"/>
              <a:t>11/21/24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EC1E5-6096-9E51-36C1-6D0FE519F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CF68D-B2C8-1E52-53C1-691DAB3D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17534-2EB3-46FB-A1BE-81288AFB5B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441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A89FC8-0140-2CB5-3093-7172494B0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FA35-5B4C-278E-C9EE-8941A5A1E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39F0E-1CCA-2B00-35A7-B9995BE426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A0D2A-49A9-4396-A2E5-82CC9D5F461D}" type="datetimeFigureOut">
              <a:rPr lang="en-US" smtClean="0"/>
              <a:t>11/21/24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B25C5-B62B-D4A3-9457-69367D7E5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D7E51-C88D-B1BC-0BA6-B26BF7FDF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817534-2EB3-46FB-A1BE-81288AFB5B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456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rywellfit.com/leg-extensions-benefit-or-risk-3498573" TargetMode="External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trengthlevel.com/strength-standards/leg-extension/lb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ow to Do Leg Extensions: Techniques, Benefits, Variations">
            <a:extLst>
              <a:ext uri="{FF2B5EF4-FFF2-40B4-BE49-F238E27FC236}">
                <a16:creationId xmlns:a16="http://schemas.microsoft.com/office/drawing/2014/main" id="{3E6DE207-8214-6948-9CEA-7650562BB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3969" y="1154027"/>
            <a:ext cx="6846277" cy="385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948C12-E1D4-7A47-AB6C-1B4C49D40260}"/>
              </a:ext>
            </a:extLst>
          </p:cNvPr>
          <p:cNvSpPr txBox="1"/>
          <p:nvPr/>
        </p:nvSpPr>
        <p:spPr>
          <a:xfrm>
            <a:off x="1863969" y="5509066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https://www.verywellfit.com/leg-extensions-benefit-or-risk-3498573</a:t>
            </a:r>
            <a:endParaRPr lang="en-US" sz="800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5BB830-C391-8243-8657-9ECBFF6654A4}"/>
              </a:ext>
            </a:extLst>
          </p:cNvPr>
          <p:cNvSpPr txBox="1"/>
          <p:nvPr/>
        </p:nvSpPr>
        <p:spPr>
          <a:xfrm>
            <a:off x="1031630" y="418295"/>
            <a:ext cx="30362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Leg Extension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12340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2E8776-371B-1356-BED6-1F3D410BD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82" y="2001375"/>
            <a:ext cx="7442200" cy="4216400"/>
          </a:xfrm>
          <a:prstGeom prst="rect">
            <a:avLst/>
          </a:prstGeom>
        </p:spPr>
      </p:pic>
      <p:sp>
        <p:nvSpPr>
          <p:cNvPr id="3" name="Up Arrow 4">
            <a:extLst>
              <a:ext uri="{FF2B5EF4-FFF2-40B4-BE49-F238E27FC236}">
                <a16:creationId xmlns:a16="http://schemas.microsoft.com/office/drawing/2014/main" id="{ED7901E6-6B74-8AFB-6584-349CFC14CFBE}"/>
              </a:ext>
            </a:extLst>
          </p:cNvPr>
          <p:cNvSpPr/>
          <p:nvPr/>
        </p:nvSpPr>
        <p:spPr>
          <a:xfrm rot="16200000">
            <a:off x="8102579" y="2010475"/>
            <a:ext cx="245460" cy="946115"/>
          </a:xfrm>
          <a:prstGeom prst="upArrow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4EC5C0-87B8-525F-92B9-F534AA82B10B}"/>
              </a:ext>
            </a:extLst>
          </p:cNvPr>
          <p:cNvSpPr txBox="1"/>
          <p:nvPr/>
        </p:nvSpPr>
        <p:spPr>
          <a:xfrm>
            <a:off x="290945" y="195330"/>
            <a:ext cx="8478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When you press up on the padded bar, it presses down on you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A452478-CDB7-819C-E322-285C00A34ABE}"/>
              </a:ext>
            </a:extLst>
          </p:cNvPr>
          <p:cNvSpPr/>
          <p:nvPr/>
        </p:nvSpPr>
        <p:spPr>
          <a:xfrm flipH="1" flipV="1">
            <a:off x="7788193" y="1400499"/>
            <a:ext cx="114261" cy="150273"/>
          </a:xfrm>
          <a:prstGeom prst="ellipse">
            <a:avLst/>
          </a:prstGeom>
          <a:solidFill>
            <a:srgbClr val="FFFF00"/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Left Arrow Callout 5">
            <a:extLst>
              <a:ext uri="{FF2B5EF4-FFF2-40B4-BE49-F238E27FC236}">
                <a16:creationId xmlns:a16="http://schemas.microsoft.com/office/drawing/2014/main" id="{1578CFB6-27C1-433A-8F2F-93674BAD646C}"/>
              </a:ext>
            </a:extLst>
          </p:cNvPr>
          <p:cNvSpPr/>
          <p:nvPr/>
        </p:nvSpPr>
        <p:spPr>
          <a:xfrm>
            <a:off x="8807537" y="2004419"/>
            <a:ext cx="3176432" cy="869531"/>
          </a:xfrm>
          <a:prstGeom prst="leftArrow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Drag</a:t>
            </a:r>
            <a:r>
              <a:rPr lang="en-US" sz="1400" dirty="0">
                <a:solidFill>
                  <a:schemeClr val="tx1"/>
                </a:solidFill>
              </a:rPr>
              <a:t> the </a:t>
            </a:r>
            <a:r>
              <a:rPr lang="en-US" sz="1400" b="1" dirty="0">
                <a:solidFill>
                  <a:srgbClr val="00B0F0"/>
                </a:solidFill>
              </a:rPr>
              <a:t>vector</a:t>
            </a:r>
            <a:r>
              <a:rPr lang="en-US" sz="1400" b="1" dirty="0">
                <a:solidFill>
                  <a:srgbClr val="7030A0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representing the force of the bar on the top of the person’s foot</a:t>
            </a:r>
          </a:p>
        </p:txBody>
      </p:sp>
      <p:sp>
        <p:nvSpPr>
          <p:cNvPr id="7" name="Left Arrow Callout 6">
            <a:extLst>
              <a:ext uri="{FF2B5EF4-FFF2-40B4-BE49-F238E27FC236}">
                <a16:creationId xmlns:a16="http://schemas.microsoft.com/office/drawing/2014/main" id="{EC2309A3-FA29-4479-91AE-425C5022B7D6}"/>
              </a:ext>
            </a:extLst>
          </p:cNvPr>
          <p:cNvSpPr/>
          <p:nvPr/>
        </p:nvSpPr>
        <p:spPr>
          <a:xfrm>
            <a:off x="8081760" y="1253170"/>
            <a:ext cx="2378466" cy="621713"/>
          </a:xfrm>
          <a:prstGeom prst="leftArrow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Drag</a:t>
            </a:r>
            <a:r>
              <a:rPr lang="en-US" sz="1400" dirty="0">
                <a:solidFill>
                  <a:schemeClr val="tx1"/>
                </a:solidFill>
              </a:rPr>
              <a:t> the </a:t>
            </a:r>
            <a:r>
              <a:rPr lang="en-US" sz="1400" b="1" dirty="0">
                <a:solidFill>
                  <a:schemeClr val="tx1"/>
                </a:solidFill>
              </a:rPr>
              <a:t>dot</a:t>
            </a:r>
            <a:r>
              <a:rPr lang="en-US" sz="1400" dirty="0">
                <a:solidFill>
                  <a:schemeClr val="tx1"/>
                </a:solidFill>
              </a:rPr>
              <a:t> representing the </a:t>
            </a:r>
            <a:r>
              <a:rPr lang="en-US" sz="1400" b="1" dirty="0">
                <a:solidFill>
                  <a:schemeClr val="tx1"/>
                </a:solidFill>
              </a:rPr>
              <a:t>knee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joint</a:t>
            </a:r>
            <a:r>
              <a:rPr lang="en-US" sz="1400" dirty="0"/>
              <a:t>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E51355-4ED9-37D0-6DFF-DCFAD3714551}"/>
              </a:ext>
            </a:extLst>
          </p:cNvPr>
          <p:cNvCxnSpPr>
            <a:cxnSpLocks/>
          </p:cNvCxnSpPr>
          <p:nvPr/>
        </p:nvCxnSpPr>
        <p:spPr>
          <a:xfrm>
            <a:off x="8738181" y="3630793"/>
            <a:ext cx="1000045" cy="846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Box 324">
            <a:extLst>
              <a:ext uri="{FF2B5EF4-FFF2-40B4-BE49-F238E27FC236}">
                <a16:creationId xmlns:a16="http://schemas.microsoft.com/office/drawing/2014/main" id="{6DCC5904-CA2D-9DD3-854F-72A8D50D16FD}"/>
              </a:ext>
            </a:extLst>
          </p:cNvPr>
          <p:cNvSpPr txBox="1"/>
          <p:nvPr/>
        </p:nvSpPr>
        <p:spPr>
          <a:xfrm>
            <a:off x="8853077" y="3593575"/>
            <a:ext cx="628650" cy="265777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endParaRPr lang="en-US" dirty="0"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Callout: Down Arrow 69">
            <a:extLst>
              <a:ext uri="{FF2B5EF4-FFF2-40B4-BE49-F238E27FC236}">
                <a16:creationId xmlns:a16="http://schemas.microsoft.com/office/drawing/2014/main" id="{205F77C2-D48E-7288-DB9D-FB580885F710}"/>
              </a:ext>
            </a:extLst>
          </p:cNvPr>
          <p:cNvSpPr/>
          <p:nvPr/>
        </p:nvSpPr>
        <p:spPr>
          <a:xfrm>
            <a:off x="8506690" y="3040425"/>
            <a:ext cx="1528606" cy="436965"/>
          </a:xfrm>
          <a:prstGeom prst="downArrow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Drag</a:t>
            </a:r>
            <a:r>
              <a:rPr lang="en-US" sz="1600" dirty="0">
                <a:solidFill>
                  <a:schemeClr val="tx1"/>
                </a:solidFill>
              </a:rPr>
              <a:t> lever arm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EBAD18-2B45-6A72-063E-90269AA25863}"/>
              </a:ext>
            </a:extLst>
          </p:cNvPr>
          <p:cNvGrpSpPr/>
          <p:nvPr/>
        </p:nvGrpSpPr>
        <p:grpSpPr>
          <a:xfrm>
            <a:off x="8569239" y="4901173"/>
            <a:ext cx="964829" cy="1407315"/>
            <a:chOff x="9960105" y="4298318"/>
            <a:chExt cx="964829" cy="1407315"/>
          </a:xfrm>
        </p:grpSpPr>
        <p:sp>
          <p:nvSpPr>
            <p:cNvPr id="15" name="Curved Right Arrow 14">
              <a:extLst>
                <a:ext uri="{FF2B5EF4-FFF2-40B4-BE49-F238E27FC236}">
                  <a16:creationId xmlns:a16="http://schemas.microsoft.com/office/drawing/2014/main" id="{B9B3633A-9437-6E89-11A0-63E2E9A72C91}"/>
                </a:ext>
              </a:extLst>
            </p:cNvPr>
            <p:cNvSpPr/>
            <p:nvPr/>
          </p:nvSpPr>
          <p:spPr>
            <a:xfrm>
              <a:off x="9960105" y="4298318"/>
              <a:ext cx="490951" cy="1407315"/>
            </a:xfrm>
            <a:prstGeom prst="curvedRight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C7C81A4-93C2-866B-0F6C-8814C3767679}"/>
                </a:ext>
              </a:extLst>
            </p:cNvPr>
            <p:cNvSpPr txBox="1"/>
            <p:nvPr/>
          </p:nvSpPr>
          <p:spPr>
            <a:xfrm>
              <a:off x="10038749" y="4703293"/>
              <a:ext cx="886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flexion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FC65264-0464-3E47-92B9-7A0B88CC2D0A}"/>
              </a:ext>
            </a:extLst>
          </p:cNvPr>
          <p:cNvGrpSpPr/>
          <p:nvPr/>
        </p:nvGrpSpPr>
        <p:grpSpPr>
          <a:xfrm>
            <a:off x="10460226" y="4901172"/>
            <a:ext cx="1291293" cy="1407315"/>
            <a:chOff x="9656347" y="4484625"/>
            <a:chExt cx="1291293" cy="1407315"/>
          </a:xfrm>
        </p:grpSpPr>
        <p:sp>
          <p:nvSpPr>
            <p:cNvPr id="18" name="Curved Right Arrow 17">
              <a:extLst>
                <a:ext uri="{FF2B5EF4-FFF2-40B4-BE49-F238E27FC236}">
                  <a16:creationId xmlns:a16="http://schemas.microsoft.com/office/drawing/2014/main" id="{B3FD0A9F-38C0-BBCA-7FA1-CA7A84133E7B}"/>
                </a:ext>
              </a:extLst>
            </p:cNvPr>
            <p:cNvSpPr/>
            <p:nvPr/>
          </p:nvSpPr>
          <p:spPr>
            <a:xfrm rot="10800000" flipH="1">
              <a:off x="9656347" y="4484625"/>
              <a:ext cx="490951" cy="1407315"/>
            </a:xfrm>
            <a:prstGeom prst="curvedRight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C02B99E-E4FA-DAC4-025A-A7401B5F508B}"/>
                </a:ext>
              </a:extLst>
            </p:cNvPr>
            <p:cNvSpPr txBox="1"/>
            <p:nvPr/>
          </p:nvSpPr>
          <p:spPr>
            <a:xfrm>
              <a:off x="9775961" y="5003617"/>
              <a:ext cx="11716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extension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35D8F4D-417E-63F5-05CF-39DE7FEED6D9}"/>
              </a:ext>
            </a:extLst>
          </p:cNvPr>
          <p:cNvSpPr txBox="1"/>
          <p:nvPr/>
        </p:nvSpPr>
        <p:spPr>
          <a:xfrm>
            <a:off x="87427" y="656995"/>
            <a:ext cx="29363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Limb system</a:t>
            </a:r>
            <a:r>
              <a:rPr lang="en-US" b="1" dirty="0"/>
              <a:t>: </a:t>
            </a:r>
            <a:r>
              <a:rPr lang="en-US" dirty="0">
                <a:solidFill>
                  <a:srgbClr val="FF0000"/>
                </a:solidFill>
              </a:rPr>
              <a:t>lower leg/foot</a:t>
            </a:r>
          </a:p>
          <a:p>
            <a:r>
              <a:rPr lang="en-US" b="1" i="1" dirty="0"/>
              <a:t>Joint:</a:t>
            </a:r>
            <a:r>
              <a:rPr lang="en-US" dirty="0">
                <a:solidFill>
                  <a:srgbClr val="FF0000"/>
                </a:solidFill>
              </a:rPr>
              <a:t> knee</a:t>
            </a:r>
          </a:p>
          <a:p>
            <a:endParaRPr lang="en-US" dirty="0"/>
          </a:p>
        </p:txBody>
      </p:sp>
      <p:sp>
        <p:nvSpPr>
          <p:cNvPr id="21" name="Callout: Down Arrow 69">
            <a:extLst>
              <a:ext uri="{FF2B5EF4-FFF2-40B4-BE49-F238E27FC236}">
                <a16:creationId xmlns:a16="http://schemas.microsoft.com/office/drawing/2014/main" id="{52070F03-3EC5-BB1D-66D8-1D4136825567}"/>
              </a:ext>
            </a:extLst>
          </p:cNvPr>
          <p:cNvSpPr/>
          <p:nvPr/>
        </p:nvSpPr>
        <p:spPr>
          <a:xfrm>
            <a:off x="8569239" y="4053059"/>
            <a:ext cx="3033440" cy="1017203"/>
          </a:xfrm>
          <a:prstGeom prst="downArrow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Drag</a:t>
            </a:r>
            <a:r>
              <a:rPr lang="en-US" sz="1600" dirty="0">
                <a:solidFill>
                  <a:schemeClr val="tx1"/>
                </a:solidFill>
              </a:rPr>
              <a:t> to indicate torque rotation direction of the barf orce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E467FB-32EA-AECF-1C67-2A2D4713E465}"/>
              </a:ext>
            </a:extLst>
          </p:cNvPr>
          <p:cNvSpPr txBox="1"/>
          <p:nvPr/>
        </p:nvSpPr>
        <p:spPr>
          <a:xfrm>
            <a:off x="409780" y="1505551"/>
            <a:ext cx="6601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Person is not moving at this moment – so torques must balance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307A34-F853-4066-55B6-A4C944646041}"/>
              </a:ext>
            </a:extLst>
          </p:cNvPr>
          <p:cNvSpPr txBox="1"/>
          <p:nvPr/>
        </p:nvSpPr>
        <p:spPr>
          <a:xfrm>
            <a:off x="7198305" y="1377620"/>
            <a:ext cx="589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 pt.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AFBC32-B464-01A0-CC2D-FAC845867E63}"/>
              </a:ext>
            </a:extLst>
          </p:cNvPr>
          <p:cNvSpPr txBox="1"/>
          <p:nvPr/>
        </p:nvSpPr>
        <p:spPr>
          <a:xfrm>
            <a:off x="7979351" y="2061412"/>
            <a:ext cx="589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 pt.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C04CCE-B1F4-FAC6-CBB3-B69D6B1C99DB}"/>
              </a:ext>
            </a:extLst>
          </p:cNvPr>
          <p:cNvSpPr txBox="1"/>
          <p:nvPr/>
        </p:nvSpPr>
        <p:spPr>
          <a:xfrm>
            <a:off x="7978855" y="3344563"/>
            <a:ext cx="589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 pt.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035598-4120-8B28-0301-92DE633F25F5}"/>
              </a:ext>
            </a:extLst>
          </p:cNvPr>
          <p:cNvSpPr txBox="1"/>
          <p:nvPr/>
        </p:nvSpPr>
        <p:spPr>
          <a:xfrm>
            <a:off x="7902454" y="4899075"/>
            <a:ext cx="589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 pt.</a:t>
            </a:r>
          </a:p>
        </p:txBody>
      </p:sp>
    </p:spTree>
    <p:extLst>
      <p:ext uri="{BB962C8B-B14F-4D97-AF65-F5344CB8AC3E}">
        <p14:creationId xmlns:p14="http://schemas.microsoft.com/office/powerpoint/2010/main" val="2006932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D7E9B8-8ABB-0FC1-EC20-E5627B4844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0468" y="755182"/>
            <a:ext cx="6606948" cy="28268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6B84E5-8AB3-6299-B0D5-DDA37586E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00" y="3139317"/>
            <a:ext cx="7033212" cy="317959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BFBDAC14-20A7-30DC-3FE1-3F7EC26C4683}"/>
              </a:ext>
            </a:extLst>
          </p:cNvPr>
          <p:cNvSpPr/>
          <p:nvPr/>
        </p:nvSpPr>
        <p:spPr>
          <a:xfrm flipH="1" flipV="1">
            <a:off x="5759696" y="809241"/>
            <a:ext cx="114261" cy="150273"/>
          </a:xfrm>
          <a:prstGeom prst="ellipse">
            <a:avLst/>
          </a:prstGeom>
          <a:solidFill>
            <a:srgbClr val="FFFF00"/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22DADAB-6A89-ACA1-9DBF-35A484CBD8A8}"/>
              </a:ext>
            </a:extLst>
          </p:cNvPr>
          <p:cNvCxnSpPr>
            <a:cxnSpLocks/>
          </p:cNvCxnSpPr>
          <p:nvPr/>
        </p:nvCxnSpPr>
        <p:spPr>
          <a:xfrm flipH="1" flipV="1">
            <a:off x="7733333" y="2886046"/>
            <a:ext cx="27556" cy="161582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FE649F47-392C-044F-A3B0-0511D0E99DC3}"/>
              </a:ext>
            </a:extLst>
          </p:cNvPr>
          <p:cNvSpPr/>
          <p:nvPr/>
        </p:nvSpPr>
        <p:spPr>
          <a:xfrm flipH="1" flipV="1">
            <a:off x="6594734" y="809240"/>
            <a:ext cx="114261" cy="150273"/>
          </a:xfrm>
          <a:prstGeom prst="ellipse">
            <a:avLst/>
          </a:prstGeom>
          <a:solidFill>
            <a:srgbClr val="FFFF00"/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C5DC1F3-EA70-6EBD-62C7-9F7CC71EE139}"/>
              </a:ext>
            </a:extLst>
          </p:cNvPr>
          <p:cNvCxnSpPr>
            <a:cxnSpLocks/>
          </p:cNvCxnSpPr>
          <p:nvPr/>
        </p:nvCxnSpPr>
        <p:spPr>
          <a:xfrm flipH="1" flipV="1">
            <a:off x="7686722" y="692613"/>
            <a:ext cx="27556" cy="161582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0742C02-3168-1222-EF9D-0BD4AD74DBB8}"/>
              </a:ext>
            </a:extLst>
          </p:cNvPr>
          <p:cNvSpPr txBox="1"/>
          <p:nvPr/>
        </p:nvSpPr>
        <p:spPr>
          <a:xfrm>
            <a:off x="638605" y="190272"/>
            <a:ext cx="2503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Limb system</a:t>
            </a:r>
            <a:r>
              <a:rPr lang="en-US" b="1" dirty="0"/>
              <a:t>: </a:t>
            </a:r>
            <a:r>
              <a:rPr lang="en-US" dirty="0">
                <a:solidFill>
                  <a:srgbClr val="FF0000"/>
                </a:solidFill>
              </a:rPr>
              <a:t>lower leg</a:t>
            </a:r>
          </a:p>
          <a:p>
            <a:r>
              <a:rPr lang="en-US" b="1" i="1" dirty="0"/>
              <a:t>Joint:</a:t>
            </a:r>
            <a:r>
              <a:rPr lang="en-US" dirty="0">
                <a:solidFill>
                  <a:srgbClr val="FF0000"/>
                </a:solidFill>
              </a:rPr>
              <a:t> knee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519254-0809-25C6-2218-CC542810B44B}"/>
              </a:ext>
            </a:extLst>
          </p:cNvPr>
          <p:cNvSpPr txBox="1"/>
          <p:nvPr/>
        </p:nvSpPr>
        <p:spPr>
          <a:xfrm>
            <a:off x="4456590" y="208897"/>
            <a:ext cx="42169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Drag</a:t>
            </a:r>
            <a:r>
              <a:rPr lang="en-US" sz="2000" dirty="0"/>
              <a:t> dots to show where knee joint 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E60D40-E84D-FB6E-F108-3053C9FE9330}"/>
              </a:ext>
            </a:extLst>
          </p:cNvPr>
          <p:cNvSpPr txBox="1"/>
          <p:nvPr/>
        </p:nvSpPr>
        <p:spPr>
          <a:xfrm>
            <a:off x="8262188" y="692613"/>
            <a:ext cx="35845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Drag</a:t>
            </a:r>
            <a:r>
              <a:rPr lang="en-US" sz="2000" dirty="0"/>
              <a:t> vectors to indicate muscle force placement and direction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1CAF2D-6310-0711-ABF9-4BB0EDB7DB05}"/>
              </a:ext>
            </a:extLst>
          </p:cNvPr>
          <p:cNvSpPr txBox="1"/>
          <p:nvPr/>
        </p:nvSpPr>
        <p:spPr>
          <a:xfrm>
            <a:off x="8262188" y="1885060"/>
            <a:ext cx="35845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Drag</a:t>
            </a:r>
            <a:r>
              <a:rPr lang="en-US" sz="2000" dirty="0"/>
              <a:t> to show torque rotation direction of each muscle force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D28C45-A69D-DA24-9EC3-1FE1B8AC21AF}"/>
              </a:ext>
            </a:extLst>
          </p:cNvPr>
          <p:cNvSpPr txBox="1"/>
          <p:nvPr/>
        </p:nvSpPr>
        <p:spPr>
          <a:xfrm>
            <a:off x="10832617" y="319276"/>
            <a:ext cx="589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 pts.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D9E228-6460-7AC3-D150-2B0918E03F84}"/>
              </a:ext>
            </a:extLst>
          </p:cNvPr>
          <p:cNvSpPr txBox="1"/>
          <p:nvPr/>
        </p:nvSpPr>
        <p:spPr>
          <a:xfrm>
            <a:off x="11553395" y="995710"/>
            <a:ext cx="589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 pts.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91F227-0CAA-E3D5-017C-7C9A14D31ACA}"/>
              </a:ext>
            </a:extLst>
          </p:cNvPr>
          <p:cNvSpPr txBox="1"/>
          <p:nvPr/>
        </p:nvSpPr>
        <p:spPr>
          <a:xfrm>
            <a:off x="11612101" y="2000657"/>
            <a:ext cx="589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 pts.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1B1A8FF-7B41-703B-0D19-5BC099F94106}"/>
              </a:ext>
            </a:extLst>
          </p:cNvPr>
          <p:cNvGrpSpPr/>
          <p:nvPr/>
        </p:nvGrpSpPr>
        <p:grpSpPr>
          <a:xfrm rot="4222532">
            <a:off x="8952000" y="3032354"/>
            <a:ext cx="773973" cy="1115028"/>
            <a:chOff x="5621317" y="3519335"/>
            <a:chExt cx="773973" cy="1115028"/>
          </a:xfrm>
        </p:grpSpPr>
        <p:sp>
          <p:nvSpPr>
            <p:cNvPr id="4" name="Text Box 136">
              <a:extLst>
                <a:ext uri="{FF2B5EF4-FFF2-40B4-BE49-F238E27FC236}">
                  <a16:creationId xmlns:a16="http://schemas.microsoft.com/office/drawing/2014/main" id="{472E9C59-01DA-29C2-26D0-A0A308F1EE9F}"/>
                </a:ext>
              </a:extLst>
            </p:cNvPr>
            <p:cNvSpPr txBox="1"/>
            <p:nvPr/>
          </p:nvSpPr>
          <p:spPr>
            <a:xfrm rot="17377468">
              <a:off x="5605728" y="3844800"/>
              <a:ext cx="1115028" cy="464097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extension</a:t>
              </a:r>
            </a:p>
          </p:txBody>
        </p:sp>
        <p:sp>
          <p:nvSpPr>
            <p:cNvPr id="5" name="Arc 4">
              <a:extLst>
                <a:ext uri="{FF2B5EF4-FFF2-40B4-BE49-F238E27FC236}">
                  <a16:creationId xmlns:a16="http://schemas.microsoft.com/office/drawing/2014/main" id="{82C1EE4A-790F-B807-3E9B-11D51983EA12}"/>
                </a:ext>
              </a:extLst>
            </p:cNvPr>
            <p:cNvSpPr/>
            <p:nvPr/>
          </p:nvSpPr>
          <p:spPr>
            <a:xfrm rot="12779274">
              <a:off x="5621317" y="3575844"/>
              <a:ext cx="764643" cy="1015657"/>
            </a:xfrm>
            <a:prstGeom prst="arc">
              <a:avLst/>
            </a:prstGeom>
            <a:ln w="50800">
              <a:solidFill>
                <a:srgbClr val="FF0000"/>
              </a:solidFill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F91B437-1039-09E0-63C3-A91AF3AA1E67}"/>
              </a:ext>
            </a:extLst>
          </p:cNvPr>
          <p:cNvGrpSpPr/>
          <p:nvPr/>
        </p:nvGrpSpPr>
        <p:grpSpPr>
          <a:xfrm rot="5400000">
            <a:off x="10053915" y="3294527"/>
            <a:ext cx="886615" cy="1149713"/>
            <a:chOff x="6132485" y="2498795"/>
            <a:chExt cx="886615" cy="1149713"/>
          </a:xfrm>
        </p:grpSpPr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9DC10483-4565-1659-F4B7-EA961F229AEB}"/>
                </a:ext>
              </a:extLst>
            </p:cNvPr>
            <p:cNvSpPr/>
            <p:nvPr/>
          </p:nvSpPr>
          <p:spPr>
            <a:xfrm rot="2285900">
              <a:off x="6132485" y="2684769"/>
              <a:ext cx="886615" cy="777763"/>
            </a:xfrm>
            <a:prstGeom prst="arc">
              <a:avLst/>
            </a:prstGeom>
            <a:ln w="50800">
              <a:solidFill>
                <a:srgbClr val="FF000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25" name="Text Box 78">
              <a:extLst>
                <a:ext uri="{FF2B5EF4-FFF2-40B4-BE49-F238E27FC236}">
                  <a16:creationId xmlns:a16="http://schemas.microsoft.com/office/drawing/2014/main" id="{488988A4-A949-2B29-724A-725AEF6550A6}"/>
                </a:ext>
              </a:extLst>
            </p:cNvPr>
            <p:cNvSpPr txBox="1"/>
            <p:nvPr/>
          </p:nvSpPr>
          <p:spPr>
            <a:xfrm rot="16200000">
              <a:off x="5995668" y="2929009"/>
              <a:ext cx="1149713" cy="28928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Flexion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FFDFD205-2C8E-312B-5AED-D3E471F0C306}"/>
              </a:ext>
            </a:extLst>
          </p:cNvPr>
          <p:cNvSpPr txBox="1"/>
          <p:nvPr/>
        </p:nvSpPr>
        <p:spPr>
          <a:xfrm>
            <a:off x="1108448" y="5676571"/>
            <a:ext cx="7296015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What </a:t>
            </a:r>
            <a:r>
              <a:rPr lang="en-US" sz="2400" b="1" dirty="0">
                <a:solidFill>
                  <a:srgbClr val="FF0000"/>
                </a:solidFill>
              </a:rPr>
              <a:t>muscle</a:t>
            </a:r>
            <a:r>
              <a:rPr lang="en-US" sz="2400" dirty="0">
                <a:solidFill>
                  <a:srgbClr val="C00000"/>
                </a:solidFill>
              </a:rPr>
              <a:t> can exert a counter torque to the </a:t>
            </a:r>
            <a:r>
              <a:rPr lang="en-US" sz="2400" dirty="0">
                <a:solidFill>
                  <a:srgbClr val="00B0F0"/>
                </a:solidFill>
              </a:rPr>
              <a:t>bar force </a:t>
            </a:r>
            <a:r>
              <a:rPr lang="en-US" sz="2400" dirty="0">
                <a:solidFill>
                  <a:srgbClr val="C00000"/>
                </a:solidFill>
              </a:rPr>
              <a:t>on the lower leg around the knee?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27C585-06EA-370F-38F7-FAAA3F7096A9}"/>
              </a:ext>
            </a:extLst>
          </p:cNvPr>
          <p:cNvSpPr txBox="1"/>
          <p:nvPr/>
        </p:nvSpPr>
        <p:spPr>
          <a:xfrm>
            <a:off x="9576893" y="5540500"/>
            <a:ext cx="17301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hamstrings</a:t>
            </a:r>
            <a:endParaRPr lang="en-US" sz="2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983F0D-2520-FEA9-F622-4770F8A528C3}"/>
              </a:ext>
            </a:extLst>
          </p:cNvPr>
          <p:cNvSpPr txBox="1"/>
          <p:nvPr/>
        </p:nvSpPr>
        <p:spPr>
          <a:xfrm>
            <a:off x="10007064" y="6046069"/>
            <a:ext cx="2027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quadriceps</a:t>
            </a:r>
            <a:endParaRPr lang="en-US" sz="24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DF074F-A969-17D8-351B-6FBC7C3F3555}"/>
              </a:ext>
            </a:extLst>
          </p:cNvPr>
          <p:cNvSpPr/>
          <p:nvPr/>
        </p:nvSpPr>
        <p:spPr>
          <a:xfrm>
            <a:off x="9922366" y="5030773"/>
            <a:ext cx="1631029" cy="4715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1950FBC-141A-B3DF-0E79-E7680D0F178C}"/>
              </a:ext>
            </a:extLst>
          </p:cNvPr>
          <p:cNvSpPr txBox="1"/>
          <p:nvPr/>
        </p:nvSpPr>
        <p:spPr>
          <a:xfrm>
            <a:off x="3101960" y="2260711"/>
            <a:ext cx="2027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quadriceps</a:t>
            </a:r>
            <a:endParaRPr lang="en-US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C76C5-93EC-C3F6-2CC6-9814FEFDB571}"/>
              </a:ext>
            </a:extLst>
          </p:cNvPr>
          <p:cNvSpPr txBox="1"/>
          <p:nvPr/>
        </p:nvSpPr>
        <p:spPr>
          <a:xfrm>
            <a:off x="3142037" y="4875678"/>
            <a:ext cx="17301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hamstrings</a:t>
            </a:r>
            <a:endParaRPr lang="en-US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9D9AB5-6F98-E57A-4094-EAAC3381CFA5}"/>
              </a:ext>
            </a:extLst>
          </p:cNvPr>
          <p:cNvSpPr txBox="1"/>
          <p:nvPr/>
        </p:nvSpPr>
        <p:spPr>
          <a:xfrm>
            <a:off x="8404463" y="5738292"/>
            <a:ext cx="589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 pts.</a:t>
            </a:r>
          </a:p>
        </p:txBody>
      </p:sp>
    </p:spTree>
    <p:extLst>
      <p:ext uri="{BB962C8B-B14F-4D97-AF65-F5344CB8AC3E}">
        <p14:creationId xmlns:p14="http://schemas.microsoft.com/office/powerpoint/2010/main" val="700526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1B6AB3-4E18-5C46-8191-34C5EE055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9" y="787000"/>
            <a:ext cx="7883513" cy="4466427"/>
          </a:xfrm>
          <a:prstGeom prst="rect">
            <a:avLst/>
          </a:prstGeom>
        </p:spPr>
      </p:pic>
      <p:sp>
        <p:nvSpPr>
          <p:cNvPr id="7" name="Up Arrow 4">
            <a:extLst>
              <a:ext uri="{FF2B5EF4-FFF2-40B4-BE49-F238E27FC236}">
                <a16:creationId xmlns:a16="http://schemas.microsoft.com/office/drawing/2014/main" id="{54003063-701F-472E-9D66-757CE47F1CB8}"/>
              </a:ext>
            </a:extLst>
          </p:cNvPr>
          <p:cNvSpPr/>
          <p:nvPr/>
        </p:nvSpPr>
        <p:spPr>
          <a:xfrm rot="16200000">
            <a:off x="7062270" y="280569"/>
            <a:ext cx="289227" cy="1172073"/>
          </a:xfrm>
          <a:prstGeom prst="upArrow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347D1-F883-4BEC-9090-09E6F8483217}"/>
              </a:ext>
            </a:extLst>
          </p:cNvPr>
          <p:cNvCxnSpPr>
            <a:cxnSpLocks/>
          </p:cNvCxnSpPr>
          <p:nvPr/>
        </p:nvCxnSpPr>
        <p:spPr>
          <a:xfrm flipV="1">
            <a:off x="10012638" y="2600415"/>
            <a:ext cx="582890" cy="799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E8167E-F488-4287-9026-89171F70837F}"/>
              </a:ext>
            </a:extLst>
          </p:cNvPr>
          <p:cNvCxnSpPr>
            <a:cxnSpLocks/>
          </p:cNvCxnSpPr>
          <p:nvPr/>
        </p:nvCxnSpPr>
        <p:spPr>
          <a:xfrm>
            <a:off x="8883064" y="2935344"/>
            <a:ext cx="1000045" cy="846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73F5DCBA-9743-4614-9F07-D9BA9A41313B}"/>
              </a:ext>
            </a:extLst>
          </p:cNvPr>
          <p:cNvSpPr/>
          <p:nvPr/>
        </p:nvSpPr>
        <p:spPr>
          <a:xfrm flipH="1" flipV="1">
            <a:off x="8088854" y="326907"/>
            <a:ext cx="114261" cy="150273"/>
          </a:xfrm>
          <a:prstGeom prst="ellipse">
            <a:avLst/>
          </a:prstGeom>
          <a:solidFill>
            <a:srgbClr val="FFFF00"/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Left Arrow Callout 16">
            <a:extLst>
              <a:ext uri="{FF2B5EF4-FFF2-40B4-BE49-F238E27FC236}">
                <a16:creationId xmlns:a16="http://schemas.microsoft.com/office/drawing/2014/main" id="{97AFE01C-F55D-8A42-A45C-1B856F75BEC6}"/>
              </a:ext>
            </a:extLst>
          </p:cNvPr>
          <p:cNvSpPr/>
          <p:nvPr/>
        </p:nvSpPr>
        <p:spPr>
          <a:xfrm>
            <a:off x="8374231" y="1037466"/>
            <a:ext cx="3571306" cy="735154"/>
          </a:xfrm>
          <a:prstGeom prst="leftArrow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Re-drag</a:t>
            </a:r>
            <a:r>
              <a:rPr lang="en-US" sz="1400" dirty="0">
                <a:solidFill>
                  <a:schemeClr val="tx1"/>
                </a:solidFill>
              </a:rPr>
              <a:t> the </a:t>
            </a:r>
            <a:r>
              <a:rPr lang="en-US" sz="1400" b="1" dirty="0">
                <a:solidFill>
                  <a:srgbClr val="00B0F0"/>
                </a:solidFill>
              </a:rPr>
              <a:t>vectors</a:t>
            </a:r>
            <a:r>
              <a:rPr lang="en-US" sz="1400" b="1" dirty="0">
                <a:solidFill>
                  <a:srgbClr val="7030A0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representing the bar force and the muscle fprce</a:t>
            </a:r>
          </a:p>
        </p:txBody>
      </p:sp>
      <p:sp>
        <p:nvSpPr>
          <p:cNvPr id="22" name="Text Box 324">
            <a:extLst>
              <a:ext uri="{FF2B5EF4-FFF2-40B4-BE49-F238E27FC236}">
                <a16:creationId xmlns:a16="http://schemas.microsoft.com/office/drawing/2014/main" id="{F9FFD906-15AA-5942-9D83-BF3783607B6B}"/>
              </a:ext>
            </a:extLst>
          </p:cNvPr>
          <p:cNvSpPr txBox="1"/>
          <p:nvPr/>
        </p:nvSpPr>
        <p:spPr>
          <a:xfrm>
            <a:off x="8524755" y="2714348"/>
            <a:ext cx="628650" cy="265777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endParaRPr lang="en-US" dirty="0"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 Box 324">
            <a:extLst>
              <a:ext uri="{FF2B5EF4-FFF2-40B4-BE49-F238E27FC236}">
                <a16:creationId xmlns:a16="http://schemas.microsoft.com/office/drawing/2014/main" id="{F490D19E-2D2F-3748-8B65-86E96CE7FA3F}"/>
              </a:ext>
            </a:extLst>
          </p:cNvPr>
          <p:cNvSpPr txBox="1"/>
          <p:nvPr/>
        </p:nvSpPr>
        <p:spPr>
          <a:xfrm>
            <a:off x="10310908" y="2917385"/>
            <a:ext cx="628650" cy="265777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endParaRPr lang="en-US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E42E0A-054F-6049-84BA-5E4EBF5FC9EF}"/>
              </a:ext>
            </a:extLst>
          </p:cNvPr>
          <p:cNvSpPr txBox="1"/>
          <p:nvPr/>
        </p:nvSpPr>
        <p:spPr>
          <a:xfrm>
            <a:off x="84077" y="112631"/>
            <a:ext cx="2503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Limb system</a:t>
            </a:r>
            <a:r>
              <a:rPr lang="en-US" b="1" dirty="0"/>
              <a:t>: </a:t>
            </a:r>
            <a:r>
              <a:rPr lang="en-US" dirty="0">
                <a:solidFill>
                  <a:srgbClr val="FF0000"/>
                </a:solidFill>
              </a:rPr>
              <a:t>lower leg</a:t>
            </a:r>
          </a:p>
          <a:p>
            <a:r>
              <a:rPr lang="en-US" b="1" i="1" dirty="0"/>
              <a:t>Joint:</a:t>
            </a:r>
            <a:r>
              <a:rPr lang="en-US" dirty="0">
                <a:solidFill>
                  <a:srgbClr val="FF0000"/>
                </a:solidFill>
              </a:rPr>
              <a:t> knee</a:t>
            </a:r>
          </a:p>
          <a:p>
            <a:endParaRPr lang="en-US" dirty="0"/>
          </a:p>
        </p:txBody>
      </p:sp>
      <p:sp>
        <p:nvSpPr>
          <p:cNvPr id="3" name="Left Arrow Callout 2">
            <a:extLst>
              <a:ext uri="{FF2B5EF4-FFF2-40B4-BE49-F238E27FC236}">
                <a16:creationId xmlns:a16="http://schemas.microsoft.com/office/drawing/2014/main" id="{B12F6923-6634-F445-9A12-9281C86ABEDA}"/>
              </a:ext>
            </a:extLst>
          </p:cNvPr>
          <p:cNvSpPr/>
          <p:nvPr/>
        </p:nvSpPr>
        <p:spPr>
          <a:xfrm>
            <a:off x="8970651" y="169195"/>
            <a:ext cx="2378466" cy="621713"/>
          </a:xfrm>
          <a:prstGeom prst="leftArrow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Re-drag</a:t>
            </a:r>
            <a:r>
              <a:rPr lang="en-US" sz="1400" dirty="0">
                <a:solidFill>
                  <a:schemeClr val="tx1"/>
                </a:solidFill>
              </a:rPr>
              <a:t> the </a:t>
            </a:r>
            <a:r>
              <a:rPr lang="en-US" sz="1400" b="1" dirty="0">
                <a:solidFill>
                  <a:schemeClr val="tx1"/>
                </a:solidFill>
              </a:rPr>
              <a:t>dot</a:t>
            </a:r>
            <a:r>
              <a:rPr lang="en-US" sz="1400" dirty="0">
                <a:solidFill>
                  <a:schemeClr val="tx1"/>
                </a:solidFill>
              </a:rPr>
              <a:t> representing the </a:t>
            </a:r>
            <a:r>
              <a:rPr lang="en-US" sz="1400" b="1" dirty="0">
                <a:solidFill>
                  <a:schemeClr val="tx1"/>
                </a:solidFill>
              </a:rPr>
              <a:t>knee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joint</a:t>
            </a:r>
            <a:r>
              <a:rPr lang="en-US" sz="1400" dirty="0"/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A89F73-DC3A-FC46-B828-96BD9722446B}"/>
              </a:ext>
            </a:extLst>
          </p:cNvPr>
          <p:cNvSpPr txBox="1"/>
          <p:nvPr/>
        </p:nvSpPr>
        <p:spPr>
          <a:xfrm>
            <a:off x="8203115" y="3370602"/>
            <a:ext cx="372424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Estimate ratio of lever arms</a:t>
            </a:r>
          </a:p>
        </p:txBody>
      </p:sp>
      <p:sp>
        <p:nvSpPr>
          <p:cNvPr id="41" name="Callout: Down Arrow 69">
            <a:extLst>
              <a:ext uri="{FF2B5EF4-FFF2-40B4-BE49-F238E27FC236}">
                <a16:creationId xmlns:a16="http://schemas.microsoft.com/office/drawing/2014/main" id="{768DE884-CFE1-CD4F-8858-4FA864539ACF}"/>
              </a:ext>
            </a:extLst>
          </p:cNvPr>
          <p:cNvSpPr/>
          <p:nvPr/>
        </p:nvSpPr>
        <p:spPr>
          <a:xfrm>
            <a:off x="8149280" y="1944566"/>
            <a:ext cx="1863358" cy="833451"/>
          </a:xfrm>
          <a:prstGeom prst="downArrow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Re-drag</a:t>
            </a:r>
            <a:r>
              <a:rPr lang="en-US" sz="1600" dirty="0">
                <a:solidFill>
                  <a:schemeClr val="tx1"/>
                </a:solidFill>
              </a:rPr>
              <a:t> lever arms for each force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A0AEA8A-C51D-2EE0-31C3-7FDB54C945E1}"/>
              </a:ext>
            </a:extLst>
          </p:cNvPr>
          <p:cNvCxnSpPr>
            <a:cxnSpLocks/>
          </p:cNvCxnSpPr>
          <p:nvPr/>
        </p:nvCxnSpPr>
        <p:spPr>
          <a:xfrm flipH="1">
            <a:off x="6726881" y="1351980"/>
            <a:ext cx="1419103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7C643F0-7E9B-EF58-57E4-8DD89B113530}"/>
              </a:ext>
            </a:extLst>
          </p:cNvPr>
          <p:cNvSpPr txBox="1"/>
          <p:nvPr/>
        </p:nvSpPr>
        <p:spPr>
          <a:xfrm>
            <a:off x="8749904" y="1055427"/>
            <a:ext cx="589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 pts.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E2B2B4-186B-4123-4D72-819E4E9B9CF5}"/>
              </a:ext>
            </a:extLst>
          </p:cNvPr>
          <p:cNvSpPr txBox="1"/>
          <p:nvPr/>
        </p:nvSpPr>
        <p:spPr>
          <a:xfrm>
            <a:off x="11376706" y="6413697"/>
            <a:ext cx="589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 pts.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CBE6F8-23B1-84F9-4663-712873D8F0A6}"/>
              </a:ext>
            </a:extLst>
          </p:cNvPr>
          <p:cNvSpPr txBox="1"/>
          <p:nvPr/>
        </p:nvSpPr>
        <p:spPr>
          <a:xfrm>
            <a:off x="10956764" y="3975483"/>
            <a:ext cx="589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 pts.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7D4945-2DAD-F1E2-EB9C-88D296FB5FCE}"/>
              </a:ext>
            </a:extLst>
          </p:cNvPr>
          <p:cNvSpPr txBox="1"/>
          <p:nvPr/>
        </p:nvSpPr>
        <p:spPr>
          <a:xfrm>
            <a:off x="11533844" y="5300799"/>
            <a:ext cx="589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 pts.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9B7A89-21E2-779E-E734-130140E6DF17}"/>
              </a:ext>
            </a:extLst>
          </p:cNvPr>
          <p:cNvSpPr txBox="1"/>
          <p:nvPr/>
        </p:nvSpPr>
        <p:spPr>
          <a:xfrm>
            <a:off x="8291939" y="234491"/>
            <a:ext cx="589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 pt.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D15E0E-E099-CC11-B0FB-65B451B34D48}"/>
              </a:ext>
            </a:extLst>
          </p:cNvPr>
          <p:cNvSpPr txBox="1"/>
          <p:nvPr/>
        </p:nvSpPr>
        <p:spPr>
          <a:xfrm>
            <a:off x="10084883" y="2064711"/>
            <a:ext cx="589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 pts.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AC8646-70D3-2A93-F307-6A72A4311326}"/>
              </a:ext>
            </a:extLst>
          </p:cNvPr>
          <p:cNvSpPr txBox="1"/>
          <p:nvPr/>
        </p:nvSpPr>
        <p:spPr>
          <a:xfrm>
            <a:off x="3504585" y="5300799"/>
            <a:ext cx="7270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How much larger is the </a:t>
            </a:r>
            <a:r>
              <a:rPr lang="en-US" sz="2000" dirty="0">
                <a:solidFill>
                  <a:srgbClr val="FF0000"/>
                </a:solidFill>
              </a:rPr>
              <a:t>muscle force </a:t>
            </a:r>
            <a:r>
              <a:rPr lang="en-US" sz="2000" dirty="0">
                <a:solidFill>
                  <a:srgbClr val="C00000"/>
                </a:solidFill>
              </a:rPr>
              <a:t>compared to the </a:t>
            </a:r>
            <a:r>
              <a:rPr lang="en-US" sz="2000" dirty="0">
                <a:solidFill>
                  <a:srgbClr val="00B0F0"/>
                </a:solidFill>
              </a:rPr>
              <a:t>bar force  </a:t>
            </a:r>
            <a:r>
              <a:rPr lang="en-US" sz="2000" b="1" dirty="0"/>
              <a:t>Look at the ratio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3DC4506-3181-72FD-F983-776828903BE3}"/>
                  </a:ext>
                </a:extLst>
              </p:cNvPr>
              <p:cNvSpPr txBox="1"/>
              <p:nvPr/>
            </p:nvSpPr>
            <p:spPr>
              <a:xfrm>
                <a:off x="10379827" y="5358601"/>
                <a:ext cx="1320338" cy="677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smtClean="0">
                            <a:solidFill>
                              <a:srgbClr val="FF0000"/>
                            </a:solidFill>
                          </a:rPr>
                          <m:t>M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smtClean="0">
                            <a:solidFill>
                              <a:srgbClr val="00B0F0"/>
                            </a:solidFill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n-US" sz="2400" b="0" i="0" baseline="-25000" smtClean="0">
                            <a:solidFill>
                              <a:srgbClr val="00B0F0"/>
                            </a:solidFill>
                          </a:rPr>
                          <m:t>bar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ym typeface="Symbol" panose="05050102010706020507" pitchFamily="18" charset="2"/>
                  </a:rPr>
                  <a:t>= ?</a:t>
                </a:r>
                <a:endParaRPr lang="en-US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3DC4506-3181-72FD-F983-776828903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9827" y="5358601"/>
                <a:ext cx="1320338" cy="677558"/>
              </a:xfrm>
              <a:prstGeom prst="rect">
                <a:avLst/>
              </a:prstGeom>
              <a:blipFill>
                <a:blip r:embed="rId3"/>
                <a:stretch>
                  <a:fillRect l="-952"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7FD2E61-57F6-0D59-A48F-EC5029EE584D}"/>
              </a:ext>
            </a:extLst>
          </p:cNvPr>
          <p:cNvSpPr txBox="1"/>
          <p:nvPr/>
        </p:nvSpPr>
        <p:spPr>
          <a:xfrm>
            <a:off x="3475017" y="6220819"/>
            <a:ext cx="6360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Resize force vectors to show relative values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A68391F-D0DC-FA3B-35EB-71F17D8769C4}"/>
                  </a:ext>
                </a:extLst>
              </p:cNvPr>
              <p:cNvSpPr txBox="1"/>
              <p:nvPr/>
            </p:nvSpPr>
            <p:spPr>
              <a:xfrm>
                <a:off x="8879176" y="3845894"/>
                <a:ext cx="2039481" cy="620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>
                            <a:solidFill>
                              <a:srgbClr val="00B0F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>
                            <a:solidFill>
                              <a:srgbClr val="00B0F0"/>
                            </a:solidFill>
                          </a:rPr>
                          <m:t>⟂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>
                            <a:solidFill>
                              <a:srgbClr val="FF000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>
                            <a:solidFill>
                              <a:srgbClr val="FF0000"/>
                            </a:solidFill>
                          </a:rPr>
                          <m:t>⟂</m:t>
                        </m:r>
                      </m:den>
                    </m:f>
                  </m:oMath>
                </a14:m>
                <a:r>
                  <a:rPr lang="en-US" sz="2400" dirty="0"/>
                  <a:t> =  ?</a:t>
                </a: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A68391F-D0DC-FA3B-35EB-71F17D876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9176" y="3845894"/>
                <a:ext cx="2039481" cy="620747"/>
              </a:xfrm>
              <a:prstGeom prst="rect">
                <a:avLst/>
              </a:prstGeom>
              <a:blipFill>
                <a:blip r:embed="rId4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>
            <a:extLst>
              <a:ext uri="{FF2B5EF4-FFF2-40B4-BE49-F238E27FC236}">
                <a16:creationId xmlns:a16="http://schemas.microsoft.com/office/drawing/2014/main" id="{EFEC838D-DFE5-9155-B1E0-F65AC1601465}"/>
              </a:ext>
            </a:extLst>
          </p:cNvPr>
          <p:cNvSpPr/>
          <p:nvPr/>
        </p:nvSpPr>
        <p:spPr>
          <a:xfrm>
            <a:off x="363212" y="5251220"/>
            <a:ext cx="1824538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</a:t>
            </a:r>
            <a:r>
              <a:rPr lang="en-US" sz="2400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muscle    =   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</a:t>
            </a:r>
            <a:r>
              <a:rPr lang="en-US" sz="2400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bar</a:t>
            </a:r>
            <a:endParaRPr lang="en-US" sz="2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67FCC8-CB28-4DB4-6464-D420F1FD4A10}"/>
              </a:ext>
            </a:extLst>
          </p:cNvPr>
          <p:cNvSpPr txBox="1"/>
          <p:nvPr/>
        </p:nvSpPr>
        <p:spPr>
          <a:xfrm>
            <a:off x="36276" y="4593397"/>
            <a:ext cx="3174614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Torque Equilibrium condition</a:t>
            </a:r>
          </a:p>
          <a:p>
            <a:r>
              <a:rPr lang="en-US" sz="2400" dirty="0">
                <a:sym typeface="Symbol" panose="05050102010706020507" pitchFamily="18" charset="2"/>
              </a:rPr>
              <a:t>                = 0</a:t>
            </a:r>
            <a:endParaRPr lang="en-US" sz="24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9C4F3E8-7F27-9CC6-5AA8-FA65456AC426}"/>
              </a:ext>
            </a:extLst>
          </p:cNvPr>
          <p:cNvSpPr/>
          <p:nvPr/>
        </p:nvSpPr>
        <p:spPr>
          <a:xfrm>
            <a:off x="128224" y="5754691"/>
            <a:ext cx="2583803" cy="42550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2000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2000" b="1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r>
              <a:rPr lang="en-US" sz="2000" b="1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2000" b="1" baseline="-25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bar</a:t>
            </a:r>
            <a:r>
              <a:rPr lang="en-US" sz="2000" b="1" baseline="-25000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2000" b="1" baseline="-25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r>
              <a:rPr lang="en-US" sz="2000" b="1" baseline="-25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332DAD0-5CA9-7BCB-D387-A790F04008AA}"/>
                  </a:ext>
                </a:extLst>
              </p:cNvPr>
              <p:cNvSpPr txBox="1"/>
              <p:nvPr/>
            </p:nvSpPr>
            <p:spPr>
              <a:xfrm>
                <a:off x="625599" y="6087270"/>
                <a:ext cx="1869115" cy="677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smtClean="0">
                            <a:solidFill>
                              <a:srgbClr val="FF0000"/>
                            </a:solidFill>
                          </a:rPr>
                          <m:t>M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smtClean="0">
                            <a:solidFill>
                              <a:srgbClr val="00B0F0"/>
                            </a:solidFill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n-US" sz="2400" b="0" i="0" baseline="-25000" smtClean="0">
                            <a:solidFill>
                              <a:srgbClr val="00B0F0"/>
                            </a:solidFill>
                          </a:rPr>
                          <m:t>bar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ym typeface="Symbol" panose="05050102010706020507" pitchFamily="18" charset="2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>
                            <a:solidFill>
                              <a:srgbClr val="00B0F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>
                            <a:solidFill>
                              <a:srgbClr val="00B0F0"/>
                            </a:solidFill>
                            <a:sym typeface="Symbol" panose="05050102010706020507" pitchFamily="18" charset="2"/>
                          </a:rPr>
                          <m:t></m:t>
                        </m:r>
                        <m:r>
                          <m:rPr>
                            <m:nor/>
                          </m:rPr>
                          <a:rPr lang="en-US" sz="2400" b="0" i="0" baseline="-25000" smtClean="0">
                            <a:solidFill>
                              <a:srgbClr val="00B0F0"/>
                            </a:solidFill>
                            <a:sym typeface="Symbol" panose="05050102010706020507" pitchFamily="18" charset="2"/>
                          </a:rPr>
                          <m:t>bar</m:t>
                        </m:r>
                        <m:r>
                          <a:rPr lang="en-US" sz="2400" b="0" i="1" baseline="-2500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>
                            <a:solidFill>
                              <a:srgbClr val="FF000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</m:t>
                        </m:r>
                        <m:r>
                          <m:rPr>
                            <m:nor/>
                          </m:rPr>
                          <a:rPr lang="en-US" sz="2400" baseline="-2500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M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332DAD0-5CA9-7BCB-D387-A790F0400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599" y="6087270"/>
                <a:ext cx="1869115" cy="677558"/>
              </a:xfrm>
              <a:prstGeom prst="rect">
                <a:avLst/>
              </a:prstGeom>
              <a:blipFill>
                <a:blip r:embed="rId5"/>
                <a:stretch>
                  <a:fillRect l="-676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tangle 47">
            <a:extLst>
              <a:ext uri="{FF2B5EF4-FFF2-40B4-BE49-F238E27FC236}">
                <a16:creationId xmlns:a16="http://schemas.microsoft.com/office/drawing/2014/main" id="{B583262E-E135-3111-6544-7241B13895BE}"/>
              </a:ext>
            </a:extLst>
          </p:cNvPr>
          <p:cNvSpPr/>
          <p:nvPr/>
        </p:nvSpPr>
        <p:spPr>
          <a:xfrm>
            <a:off x="36276" y="4593397"/>
            <a:ext cx="3174614" cy="22646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464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87E7CA-5AA8-5E78-3142-7B4325DBE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6" y="849324"/>
            <a:ext cx="7000875" cy="38290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A54C5-8F75-ECAB-AE1F-0033E4E23045}"/>
              </a:ext>
            </a:extLst>
          </p:cNvPr>
          <p:cNvSpPr txBox="1"/>
          <p:nvPr/>
        </p:nvSpPr>
        <p:spPr>
          <a:xfrm>
            <a:off x="1566041" y="40136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363636"/>
                </a:solidFill>
                <a:effectLst/>
                <a:latin typeface="Arial" panose="020B0604020202020204" pitchFamily="34" charset="0"/>
              </a:rPr>
              <a:t>Female Leg Extension Standards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A06C49-CE14-A8DB-C878-D02A721F3859}"/>
              </a:ext>
            </a:extLst>
          </p:cNvPr>
          <p:cNvSpPr txBox="1"/>
          <p:nvPr/>
        </p:nvSpPr>
        <p:spPr>
          <a:xfrm>
            <a:off x="861849" y="4589249"/>
            <a:ext cx="43407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3"/>
              </a:rPr>
              <a:t>https://strengthlevel.com/strength-standards/leg-extension/lb</a:t>
            </a:r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778631-FF4D-C0EF-06E1-4F72CD2B8ABC}"/>
              </a:ext>
            </a:extLst>
          </p:cNvPr>
          <p:cNvSpPr/>
          <p:nvPr/>
        </p:nvSpPr>
        <p:spPr>
          <a:xfrm>
            <a:off x="131298" y="4534518"/>
            <a:ext cx="7031736" cy="4030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A1AD97-D680-3031-2C48-FABB9E1E6BC1}"/>
              </a:ext>
            </a:extLst>
          </p:cNvPr>
          <p:cNvSpPr txBox="1"/>
          <p:nvPr/>
        </p:nvSpPr>
        <p:spPr>
          <a:xfrm>
            <a:off x="110170" y="4923914"/>
            <a:ext cx="6249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Outline</a:t>
            </a:r>
            <a:r>
              <a:rPr lang="en-US" dirty="0"/>
              <a:t> to choose the level and corresponding bodyweight ratio that the person can push up against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67AEB0-B606-C787-DB47-FC95AD38EECB}"/>
              </a:ext>
            </a:extLst>
          </p:cNvPr>
          <p:cNvSpPr txBox="1"/>
          <p:nvPr/>
        </p:nvSpPr>
        <p:spPr>
          <a:xfrm>
            <a:off x="423325" y="6092785"/>
            <a:ext cx="278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force on the bar on one leg is half of that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437616-3D9F-C61A-F92B-267337AEC888}"/>
              </a:ext>
            </a:extLst>
          </p:cNvPr>
          <p:cNvSpPr/>
          <p:nvPr/>
        </p:nvSpPr>
        <p:spPr>
          <a:xfrm>
            <a:off x="3809451" y="6131234"/>
            <a:ext cx="27863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F</a:t>
            </a:r>
            <a:r>
              <a:rPr lang="en-US" sz="2400" b="1" baseline="-25000" dirty="0">
                <a:solidFill>
                  <a:srgbClr val="00B0F0"/>
                </a:solidFill>
              </a:rPr>
              <a:t>bar on one leg</a:t>
            </a:r>
            <a:r>
              <a:rPr lang="en-US" sz="2400" dirty="0"/>
              <a:t>=  ?  W</a:t>
            </a:r>
            <a:r>
              <a:rPr lang="en-US" sz="2400" baseline="-25000" dirty="0"/>
              <a:t>body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EACD45-75D4-74A5-3873-9EF74EE6FE39}"/>
              </a:ext>
            </a:extLst>
          </p:cNvPr>
          <p:cNvSpPr txBox="1"/>
          <p:nvPr/>
        </p:nvSpPr>
        <p:spPr>
          <a:xfrm>
            <a:off x="11222784" y="2052075"/>
            <a:ext cx="589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 pts.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460EA6-E8F2-15B7-FB46-AD0F8532A491}"/>
              </a:ext>
            </a:extLst>
          </p:cNvPr>
          <p:cNvSpPr txBox="1"/>
          <p:nvPr/>
        </p:nvSpPr>
        <p:spPr>
          <a:xfrm>
            <a:off x="7052231" y="6208177"/>
            <a:ext cx="589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 pt.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BC8E3-1605-7289-243F-6DA44873C7B1}"/>
              </a:ext>
            </a:extLst>
          </p:cNvPr>
          <p:cNvSpPr txBox="1"/>
          <p:nvPr/>
        </p:nvSpPr>
        <p:spPr>
          <a:xfrm>
            <a:off x="7322452" y="5141749"/>
            <a:ext cx="589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 pt.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1D57E7-29F1-F40A-EF33-8DFD101DD0C3}"/>
              </a:ext>
            </a:extLst>
          </p:cNvPr>
          <p:cNvSpPr txBox="1"/>
          <p:nvPr/>
        </p:nvSpPr>
        <p:spPr>
          <a:xfrm>
            <a:off x="7263281" y="401364"/>
            <a:ext cx="51131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What would her </a:t>
            </a:r>
            <a:r>
              <a:rPr lang="en-US" sz="2000" dirty="0"/>
              <a:t>(quadricep or hamstring) </a:t>
            </a:r>
            <a:r>
              <a:rPr lang="en-US" sz="2000" dirty="0">
                <a:solidFill>
                  <a:srgbClr val="C00000"/>
                </a:solidFill>
              </a:rPr>
              <a:t>muscle force be, in terms of body weight?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10596E-2A27-55FF-4B3D-050F06459F30}"/>
              </a:ext>
            </a:extLst>
          </p:cNvPr>
          <p:cNvSpPr txBox="1"/>
          <p:nvPr/>
        </p:nvSpPr>
        <p:spPr>
          <a:xfrm>
            <a:off x="7940986" y="1636576"/>
            <a:ext cx="28134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 </a:t>
            </a:r>
            <a:r>
              <a:rPr lang="en-US" sz="2400" dirty="0"/>
              <a:t>= </a:t>
            </a:r>
            <a:r>
              <a:rPr lang="en-US" sz="2400" dirty="0">
                <a:solidFill>
                  <a:srgbClr val="C00000"/>
                </a:solidFill>
              </a:rPr>
              <a:t>?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B0F0"/>
                </a:solidFill>
              </a:rPr>
              <a:t>F</a:t>
            </a:r>
            <a:r>
              <a:rPr lang="en-US" sz="2400" baseline="-25000" dirty="0">
                <a:solidFill>
                  <a:srgbClr val="00B0F0"/>
                </a:solidFill>
              </a:rPr>
              <a:t>bar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M </a:t>
            </a:r>
            <a:r>
              <a:rPr lang="en-US" sz="2400" dirty="0"/>
              <a:t>= </a:t>
            </a:r>
            <a:r>
              <a:rPr lang="en-US" sz="2400" dirty="0">
                <a:solidFill>
                  <a:srgbClr val="C00000"/>
                </a:solidFill>
              </a:rPr>
              <a:t>?</a:t>
            </a:r>
            <a:r>
              <a:rPr lang="en-US" sz="2400" dirty="0"/>
              <a:t> w</a:t>
            </a:r>
            <a:r>
              <a:rPr lang="en-US" sz="2400" baseline="-25000" dirty="0"/>
              <a:t>body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9D0D73-C27F-1B2D-04C1-E2A31B018BF1}"/>
              </a:ext>
            </a:extLst>
          </p:cNvPr>
          <p:cNvSpPr txBox="1"/>
          <p:nvPr/>
        </p:nvSpPr>
        <p:spPr>
          <a:xfrm>
            <a:off x="7163034" y="3148790"/>
            <a:ext cx="51131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/>
              <a:t>Hint: Use the same arm lever arm ratio as before</a:t>
            </a:r>
            <a:r>
              <a:rPr lang="en-US" sz="1800" dirty="0"/>
              <a:t>. </a:t>
            </a:r>
            <a:r>
              <a:rPr lang="en-US" sz="1800" i="1" dirty="0"/>
              <a:t>That ratio wouldn’t change</a:t>
            </a:r>
          </a:p>
          <a:p>
            <a:r>
              <a:rPr lang="en-US" dirty="0">
                <a:solidFill>
                  <a:srgbClr val="FF0000"/>
                </a:solidFill>
              </a:rPr>
              <a:t>                           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3917ED7-15C1-4BB9-35FE-53654B02F8AF}"/>
                  </a:ext>
                </a:extLst>
              </p:cNvPr>
              <p:cNvSpPr txBox="1"/>
              <p:nvPr/>
            </p:nvSpPr>
            <p:spPr>
              <a:xfrm>
                <a:off x="10078505" y="3487344"/>
                <a:ext cx="1869115" cy="524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rgbClr val="FF0000"/>
                            </a:solidFill>
                          </a:rPr>
                          <m:t>M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rgbClr val="00B0F0"/>
                            </a:solidFill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n-US" b="0" i="0" baseline="-25000" smtClean="0">
                            <a:solidFill>
                              <a:srgbClr val="00B0F0"/>
                            </a:solidFill>
                          </a:rPr>
                          <m:t>bar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Symbol" panose="05050102010706020507" pitchFamily="18" charset="2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>
                            <a:solidFill>
                              <a:srgbClr val="00B0F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baseline="-25000">
                            <a:solidFill>
                              <a:srgbClr val="00B0F0"/>
                            </a:solidFill>
                            <a:sym typeface="Symbol" panose="05050102010706020507" pitchFamily="18" charset="2"/>
                          </a:rPr>
                          <m:t></m:t>
                        </m:r>
                        <m:r>
                          <m:rPr>
                            <m:nor/>
                          </m:rPr>
                          <a:rPr lang="en-US" b="0" i="0" baseline="-25000" smtClean="0">
                            <a:solidFill>
                              <a:srgbClr val="00B0F0"/>
                            </a:solidFill>
                            <a:sym typeface="Symbol" panose="05050102010706020507" pitchFamily="18" charset="2"/>
                          </a:rPr>
                          <m:t>bar</m:t>
                        </m:r>
                        <m:r>
                          <a:rPr lang="en-US" b="0" i="1" baseline="-2500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>
                            <a:solidFill>
                              <a:srgbClr val="FF000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baseline="-2500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</m:t>
                        </m:r>
                        <m:r>
                          <m:rPr>
                            <m:nor/>
                          </m:rPr>
                          <a:rPr lang="en-US" baseline="-2500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M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3917ED7-15C1-4BB9-35FE-53654B02F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8505" y="3487344"/>
                <a:ext cx="1869115" cy="524824"/>
              </a:xfrm>
              <a:prstGeom prst="rect">
                <a:avLst/>
              </a:prstGeom>
              <a:blipFill>
                <a:blip r:embed="rId4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C05FA5F0-CEE3-4AC3-CCAB-AFA66399B522}"/>
              </a:ext>
            </a:extLst>
          </p:cNvPr>
          <p:cNvSpPr txBox="1"/>
          <p:nvPr/>
        </p:nvSpPr>
        <p:spPr>
          <a:xfrm>
            <a:off x="8426110" y="1046511"/>
            <a:ext cx="2586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Indicate</a:t>
            </a:r>
            <a:r>
              <a:rPr lang="en-US" dirty="0"/>
              <a:t> which muscle</a:t>
            </a:r>
          </a:p>
        </p:txBody>
      </p:sp>
    </p:spTree>
    <p:extLst>
      <p:ext uri="{BB962C8B-B14F-4D97-AF65-F5344CB8AC3E}">
        <p14:creationId xmlns:p14="http://schemas.microsoft.com/office/powerpoint/2010/main" val="3922848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393</Words>
  <Application>Microsoft Macintosh PowerPoint</Application>
  <PresentationFormat>Widescreen</PresentationFormat>
  <Paragraphs>71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Beverly, Nancy</dc:creator>
  <cp:lastModifiedBy>Beverly, Nancy</cp:lastModifiedBy>
  <cp:revision>7</cp:revision>
  <dcterms:created xsi:type="dcterms:W3CDTF">2023-04-11T19:37:19Z</dcterms:created>
  <dcterms:modified xsi:type="dcterms:W3CDTF">2024-11-21T17:57:49Z</dcterms:modified>
</cp:coreProperties>
</file>