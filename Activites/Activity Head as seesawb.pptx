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76" r:id="rId3"/>
    <p:sldId id="301" r:id="rId4"/>
    <p:sldId id="302" r:id="rId5"/>
    <p:sldId id="317" r:id="rId6"/>
    <p:sldId id="30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26"/>
  </p:normalViewPr>
  <p:slideViewPr>
    <p:cSldViewPr snapToGrid="0" showGuides="1">
      <p:cViewPr varScale="1">
        <p:scale>
          <a:sx n="116" d="100"/>
          <a:sy n="116" d="100"/>
        </p:scale>
        <p:origin x="86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EB8AD-2840-1649-DC50-A8EF1902D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A7E4A-27EB-9A3F-BD8C-2ACB7DB6E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3DB83-7AC5-7744-28D4-B8347A343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F3F6-3666-1C47-A456-F82602F8759C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C1907-B7E1-EC2B-05A7-2FFBFBC3F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E9E77-5900-05AE-BD19-DBE04196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9D1A-54AF-0A4F-ACEE-9082E594B4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0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58B33-7941-69E4-8E42-B35C8D5E7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DDA3D-A271-94E6-78CA-988241BB6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5C286-3834-E3A2-0F29-ADC89D8F6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F3F6-3666-1C47-A456-F82602F8759C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44201-1A42-8583-B3B6-E55BDB4CF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B93DA-0C9B-E131-F611-4477C6C43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9D1A-54AF-0A4F-ACEE-9082E594B4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544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71DB-779E-0F50-0474-1F2A4C3F0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0ADA9-EF09-0D31-8970-102D4688A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65A8-2A2D-091E-1733-EFC429A61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F3F6-3666-1C47-A456-F82602F8759C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89C1E-F89A-A8D7-586B-DE652E112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15E91-84C9-2BAA-B732-7B2039B73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9D1A-54AF-0A4F-ACEE-9082E594B4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528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7266-C9FA-0946-F474-6007C3039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A370C-5CF4-6068-9837-408627B6E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769F0-B5A8-2C9E-F7BC-B4D4D105A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4F720-0E6C-2A86-2148-2745A70CC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F3F6-3666-1C47-A456-F82602F8759C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1F191-C8ED-C6CA-2D9C-F61154EFC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CB2FF-472B-B94E-9CB3-4E58DFB0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9D1A-54AF-0A4F-ACEE-9082E594B4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39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31890-0BA5-B6E5-A9B2-1DD6249A8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34CCD-E3ED-AE0B-D593-E6C3179E1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0AB52-E36A-F9FD-9185-0960378FB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9E34B8-D4E8-50B3-D14F-2F9C2DC3D2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5C30FD-F0BB-642F-5B12-90DE941EFC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11E8BB-3F14-B5DD-3BCD-604FF294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F3F6-3666-1C47-A456-F82602F8759C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CE1B4-C8E8-52AE-C3ED-0575078B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8D55D9-D56A-AC2B-126A-AA91D822F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9D1A-54AF-0A4F-ACEE-9082E594B4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3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F8B7-52EB-7BD6-87F4-61978844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DE74F1-23AC-9083-EA98-293EBCD4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F3F6-3666-1C47-A456-F82602F8759C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CC86E-EBC5-2061-490C-CC59939B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6F511-9708-5AE7-FF91-AF543D7C4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9D1A-54AF-0A4F-ACEE-9082E594B4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082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88395C-DA51-A680-8ECA-8FF6185E7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F3F6-3666-1C47-A456-F82602F8759C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2A960-FABE-6C9A-380C-B1E1084F8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4DCA5-71F8-5EB1-2103-46EFDBC0D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9D1A-54AF-0A4F-ACEE-9082E594B4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164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8B3B4-C862-FD1E-7F75-F877C8E14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7126E-3E3F-3655-CFF6-B474881F5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EE82A-2AC5-0F08-5B5C-60211F0AC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D3C84-5826-407F-D50F-78E5DA00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F3F6-3666-1C47-A456-F82602F8759C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4BCBC-2528-BBD8-61DE-AE4FBD660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82E92-DE4B-1227-1ACB-C25F4AD1C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9D1A-54AF-0A4F-ACEE-9082E594B4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A4F92-D178-8C24-2EDF-3C7F7F79A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D4E3AA-FAA6-6849-38C7-04E4586B5E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9A2A4-7D58-73F0-3E69-2F6859695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82477-75F1-6B4A-400E-6DE0F27EE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F3F6-3666-1C47-A456-F82602F8759C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1BAF5-CB6C-F4D4-4088-B011BABB5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2F0FF-CB2F-C348-B4EC-470C34DF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9D1A-54AF-0A4F-ACEE-9082E594B4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31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2F87B-9D58-3114-3ADD-0E25D79D4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91770-2769-D86C-F6C7-73B2E1A29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84156-FD30-5F61-D5CA-B192A2AC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F3F6-3666-1C47-A456-F82602F8759C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C6872-B972-2AC3-94F9-8DE81A96A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5DC05-DF2A-C8FE-770C-5FD5A99FB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9D1A-54AF-0A4F-ACEE-9082E594B4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973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B718EF-D00E-F29E-BAC6-B621D0B1D1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9DD00-01A8-1AE3-054C-EA2B8AD92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47FDF-6541-78E9-303F-0304A24B8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F3F6-3666-1C47-A456-F82602F8759C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1E1B2-E4BD-E5D2-8B97-6809E38F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463B9-E762-5E3F-81C3-C968FEA80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9D1A-54AF-0A4F-ACEE-9082E594B4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47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4B84EA-00C6-9FFD-6F68-51AA90E92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30ABD-A637-1A73-73D4-DED549BC6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AE42F-3507-15B0-B7DD-9E8FEAE21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56F3F6-3666-1C47-A456-F82602F8759C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3FBC3-C70D-F03F-ECAD-07172F8E3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E3A20-0CF2-1B14-9B32-0BF6A2DD3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79D1A-54AF-0A4F-ACEE-9082E594B4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66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slideshare.net/ntkhab24/atlantoaxial-and-occipital-joint" TargetMode="Externa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xrx.net/Kinesiology/Segment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1CA1D7-09C9-2649-B23D-CF1FC4585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963" y="107717"/>
            <a:ext cx="5084699" cy="6642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CBF3B5-C608-7D4E-826F-B3E958E4D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977" y="1579711"/>
            <a:ext cx="3244787" cy="5274817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A5BC61BF-88BC-8B4D-B1BB-1C8870BDA261}"/>
              </a:ext>
            </a:extLst>
          </p:cNvPr>
          <p:cNvSpPr/>
          <p:nvPr/>
        </p:nvSpPr>
        <p:spPr>
          <a:xfrm>
            <a:off x="8302658" y="3062786"/>
            <a:ext cx="427274" cy="1705797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339F54-1A41-D447-9DA1-493BA3A597BB}"/>
              </a:ext>
            </a:extLst>
          </p:cNvPr>
          <p:cNvSpPr/>
          <p:nvPr/>
        </p:nvSpPr>
        <p:spPr>
          <a:xfrm>
            <a:off x="9316278" y="3122763"/>
            <a:ext cx="212035" cy="1770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C3EB8C24-68E5-5A45-9DD3-21924A729FCC}"/>
              </a:ext>
            </a:extLst>
          </p:cNvPr>
          <p:cNvSpPr/>
          <p:nvPr/>
        </p:nvSpPr>
        <p:spPr>
          <a:xfrm>
            <a:off x="9848206" y="2366917"/>
            <a:ext cx="305800" cy="22016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48B23C-10B3-074F-BF05-E86CB6B6595D}"/>
              </a:ext>
            </a:extLst>
          </p:cNvPr>
          <p:cNvSpPr/>
          <p:nvPr/>
        </p:nvSpPr>
        <p:spPr>
          <a:xfrm>
            <a:off x="7814713" y="2935264"/>
            <a:ext cx="3174522" cy="310552"/>
          </a:xfrm>
          <a:prstGeom prst="rect">
            <a:avLst/>
          </a:prstGeom>
          <a:solidFill>
            <a:srgbClr val="7030A0">
              <a:alpha val="4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A6D18DC9-8EFC-E348-9783-B887C78AC3D3}"/>
              </a:ext>
            </a:extLst>
          </p:cNvPr>
          <p:cNvSpPr/>
          <p:nvPr/>
        </p:nvSpPr>
        <p:spPr>
          <a:xfrm>
            <a:off x="9253620" y="3284117"/>
            <a:ext cx="324357" cy="377687"/>
          </a:xfrm>
          <a:prstGeom prst="triangle">
            <a:avLst/>
          </a:prstGeom>
          <a:solidFill>
            <a:srgbClr val="7030A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55F8CD-A05C-864B-9860-827915C3C83C}"/>
              </a:ext>
            </a:extLst>
          </p:cNvPr>
          <p:cNvCxnSpPr>
            <a:cxnSpLocks/>
          </p:cNvCxnSpPr>
          <p:nvPr/>
        </p:nvCxnSpPr>
        <p:spPr>
          <a:xfrm>
            <a:off x="8680641" y="3211277"/>
            <a:ext cx="635637" cy="0"/>
          </a:xfrm>
          <a:prstGeom prst="line">
            <a:avLst/>
          </a:prstGeom>
          <a:ln w="53975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B6DF94-4184-9E42-B0DC-A68F7256855A}"/>
              </a:ext>
            </a:extLst>
          </p:cNvPr>
          <p:cNvCxnSpPr>
            <a:cxnSpLocks/>
          </p:cNvCxnSpPr>
          <p:nvPr/>
        </p:nvCxnSpPr>
        <p:spPr>
          <a:xfrm>
            <a:off x="9549925" y="3211277"/>
            <a:ext cx="568376" cy="0"/>
          </a:xfrm>
          <a:prstGeom prst="line">
            <a:avLst/>
          </a:prstGeom>
          <a:ln w="539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E441760-BAB9-7746-8CA2-973434F0BAE8}"/>
              </a:ext>
            </a:extLst>
          </p:cNvPr>
          <p:cNvSpPr txBox="1"/>
          <p:nvPr/>
        </p:nvSpPr>
        <p:spPr>
          <a:xfrm>
            <a:off x="10064307" y="3611581"/>
            <a:ext cx="490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82A5C9-762A-FD4D-87BD-1B2ED24973EA}"/>
              </a:ext>
            </a:extLst>
          </p:cNvPr>
          <p:cNvSpPr txBox="1"/>
          <p:nvPr/>
        </p:nvSpPr>
        <p:spPr>
          <a:xfrm>
            <a:off x="8680641" y="4368473"/>
            <a:ext cx="490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3ECAE0A-EBB2-E04B-B0F6-E80E212CB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6" y="107718"/>
            <a:ext cx="4676705" cy="350386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27D03A2-5FC0-7C43-93DD-597C7961BED0}"/>
              </a:ext>
            </a:extLst>
          </p:cNvPr>
          <p:cNvSpPr/>
          <p:nvPr/>
        </p:nvSpPr>
        <p:spPr>
          <a:xfrm>
            <a:off x="0" y="3397854"/>
            <a:ext cx="467670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5"/>
              </a:rPr>
              <a:t>https://www.slideshare.net/ntkhab24/atlantoaxial-and-occipital-joint</a:t>
            </a:r>
            <a:endParaRPr lang="en-US" sz="12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6DFCBD5-7392-2736-7D80-4846D1BE072C}"/>
              </a:ext>
            </a:extLst>
          </p:cNvPr>
          <p:cNvSpPr/>
          <p:nvPr/>
        </p:nvSpPr>
        <p:spPr>
          <a:xfrm>
            <a:off x="5485776" y="3062786"/>
            <a:ext cx="212035" cy="1770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179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penStax College Physics, Chapter 9, Problem 32 (Problems &amp; Exercises)">
            <a:extLst>
              <a:ext uri="{FF2B5EF4-FFF2-40B4-BE49-F238E27FC236}">
                <a16:creationId xmlns:a16="http://schemas.microsoft.com/office/drawing/2014/main" id="{E9C1EC33-92A3-FAC5-25C0-24487FD06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4470" y="92762"/>
            <a:ext cx="5047530" cy="612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00FD16-C2B4-4749-8630-D9EDC0D39FB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04" y="955498"/>
            <a:ext cx="4728396" cy="464266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lc="http://schemas.openxmlformats.org/drawingml/2006/lockedCanvas" xmlns:ma14="http://schemas.microsoft.com/office/mac/drawingml/2011/main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="http://schemas.openxmlformats.org/drawingml/2006/wordprocessingDrawing" xmlns:wp14="http://schemas.microsoft.com/office/word/2010/wordprocessingDrawing" xmlns:v="urn:schemas-microsoft-com:vml" xmlns:m="http://schemas.openxmlformats.org/officeDocument/2006/math" xmlns:o="urn:schemas-microsoft-com:office:office" xmlns:mv="urn:schemas-microsoft-com:mac:vml" xmlns:mc="http://schemas.openxmlformats.org/markup-compatibility/2006" xmlns:mo="http://schemas.microsoft.com/office/mac/office/2008/main" xmlns:wpc="http://schemas.microsoft.com/office/word/2010/wordprocessingCanvas" xmlns:a14="http://schemas.microsoft.com/office/drawing/2010/main" xmlns=""/>
            </a:ext>
          </a:ex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483D63-F3D3-94E9-5470-1F90C59C1DCD}"/>
              </a:ext>
            </a:extLst>
          </p:cNvPr>
          <p:cNvCxnSpPr>
            <a:cxnSpLocks/>
          </p:cNvCxnSpPr>
          <p:nvPr/>
        </p:nvCxnSpPr>
        <p:spPr>
          <a:xfrm flipV="1">
            <a:off x="6405880" y="826834"/>
            <a:ext cx="445470" cy="98141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E51188-093D-208B-79F0-9FDB5E41ED83}"/>
              </a:ext>
            </a:extLst>
          </p:cNvPr>
          <p:cNvCxnSpPr>
            <a:cxnSpLocks/>
          </p:cNvCxnSpPr>
          <p:nvPr/>
        </p:nvCxnSpPr>
        <p:spPr>
          <a:xfrm>
            <a:off x="5194414" y="1168231"/>
            <a:ext cx="44547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F277FD-18F7-1D77-11A0-158E7B16CE26}"/>
              </a:ext>
            </a:extLst>
          </p:cNvPr>
          <p:cNvSpPr txBox="1"/>
          <p:nvPr/>
        </p:nvSpPr>
        <p:spPr>
          <a:xfrm>
            <a:off x="6282206" y="955497"/>
            <a:ext cx="445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D8825-E70B-8B4C-FDE8-671DE1352CDB}"/>
              </a:ext>
            </a:extLst>
          </p:cNvPr>
          <p:cNvSpPr txBox="1"/>
          <p:nvPr/>
        </p:nvSpPr>
        <p:spPr>
          <a:xfrm>
            <a:off x="5044910" y="529556"/>
            <a:ext cx="607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r</a:t>
            </a:r>
            <a:r>
              <a:rPr lang="en-US" sz="2400" b="1" baseline="-25000" dirty="0">
                <a:solidFill>
                  <a:srgbClr val="0070C0"/>
                </a:solidFill>
              </a:rPr>
              <a:t>⟂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84AF8E-2B08-595A-CCDE-B73A84A3E9CD}"/>
              </a:ext>
            </a:extLst>
          </p:cNvPr>
          <p:cNvCxnSpPr>
            <a:cxnSpLocks/>
          </p:cNvCxnSpPr>
          <p:nvPr/>
        </p:nvCxnSpPr>
        <p:spPr>
          <a:xfrm flipV="1">
            <a:off x="4903256" y="2797535"/>
            <a:ext cx="445470" cy="98141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2D72B2-2B14-D598-46B9-CE8E64BB72B5}"/>
              </a:ext>
            </a:extLst>
          </p:cNvPr>
          <p:cNvCxnSpPr>
            <a:cxnSpLocks/>
          </p:cNvCxnSpPr>
          <p:nvPr/>
        </p:nvCxnSpPr>
        <p:spPr>
          <a:xfrm>
            <a:off x="6109014" y="3288243"/>
            <a:ext cx="44547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143EF0-783D-10D3-659A-C0A3A2B01F06}"/>
              </a:ext>
            </a:extLst>
          </p:cNvPr>
          <p:cNvSpPr txBox="1"/>
          <p:nvPr/>
        </p:nvSpPr>
        <p:spPr>
          <a:xfrm>
            <a:off x="4779582" y="2926198"/>
            <a:ext cx="445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65F86-CB91-F9EA-2A4E-9034E964AA52}"/>
              </a:ext>
            </a:extLst>
          </p:cNvPr>
          <p:cNvSpPr txBox="1"/>
          <p:nvPr/>
        </p:nvSpPr>
        <p:spPr>
          <a:xfrm>
            <a:off x="5978390" y="2797535"/>
            <a:ext cx="607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</a:t>
            </a:r>
            <a:r>
              <a:rPr lang="en-US" sz="2400" b="1" baseline="-25000" dirty="0">
                <a:solidFill>
                  <a:srgbClr val="FF0000"/>
                </a:solidFill>
              </a:rPr>
              <a:t>⟂</a:t>
            </a:r>
          </a:p>
        </p:txBody>
      </p:sp>
    </p:spTree>
    <p:extLst>
      <p:ext uri="{BB962C8B-B14F-4D97-AF65-F5344CB8AC3E}">
        <p14:creationId xmlns:p14="http://schemas.microsoft.com/office/powerpoint/2010/main" val="1199268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711729-9834-9F47-BE70-FF90B45F0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650" y="361950"/>
            <a:ext cx="9664700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339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5D7D78-D086-DD4D-ABAD-63EFAAEB2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4" y="249183"/>
            <a:ext cx="10338393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57CCF77-4C3B-F44B-A0DE-02ACD98DA3F8}"/>
              </a:ext>
            </a:extLst>
          </p:cNvPr>
          <p:cNvSpPr/>
          <p:nvPr/>
        </p:nvSpPr>
        <p:spPr>
          <a:xfrm>
            <a:off x="8368389" y="6331818"/>
            <a:ext cx="26079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hlinkClick r:id="rId3"/>
              </a:rPr>
              <a:t>https://exrx.net/Kinesiology/Segments</a:t>
            </a:r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8B05A-116A-1017-9C19-D2C9FB7D7521}"/>
              </a:ext>
            </a:extLst>
          </p:cNvPr>
          <p:cNvSpPr txBox="1"/>
          <p:nvPr/>
        </p:nvSpPr>
        <p:spPr>
          <a:xfrm>
            <a:off x="7304183" y="1828800"/>
            <a:ext cx="4318612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w</a:t>
            </a:r>
            <a:r>
              <a:rPr lang="en-US" sz="2400" baseline="-25000" dirty="0"/>
              <a:t>body</a:t>
            </a:r>
            <a:r>
              <a:rPr lang="en-US" sz="2400" dirty="0"/>
              <a:t> =  ?</a:t>
            </a:r>
          </a:p>
          <a:p>
            <a:r>
              <a:rPr lang="en-US" sz="2400" dirty="0"/>
              <a:t>w</a:t>
            </a:r>
            <a:r>
              <a:rPr lang="en-US" sz="2400" baseline="-25000" dirty="0"/>
              <a:t>head</a:t>
            </a:r>
            <a:r>
              <a:rPr lang="en-US" sz="2400" dirty="0"/>
              <a:t> = 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87EA87-9FCD-B95B-6055-56D899E4C5E2}"/>
              </a:ext>
            </a:extLst>
          </p:cNvPr>
          <p:cNvSpPr/>
          <p:nvPr/>
        </p:nvSpPr>
        <p:spPr>
          <a:xfrm>
            <a:off x="327804" y="914400"/>
            <a:ext cx="4960292" cy="3305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0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236C4-5CA0-9E4E-6C4B-2E2A4F4A7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Solved 7. The main muscles that hold your head upright | Chegg.com">
            <a:extLst>
              <a:ext uri="{FF2B5EF4-FFF2-40B4-BE49-F238E27FC236}">
                <a16:creationId xmlns:a16="http://schemas.microsoft.com/office/drawing/2014/main" id="{F064B2F4-00D6-6934-92E8-89E36006A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206" y="543697"/>
            <a:ext cx="5915420" cy="514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330AA8-9956-71DB-79FE-07F07EF19C2C}"/>
              </a:ext>
            </a:extLst>
          </p:cNvPr>
          <p:cNvSpPr txBox="1"/>
          <p:nvPr/>
        </p:nvSpPr>
        <p:spPr>
          <a:xfrm>
            <a:off x="944334" y="128198"/>
            <a:ext cx="9778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Estimate force of neck muscle, </a:t>
            </a:r>
            <a:r>
              <a:rPr lang="en-US" sz="2400" dirty="0">
                <a:solidFill>
                  <a:srgbClr val="C00000"/>
                </a:solidFill>
              </a:rPr>
              <a:t>by ratio of lever arms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4AAD51-DC3E-5D08-AC82-0BFE1AF8E733}"/>
                  </a:ext>
                </a:extLst>
              </p:cNvPr>
              <p:cNvSpPr txBox="1"/>
              <p:nvPr/>
            </p:nvSpPr>
            <p:spPr>
              <a:xfrm>
                <a:off x="344404" y="1761017"/>
                <a:ext cx="4915142" cy="3032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ym typeface="Symbol" panose="05050102010706020507" pitchFamily="18" charset="2"/>
                  </a:rPr>
                  <a:t></a:t>
                </a:r>
                <a:r>
                  <a:rPr lang="en-US" sz="2400" baseline="-25000" dirty="0">
                    <a:sym typeface="Symbol" panose="05050102010706020507" pitchFamily="18" charset="2"/>
                  </a:rPr>
                  <a:t>head </a:t>
                </a:r>
                <a:r>
                  <a:rPr lang="en-US" sz="2400" dirty="0">
                    <a:sym typeface="Symbol" panose="05050102010706020507" pitchFamily="18" charset="2"/>
                  </a:rPr>
                  <a:t>= 0</a:t>
                </a:r>
              </a:p>
              <a:p>
                <a:r>
                  <a:rPr lang="en-US" sz="2400" dirty="0"/>
                  <a:t>+𝝉</a:t>
                </a:r>
                <a:r>
                  <a:rPr lang="en-US" sz="2400" baseline="-25000" dirty="0"/>
                  <a:t>wt</a:t>
                </a:r>
                <a:r>
                  <a:rPr lang="en-US" sz="2400" dirty="0"/>
                  <a:t> </a:t>
                </a:r>
                <a:r>
                  <a:rPr lang="en-US" sz="2400" baseline="-25000" dirty="0"/>
                  <a:t>head</a:t>
                </a:r>
                <a:r>
                  <a:rPr lang="en-US" sz="2400" dirty="0"/>
                  <a:t> = 𝝉</a:t>
                </a:r>
                <a:r>
                  <a:rPr lang="en-US" sz="2400" baseline="-25000" dirty="0"/>
                  <a:t>muscle</a:t>
                </a:r>
                <a:endParaRPr lang="en-US" sz="2400" dirty="0">
                  <a:sym typeface="Symbol" panose="05050102010706020507" pitchFamily="18" charset="2"/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F</a:t>
                </a:r>
                <a:r>
                  <a:rPr lang="en-US" sz="2400" baseline="-250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neck muscle</a:t>
                </a:r>
                <a:r>
                  <a:rPr lang="en-US" sz="2400" dirty="0">
                    <a:sym typeface="Symbol" panose="05050102010706020507" pitchFamily="18" charset="2"/>
                  </a:rPr>
                  <a:t>*</a:t>
                </a:r>
                <a:r>
                  <a:rPr lang="en-US" sz="24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r</a:t>
                </a:r>
                <a:r>
                  <a:rPr lang="en-US" sz="2400" baseline="-250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⟂muscle  </a:t>
                </a:r>
                <a:r>
                  <a:rPr lang="en-US" sz="2400" dirty="0">
                    <a:sym typeface="Symbol" panose="05050102010706020507" pitchFamily="18" charset="2"/>
                  </a:rPr>
                  <a:t>=</a:t>
                </a:r>
                <a:r>
                  <a:rPr lang="en-US" sz="2400" baseline="-250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  </a:t>
                </a:r>
                <a:r>
                  <a:rPr lang="en-US" sz="2400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W</a:t>
                </a:r>
                <a:r>
                  <a:rPr lang="en-US" sz="2400" baseline="-25000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head</a:t>
                </a:r>
                <a:r>
                  <a:rPr lang="en-US" sz="2400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*r</a:t>
                </a:r>
                <a:r>
                  <a:rPr lang="en-US" sz="2400" baseline="-25000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⟂W</a:t>
                </a:r>
                <a:endParaRPr lang="en-US" sz="2400" dirty="0">
                  <a:sym typeface="Symbol" panose="05050102010706020507" pitchFamily="18" charset="2"/>
                </a:endParaRPr>
              </a:p>
              <a:p>
                <a:endParaRPr lang="en-US" sz="2400" dirty="0">
                  <a:solidFill>
                    <a:srgbClr val="FF0000"/>
                  </a:solidFill>
                  <a:sym typeface="Symbol" panose="05050102010706020507" pitchFamily="18" charset="2"/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F</a:t>
                </a:r>
                <a:r>
                  <a:rPr lang="en-US" sz="2400" baseline="-250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neck muscle </a:t>
                </a:r>
                <a:r>
                  <a:rPr lang="en-US" sz="2400" dirty="0">
                    <a:sym typeface="Symbol" panose="05050102010706020507" pitchFamily="18" charset="2"/>
                  </a:rPr>
                  <a:t>= </a:t>
                </a:r>
                <a:r>
                  <a:rPr lang="en-US" sz="2400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W</a:t>
                </a:r>
                <a:r>
                  <a:rPr lang="en-US" sz="2400" baseline="-25000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head</a:t>
                </a:r>
                <a:r>
                  <a:rPr lang="en-US" sz="2400" dirty="0">
                    <a:sym typeface="Symbol" panose="05050102010706020507" pitchFamily="18" charset="2"/>
                  </a:rPr>
                  <a:t>*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  <m:r>
                              <a:rPr lang="en-US" sz="2400" b="1" i="1" baseline="-25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⟂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  <m:r>
                              <a:rPr lang="en-US" sz="2400" b="1" i="1" baseline="-250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⟂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𝒎𝒖𝒔𝒄𝒍𝒆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>
                  <a:sym typeface="Symbol" panose="05050102010706020507" pitchFamily="18" charset="2"/>
                </a:endParaRPr>
              </a:p>
              <a:p>
                <a:r>
                  <a:rPr lang="en-US" sz="2400" dirty="0">
                    <a:sym typeface="Symbol" panose="05050102010706020507" pitchFamily="18" charset="2"/>
                  </a:rPr>
                  <a:t>                  = </a:t>
                </a:r>
                <a:r>
                  <a:rPr lang="en-US" sz="2400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W</a:t>
                </a:r>
                <a:r>
                  <a:rPr lang="en-US" sz="2400" baseline="-25000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head</a:t>
                </a:r>
                <a:r>
                  <a:rPr lang="en-US" sz="2400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/>
                      <m:den/>
                    </m:f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sz="2400" dirty="0">
                    <a:sym typeface="Symbol" panose="05050102010706020507" pitchFamily="18" charset="2"/>
                  </a:rPr>
                  <a:t>                  = ?  </a:t>
                </a:r>
                <a:r>
                  <a:rPr lang="en-US" sz="2400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W</a:t>
                </a:r>
                <a:r>
                  <a:rPr lang="en-US" sz="2400" baseline="-25000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head</a:t>
                </a:r>
                <a:endParaRPr lang="en-US" sz="2400" dirty="0">
                  <a:solidFill>
                    <a:srgbClr val="C00000"/>
                  </a:solidFill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4AAD51-DC3E-5D08-AC82-0BFE1AF8E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04" y="1761017"/>
                <a:ext cx="4915142" cy="3032112"/>
              </a:xfrm>
              <a:prstGeom prst="rect">
                <a:avLst/>
              </a:prstGeom>
              <a:blipFill>
                <a:blip r:embed="rId3"/>
                <a:stretch>
                  <a:fillRect l="-1799" t="-2500" b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FEEDAF-2D40-51E0-130F-190855018053}"/>
              </a:ext>
            </a:extLst>
          </p:cNvPr>
          <p:cNvCxnSpPr>
            <a:cxnSpLocks/>
          </p:cNvCxnSpPr>
          <p:nvPr/>
        </p:nvCxnSpPr>
        <p:spPr>
          <a:xfrm>
            <a:off x="5194414" y="1168231"/>
            <a:ext cx="44547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C56DE9-D5C0-5BD3-4CFE-35ADD9B9DF9F}"/>
              </a:ext>
            </a:extLst>
          </p:cNvPr>
          <p:cNvSpPr txBox="1"/>
          <p:nvPr/>
        </p:nvSpPr>
        <p:spPr>
          <a:xfrm>
            <a:off x="5044910" y="529556"/>
            <a:ext cx="607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r</a:t>
            </a:r>
            <a:r>
              <a:rPr lang="en-US" sz="2400" b="1" baseline="-25000" dirty="0">
                <a:solidFill>
                  <a:srgbClr val="0070C0"/>
                </a:solidFill>
              </a:rPr>
              <a:t>⟂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072108-4EE0-EA04-C0B8-EC1A51DAA777}"/>
              </a:ext>
            </a:extLst>
          </p:cNvPr>
          <p:cNvCxnSpPr>
            <a:cxnSpLocks/>
          </p:cNvCxnSpPr>
          <p:nvPr/>
        </p:nvCxnSpPr>
        <p:spPr>
          <a:xfrm>
            <a:off x="5391641" y="3878914"/>
            <a:ext cx="44547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06978B7-A800-1806-2D6F-64D8780962B9}"/>
              </a:ext>
            </a:extLst>
          </p:cNvPr>
          <p:cNvSpPr txBox="1"/>
          <p:nvPr/>
        </p:nvSpPr>
        <p:spPr>
          <a:xfrm>
            <a:off x="5978390" y="2797535"/>
            <a:ext cx="607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</a:t>
            </a:r>
            <a:r>
              <a:rPr lang="en-US" sz="2400" b="1" baseline="-25000" dirty="0">
                <a:solidFill>
                  <a:srgbClr val="FF0000"/>
                </a:solidFill>
              </a:rPr>
              <a:t>⟂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1F990201-786E-CECB-F75D-680FF7DE6B5F}"/>
              </a:ext>
            </a:extLst>
          </p:cNvPr>
          <p:cNvSpPr/>
          <p:nvPr/>
        </p:nvSpPr>
        <p:spPr>
          <a:xfrm>
            <a:off x="10941478" y="4846937"/>
            <a:ext cx="239486" cy="8708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AFC62F4B-CA75-A632-B12A-1BFB17190752}"/>
              </a:ext>
            </a:extLst>
          </p:cNvPr>
          <p:cNvSpPr/>
          <p:nvPr/>
        </p:nvSpPr>
        <p:spPr>
          <a:xfrm>
            <a:off x="11293309" y="4671074"/>
            <a:ext cx="239486" cy="87085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3BC71D-94AA-2499-C235-E0715224CF6E}"/>
              </a:ext>
            </a:extLst>
          </p:cNvPr>
          <p:cNvSpPr txBox="1"/>
          <p:nvPr/>
        </p:nvSpPr>
        <p:spPr>
          <a:xfrm>
            <a:off x="0" y="5106502"/>
            <a:ext cx="5294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Estimate weight of head: </a:t>
            </a:r>
            <a:r>
              <a:rPr 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W</a:t>
            </a:r>
            <a:r>
              <a:rPr lang="en-US" sz="2400" baseline="-25000" dirty="0">
                <a:solidFill>
                  <a:srgbClr val="0070C0"/>
                </a:solidFill>
                <a:sym typeface="Symbol" panose="05050102010706020507" pitchFamily="18" charset="2"/>
              </a:rPr>
              <a:t>head </a:t>
            </a:r>
            <a:r>
              <a:rPr lang="en-US" sz="2400" dirty="0">
                <a:sym typeface="Symbol" panose="05050102010706020507" pitchFamily="18" charset="2"/>
              </a:rPr>
              <a:t>=  ?</a:t>
            </a:r>
            <a:r>
              <a:rPr lang="en-US" sz="2400" dirty="0"/>
              <a:t>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102992-FA06-6433-3A90-0E810EA93386}"/>
              </a:ext>
            </a:extLst>
          </p:cNvPr>
          <p:cNvSpPr txBox="1"/>
          <p:nvPr/>
        </p:nvSpPr>
        <p:spPr>
          <a:xfrm>
            <a:off x="618458" y="5962227"/>
            <a:ext cx="39317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sz="24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neck muscle </a:t>
            </a:r>
            <a:r>
              <a:rPr lang="en-US" sz="2400" dirty="0">
                <a:sym typeface="Symbol" panose="05050102010706020507" pitchFamily="18" charset="2"/>
              </a:rPr>
              <a:t>= ?  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AA29D6-1922-F546-74C8-436AF430885C}"/>
              </a:ext>
            </a:extLst>
          </p:cNvPr>
          <p:cNvSpPr txBox="1"/>
          <p:nvPr/>
        </p:nvSpPr>
        <p:spPr>
          <a:xfrm>
            <a:off x="183131" y="543697"/>
            <a:ext cx="479573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“Limb” system</a:t>
            </a:r>
            <a:r>
              <a:rPr lang="en-US" sz="2000" b="1" dirty="0"/>
              <a:t>: </a:t>
            </a:r>
            <a:r>
              <a:rPr lang="en-US" sz="2000" dirty="0">
                <a:solidFill>
                  <a:srgbClr val="002060"/>
                </a:solidFill>
              </a:rPr>
              <a:t>head</a:t>
            </a:r>
          </a:p>
          <a:p>
            <a:r>
              <a:rPr lang="en-US" sz="2000" b="1" i="1" dirty="0"/>
              <a:t>Joint:</a:t>
            </a:r>
            <a:r>
              <a:rPr lang="en-US" sz="2000" b="1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Atlanto-occipital joint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17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Solved 7. The main muscles that hold your head upright | Chegg.com">
            <a:extLst>
              <a:ext uri="{FF2B5EF4-FFF2-40B4-BE49-F238E27FC236}">
                <a16:creationId xmlns:a16="http://schemas.microsoft.com/office/drawing/2014/main" id="{D19C6724-D099-814E-390D-4F1FE2FEF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491" y="543696"/>
            <a:ext cx="6763135" cy="587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152362F-0164-CDE6-1FAC-3E478F8650EE}"/>
              </a:ext>
            </a:extLst>
          </p:cNvPr>
          <p:cNvSpPr txBox="1"/>
          <p:nvPr/>
        </p:nvSpPr>
        <p:spPr>
          <a:xfrm>
            <a:off x="272822" y="705400"/>
            <a:ext cx="3185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Estimate joint force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CE0FAA-2E88-23E8-56AA-4C3FCC4FCB24}"/>
              </a:ext>
            </a:extLst>
          </p:cNvPr>
          <p:cNvCxnSpPr>
            <a:cxnSpLocks/>
          </p:cNvCxnSpPr>
          <p:nvPr/>
        </p:nvCxnSpPr>
        <p:spPr>
          <a:xfrm flipV="1">
            <a:off x="8172225" y="2514600"/>
            <a:ext cx="0" cy="2007149"/>
          </a:xfrm>
          <a:prstGeom prst="straightConnector1">
            <a:avLst/>
          </a:prstGeom>
          <a:ln w="603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87E865-B5C6-FE82-51EB-6597C596D363}"/>
              </a:ext>
            </a:extLst>
          </p:cNvPr>
          <p:cNvCxnSpPr>
            <a:cxnSpLocks/>
          </p:cNvCxnSpPr>
          <p:nvPr/>
        </p:nvCxnSpPr>
        <p:spPr>
          <a:xfrm flipH="1">
            <a:off x="8140113" y="4745367"/>
            <a:ext cx="32112" cy="1718045"/>
          </a:xfrm>
          <a:prstGeom prst="straightConnector1">
            <a:avLst/>
          </a:prstGeom>
          <a:ln w="60325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1BBFDC-11E5-C3EA-06FA-89ECFFEAA96B}"/>
              </a:ext>
            </a:extLst>
          </p:cNvPr>
          <p:cNvSpPr txBox="1"/>
          <p:nvPr/>
        </p:nvSpPr>
        <p:spPr>
          <a:xfrm>
            <a:off x="668537" y="1596818"/>
            <a:ext cx="47253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Symbol" panose="05050102010706020507" pitchFamily="18" charset="2"/>
              </a:rPr>
              <a:t>F</a:t>
            </a:r>
            <a:r>
              <a:rPr lang="en-US" sz="3200" baseline="-25000" dirty="0">
                <a:sym typeface="Symbol" panose="05050102010706020507" pitchFamily="18" charset="2"/>
              </a:rPr>
              <a:t>head </a:t>
            </a:r>
            <a:r>
              <a:rPr lang="en-US" sz="3200" dirty="0">
                <a:sym typeface="Symbol" panose="05050102010706020507" pitchFamily="18" charset="2"/>
              </a:rPr>
              <a:t>= 0</a:t>
            </a:r>
          </a:p>
          <a:p>
            <a:r>
              <a:rPr lang="en-US" sz="3200" dirty="0">
                <a:sym typeface="Symbol" panose="05050102010706020507" pitchFamily="18" charset="2"/>
              </a:rPr>
              <a:t>-</a:t>
            </a:r>
            <a:r>
              <a:rPr lang="en-US" sz="3200" dirty="0">
                <a:solidFill>
                  <a:srgbClr val="0070C0"/>
                </a:solidFill>
                <a:sym typeface="Symbol" panose="05050102010706020507" pitchFamily="18" charset="2"/>
              </a:rPr>
              <a:t>W</a:t>
            </a:r>
            <a:r>
              <a:rPr lang="en-US" sz="3200" baseline="-25000" dirty="0">
                <a:solidFill>
                  <a:srgbClr val="0070C0"/>
                </a:solidFill>
                <a:sym typeface="Symbol" panose="05050102010706020507" pitchFamily="18" charset="2"/>
              </a:rPr>
              <a:t>head </a:t>
            </a:r>
            <a:r>
              <a:rPr lang="en-US" sz="3200" dirty="0">
                <a:sym typeface="Symbol" panose="05050102010706020507" pitchFamily="18" charset="2"/>
              </a:rPr>
              <a:t>-</a:t>
            </a:r>
            <a:r>
              <a:rPr lang="en-US" sz="3200" dirty="0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sz="32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muscle</a:t>
            </a:r>
            <a:r>
              <a:rPr lang="en-US" sz="3200" dirty="0">
                <a:sym typeface="Symbol" panose="05050102010706020507" pitchFamily="18" charset="2"/>
              </a:rPr>
              <a:t>+</a:t>
            </a:r>
            <a:r>
              <a:rPr lang="en-US" sz="3200" dirty="0">
                <a:solidFill>
                  <a:srgbClr val="00B050"/>
                </a:solidFill>
                <a:sym typeface="Symbol" panose="05050102010706020507" pitchFamily="18" charset="2"/>
              </a:rPr>
              <a:t>J</a:t>
            </a:r>
            <a:r>
              <a:rPr lang="en-US" sz="3200" dirty="0">
                <a:sym typeface="Symbol" panose="05050102010706020507" pitchFamily="18" charset="2"/>
              </a:rPr>
              <a:t> = 0</a:t>
            </a:r>
          </a:p>
          <a:p>
            <a:r>
              <a:rPr lang="en-US" sz="3200" dirty="0">
                <a:solidFill>
                  <a:srgbClr val="00B050"/>
                </a:solidFill>
                <a:sym typeface="Symbol" panose="05050102010706020507" pitchFamily="18" charset="2"/>
              </a:rPr>
              <a:t>J</a:t>
            </a:r>
            <a:r>
              <a:rPr lang="en-US" sz="3200" dirty="0">
                <a:sym typeface="Symbol" panose="05050102010706020507" pitchFamily="18" charset="2"/>
              </a:rPr>
              <a:t> = </a:t>
            </a:r>
            <a:r>
              <a:rPr lang="en-US" sz="3200" dirty="0">
                <a:solidFill>
                  <a:srgbClr val="0070C0"/>
                </a:solidFill>
                <a:sym typeface="Symbol" panose="05050102010706020507" pitchFamily="18" charset="2"/>
              </a:rPr>
              <a:t>W</a:t>
            </a:r>
            <a:r>
              <a:rPr lang="en-US" sz="3200" baseline="-25000" dirty="0">
                <a:solidFill>
                  <a:srgbClr val="0070C0"/>
                </a:solidFill>
                <a:sym typeface="Symbol" panose="05050102010706020507" pitchFamily="18" charset="2"/>
              </a:rPr>
              <a:t>head</a:t>
            </a:r>
            <a:r>
              <a:rPr lang="en-US" sz="3200" dirty="0">
                <a:sym typeface="Symbol" panose="05050102010706020507" pitchFamily="18" charset="2"/>
              </a:rPr>
              <a:t>+ </a:t>
            </a:r>
            <a:r>
              <a:rPr lang="en-US" sz="3200" dirty="0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sz="32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muscle</a:t>
            </a:r>
          </a:p>
          <a:p>
            <a:r>
              <a:rPr lang="en-US" sz="3200" dirty="0">
                <a:solidFill>
                  <a:srgbClr val="00B050"/>
                </a:solidFill>
                <a:sym typeface="Symbol" panose="05050102010706020507" pitchFamily="18" charset="2"/>
              </a:rPr>
              <a:t>J</a:t>
            </a:r>
            <a:r>
              <a:rPr lang="en-US" sz="3200" dirty="0">
                <a:sym typeface="Symbol" panose="05050102010706020507" pitchFamily="18" charset="2"/>
              </a:rPr>
              <a:t> = </a:t>
            </a:r>
            <a:r>
              <a:rPr lang="en-US" sz="3200" dirty="0">
                <a:solidFill>
                  <a:srgbClr val="0070C0"/>
                </a:solidFill>
                <a:sym typeface="Symbol" panose="05050102010706020507" pitchFamily="18" charset="2"/>
              </a:rPr>
              <a:t>W</a:t>
            </a:r>
            <a:r>
              <a:rPr lang="en-US" sz="3200" baseline="-25000" dirty="0">
                <a:solidFill>
                  <a:srgbClr val="0070C0"/>
                </a:solidFill>
                <a:sym typeface="Symbol" panose="05050102010706020507" pitchFamily="18" charset="2"/>
              </a:rPr>
              <a:t>head</a:t>
            </a:r>
            <a:r>
              <a:rPr lang="en-US" sz="3200" dirty="0">
                <a:sym typeface="Symbol" panose="05050102010706020507" pitchFamily="18" charset="2"/>
              </a:rPr>
              <a:t>+ </a:t>
            </a:r>
            <a:r>
              <a:rPr lang="en-US" sz="3200" dirty="0">
                <a:solidFill>
                  <a:srgbClr val="FF0000"/>
                </a:solidFill>
                <a:sym typeface="Symbol" panose="05050102010706020507" pitchFamily="18" charset="2"/>
              </a:rPr>
              <a:t>?</a:t>
            </a:r>
            <a:r>
              <a:rPr lang="en-US" sz="3200" dirty="0">
                <a:solidFill>
                  <a:srgbClr val="0070C0"/>
                </a:solidFill>
                <a:sym typeface="Symbol" panose="05050102010706020507" pitchFamily="18" charset="2"/>
              </a:rPr>
              <a:t> W</a:t>
            </a:r>
            <a:r>
              <a:rPr lang="en-US" sz="3200" baseline="-25000" dirty="0">
                <a:solidFill>
                  <a:srgbClr val="0070C0"/>
                </a:solidFill>
                <a:sym typeface="Symbol" panose="05050102010706020507" pitchFamily="18" charset="2"/>
              </a:rPr>
              <a:t>head</a:t>
            </a:r>
            <a:r>
              <a:rPr lang="en-US" sz="32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endParaRPr lang="en-US" sz="3200" dirty="0">
              <a:solidFill>
                <a:srgbClr val="FF0000"/>
              </a:solidFill>
            </a:endParaRPr>
          </a:p>
          <a:p>
            <a:r>
              <a:rPr lang="en-US" sz="3200" dirty="0">
                <a:solidFill>
                  <a:srgbClr val="00B050"/>
                </a:solidFill>
                <a:sym typeface="Symbol" panose="05050102010706020507" pitchFamily="18" charset="2"/>
              </a:rPr>
              <a:t>J</a:t>
            </a:r>
            <a:r>
              <a:rPr lang="en-US" sz="3200" dirty="0">
                <a:sym typeface="Symbol" panose="05050102010706020507" pitchFamily="18" charset="2"/>
              </a:rPr>
              <a:t> = </a:t>
            </a:r>
            <a:r>
              <a:rPr lang="en-US" sz="3200" dirty="0">
                <a:solidFill>
                  <a:srgbClr val="FF0000"/>
                </a:solidFill>
                <a:sym typeface="Symbol" panose="05050102010706020507" pitchFamily="18" charset="2"/>
              </a:rPr>
              <a:t>??</a:t>
            </a:r>
            <a:r>
              <a:rPr lang="en-US" sz="3200" dirty="0">
                <a:solidFill>
                  <a:srgbClr val="0070C0"/>
                </a:solidFill>
                <a:sym typeface="Symbol" panose="05050102010706020507" pitchFamily="18" charset="2"/>
              </a:rPr>
              <a:t> W</a:t>
            </a:r>
            <a:r>
              <a:rPr lang="en-US" sz="3200" baseline="-25000" dirty="0">
                <a:solidFill>
                  <a:srgbClr val="0070C0"/>
                </a:solidFill>
                <a:sym typeface="Symbol" panose="05050102010706020507" pitchFamily="18" charset="2"/>
              </a:rPr>
              <a:t>head</a:t>
            </a:r>
            <a:r>
              <a:rPr lang="en-US" sz="32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endParaRPr lang="en-US" sz="3200" dirty="0">
              <a:solidFill>
                <a:srgbClr val="FF0000"/>
              </a:solidFill>
            </a:endParaRPr>
          </a:p>
          <a:p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8BDB77CA-08CE-8FD5-4E5F-7AF199CD4F4F}"/>
              </a:ext>
            </a:extLst>
          </p:cNvPr>
          <p:cNvSpPr/>
          <p:nvPr/>
        </p:nvSpPr>
        <p:spPr>
          <a:xfrm>
            <a:off x="7554686" y="3482815"/>
            <a:ext cx="201843" cy="10389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8936AE2E-7AB1-9292-8DAA-CBAA15D48056}"/>
              </a:ext>
            </a:extLst>
          </p:cNvPr>
          <p:cNvSpPr/>
          <p:nvPr/>
        </p:nvSpPr>
        <p:spPr>
          <a:xfrm>
            <a:off x="8758067" y="4643806"/>
            <a:ext cx="239486" cy="87085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43724-C736-3B2F-D48A-7D2DE581E7EF}"/>
              </a:ext>
            </a:extLst>
          </p:cNvPr>
          <p:cNvSpPr txBox="1"/>
          <p:nvPr/>
        </p:nvSpPr>
        <p:spPr>
          <a:xfrm>
            <a:off x="0" y="5106502"/>
            <a:ext cx="5294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Estimate weight of head: </a:t>
            </a:r>
            <a:r>
              <a:rPr 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W</a:t>
            </a:r>
            <a:r>
              <a:rPr lang="en-US" sz="2400" baseline="-25000" dirty="0">
                <a:solidFill>
                  <a:srgbClr val="0070C0"/>
                </a:solidFill>
                <a:sym typeface="Symbol" panose="05050102010706020507" pitchFamily="18" charset="2"/>
              </a:rPr>
              <a:t>head </a:t>
            </a:r>
            <a:r>
              <a:rPr lang="en-US" sz="2400" dirty="0">
                <a:sym typeface="Symbol" panose="05050102010706020507" pitchFamily="18" charset="2"/>
              </a:rPr>
              <a:t>=  ?</a:t>
            </a:r>
            <a:r>
              <a:rPr lang="en-US" sz="2400" dirty="0"/>
              <a:t>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B19088-814B-7370-792F-746DC68AA0B5}"/>
              </a:ext>
            </a:extLst>
          </p:cNvPr>
          <p:cNvSpPr txBox="1"/>
          <p:nvPr/>
        </p:nvSpPr>
        <p:spPr>
          <a:xfrm>
            <a:off x="618458" y="5962227"/>
            <a:ext cx="39317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sym typeface="Symbol" panose="05050102010706020507" pitchFamily="18" charset="2"/>
              </a:rPr>
              <a:t>J</a:t>
            </a: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4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sz="2400" dirty="0">
                <a:sym typeface="Symbol" panose="05050102010706020507" pitchFamily="18" charset="2"/>
              </a:rPr>
              <a:t>= ? 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2583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151</Words>
  <Application>Microsoft Macintosh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Beverly, Nancy</dc:creator>
  <cp:lastModifiedBy>Beverly, Nancy</cp:lastModifiedBy>
  <cp:revision>4</cp:revision>
  <dcterms:created xsi:type="dcterms:W3CDTF">2024-06-28T14:51:06Z</dcterms:created>
  <dcterms:modified xsi:type="dcterms:W3CDTF">2025-11-12T15:49:44Z</dcterms:modified>
</cp:coreProperties>
</file>