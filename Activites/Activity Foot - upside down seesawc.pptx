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1" r:id="rId2"/>
    <p:sldId id="312" r:id="rId3"/>
    <p:sldId id="313" r:id="rId4"/>
    <p:sldId id="320" r:id="rId5"/>
    <p:sldId id="321" r:id="rId6"/>
    <p:sldId id="316" r:id="rId7"/>
    <p:sldId id="315" r:id="rId8"/>
    <p:sldId id="303" r:id="rId9"/>
    <p:sldId id="304" r:id="rId10"/>
    <p:sldId id="309" r:id="rId11"/>
    <p:sldId id="317" r:id="rId12"/>
    <p:sldId id="322" r:id="rId13"/>
    <p:sldId id="305" r:id="rId14"/>
    <p:sldId id="318" r:id="rId15"/>
    <p:sldId id="31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93" autoAdjust="0"/>
    <p:restoredTop sz="94660"/>
  </p:normalViewPr>
  <p:slideViewPr>
    <p:cSldViewPr snapToGrid="0">
      <p:cViewPr varScale="1">
        <p:scale>
          <a:sx n="115" d="100"/>
          <a:sy n="115"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8A1D-3238-0D35-4F14-4A39B649A5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B15D74-EC81-47C3-ED61-ADFC0CB117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F2F84A-68EE-164C-3F0C-516B9BFB6227}"/>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2F5611ED-0F00-5777-DD2F-00392A56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56088B-41F1-A0F4-E106-8EE0E89A9CF7}"/>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2654881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051A0-F89D-B66E-3F29-8E107F4068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0387C-1BF8-BDC9-8CDC-95F41DA73F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1C08E4-C90C-6717-6A18-BCB0A05A3BC5}"/>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A74BB64E-72FA-AA39-0B89-272C357D8D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FCC2F8-3AF1-CD7C-8E13-16588FEF3AE5}"/>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6689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5CFC-1134-423F-A46D-BCE2FA4A85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794644-55BA-35C9-6A73-05CC8A3088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F169E1-783C-9502-905E-6638E87D961C}"/>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FF3B7999-187C-D8B5-6F3E-3797546F1D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CD73EB8-1F89-F75D-C631-E9592F4E2E97}"/>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2924475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A0047-23A7-44B5-3172-E4F898553A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E4696-DDD7-F794-D06B-1E1B1CFF90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545B2F-950F-B2C3-55AD-F8B5C418F6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F4AD0B-1531-FFFA-DB31-85C110FE82ED}"/>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6" name="Footer Placeholder 5">
            <a:extLst>
              <a:ext uri="{FF2B5EF4-FFF2-40B4-BE49-F238E27FC236}">
                <a16:creationId xmlns:a16="http://schemas.microsoft.com/office/drawing/2014/main" id="{C8E9ACE4-494D-60E2-69E8-2C9D56F6E8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4EDD8DD-15D7-033D-A505-9DA10A685AF9}"/>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2721487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D113-6890-7774-3450-456A016476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CB15CB-D6B8-942A-8B61-B5C611AB3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2A7C78-680F-FC79-2464-1274316892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60E7D5-D877-FA0E-0EA5-67EB236C11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3F0A96-655B-5024-E17D-AFCE78B4D2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316831-A44F-E7E8-6516-E5052C8A7154}"/>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8" name="Footer Placeholder 7">
            <a:extLst>
              <a:ext uri="{FF2B5EF4-FFF2-40B4-BE49-F238E27FC236}">
                <a16:creationId xmlns:a16="http://schemas.microsoft.com/office/drawing/2014/main" id="{BB68B587-6D42-D01A-648F-000F2CE4309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3182F7C-65A9-4197-7DE9-2A595E883E69}"/>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362943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6A46C-C3D3-9295-9DBF-134F9369E6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89C539-E6B6-4B65-F021-46F8E599AEA3}"/>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4" name="Footer Placeholder 3">
            <a:extLst>
              <a:ext uri="{FF2B5EF4-FFF2-40B4-BE49-F238E27FC236}">
                <a16:creationId xmlns:a16="http://schemas.microsoft.com/office/drawing/2014/main" id="{B978C343-D29C-4A2B-5F45-35D5B6ED4BA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DC24130-EFF3-6BD0-621C-533F266733BD}"/>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366370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0F70B3-7482-0BAE-778E-EF257C94FFE0}"/>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3" name="Footer Placeholder 2">
            <a:extLst>
              <a:ext uri="{FF2B5EF4-FFF2-40B4-BE49-F238E27FC236}">
                <a16:creationId xmlns:a16="http://schemas.microsoft.com/office/drawing/2014/main" id="{9B32FF9B-B90C-B368-1A59-9BF62F4A5E5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08C7FBD-AE4B-38CE-4D15-F497B76D73A5}"/>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4080522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BDCF6-8CB3-6ADC-24D4-5FF70018A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310B65-DEC2-D856-83BF-0CC43F103C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CB9684-B16E-2851-60A5-830B78C75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3DB0C2-4DE1-0F27-527E-EE8F98357B70}"/>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6" name="Footer Placeholder 5">
            <a:extLst>
              <a:ext uri="{FF2B5EF4-FFF2-40B4-BE49-F238E27FC236}">
                <a16:creationId xmlns:a16="http://schemas.microsoft.com/office/drawing/2014/main" id="{76474359-881C-500C-C235-51B1D1D87B1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405DBF1-BB4A-6E9E-D137-1F33BDB4A367}"/>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1283540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DB7C-847D-3C6C-2F35-7DD2D9199E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EB4BB1-AD0D-14B8-01A3-DF673B61D9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167998A-5FC0-2C14-E3D5-CF9E2E4E7B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D6E190-8669-2E70-2CBE-7A0E9D62AE33}"/>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6" name="Footer Placeholder 5">
            <a:extLst>
              <a:ext uri="{FF2B5EF4-FFF2-40B4-BE49-F238E27FC236}">
                <a16:creationId xmlns:a16="http://schemas.microsoft.com/office/drawing/2014/main" id="{6EB18D36-CF0B-7DDB-24A1-EBF6F174E13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D74B16-8594-0CDA-AA19-917A814A4B03}"/>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3675594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41D28-2D8F-BA34-3DB9-83D785E521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582B06-7E18-E103-0ED6-6602257549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547720-4EA9-CC71-47FE-7091A5855B5E}"/>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E0E5BB9A-3931-7FD6-7181-BF5FB03288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660443-2171-5BDD-15FA-BFA15D93D62E}"/>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3564869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DEE00-8317-16A2-BD69-5192FEB964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9AF18D-A10E-12A9-B235-EE9E723637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78A056-E3BB-16F6-BACB-28F904DD9A66}"/>
              </a:ext>
            </a:extLst>
          </p:cNvPr>
          <p:cNvSpPr>
            <a:spLocks noGrp="1"/>
          </p:cNvSpPr>
          <p:nvPr>
            <p:ph type="dt" sz="half" idx="10"/>
          </p:nvPr>
        </p:nvSpPr>
        <p:spPr/>
        <p:txBody>
          <a:body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EC7F1901-DAC7-9154-B2EE-D43366149DD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9F6449-1C2C-90B0-4787-4CC5D361B4D8}"/>
              </a:ext>
            </a:extLst>
          </p:cNvPr>
          <p:cNvSpPr>
            <a:spLocks noGrp="1"/>
          </p:cNvSpPr>
          <p:nvPr>
            <p:ph type="sldNum" sz="quarter" idx="12"/>
          </p:nvPr>
        </p:nvSpPr>
        <p:spPr/>
        <p:txBody>
          <a:bodyPr/>
          <a:lstStyle/>
          <a:p>
            <a:fld id="{0564C7B0-CF50-48EE-900C-6B511351CEE9}" type="slidenum">
              <a:rPr lang="en-US" smtClean="0"/>
              <a:t>‹#›</a:t>
            </a:fld>
            <a:endParaRPr lang="en-US" dirty="0"/>
          </a:p>
        </p:txBody>
      </p:sp>
    </p:spTree>
    <p:extLst>
      <p:ext uri="{BB962C8B-B14F-4D97-AF65-F5344CB8AC3E}">
        <p14:creationId xmlns:p14="http://schemas.microsoft.com/office/powerpoint/2010/main" val="362401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E33C67-AB44-4F6A-86DD-9DB89EC6F5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22E5F1-0B45-7DF2-06F6-8E10882F0F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C3882-EA62-F9F0-16DF-37A438A63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A75279-8601-4338-B268-E8FF6583428F}" type="datetimeFigureOut">
              <a:rPr lang="en-US" smtClean="0"/>
              <a:t>11/12/25</a:t>
            </a:fld>
            <a:endParaRPr lang="en-US" dirty="0"/>
          </a:p>
        </p:txBody>
      </p:sp>
      <p:sp>
        <p:nvSpPr>
          <p:cNvPr id="5" name="Footer Placeholder 4">
            <a:extLst>
              <a:ext uri="{FF2B5EF4-FFF2-40B4-BE49-F238E27FC236}">
                <a16:creationId xmlns:a16="http://schemas.microsoft.com/office/drawing/2014/main" id="{E44EC0BA-29A2-F03B-123B-FAE74EB026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513F0D6-09AC-A596-CBF9-6B31BF12A6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64C7B0-CF50-48EE-900C-6B511351CEE9}" type="slidenum">
              <a:rPr lang="en-US" smtClean="0"/>
              <a:t>‹#›</a:t>
            </a:fld>
            <a:endParaRPr lang="en-US" dirty="0"/>
          </a:p>
        </p:txBody>
      </p:sp>
    </p:spTree>
    <p:extLst>
      <p:ext uri="{BB962C8B-B14F-4D97-AF65-F5344CB8AC3E}">
        <p14:creationId xmlns:p14="http://schemas.microsoft.com/office/powerpoint/2010/main" val="440623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mdpi.com/2076-3417/10/19/6631"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www.mdpi.com/2076-3417/10/19/6631"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mdpi.com/2076-3417/10/19/6631"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ommons.wikimedia.org/wiki/File:X-ray_of_normal_ankle_-_lateral.jpg/" TargetMode="External"/><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173" y="1125848"/>
            <a:ext cx="3857445" cy="5250411"/>
          </a:xfrm>
          <a:prstGeom prst="rect">
            <a:avLst/>
          </a:prstGeom>
        </p:spPr>
      </p:pic>
      <p:pic>
        <p:nvPicPr>
          <p:cNvPr id="3" name="Picture 2">
            <a:extLst>
              <a:ext uri="{FF2B5EF4-FFF2-40B4-BE49-F238E27FC236}">
                <a16:creationId xmlns:a16="http://schemas.microsoft.com/office/drawing/2014/main" id="{B3A3314B-5E61-8C42-B051-D1FD193E5382}"/>
              </a:ext>
            </a:extLst>
          </p:cNvPr>
          <p:cNvPicPr>
            <a:picLocks noChangeAspect="1"/>
          </p:cNvPicPr>
          <p:nvPr/>
        </p:nvPicPr>
        <p:blipFill>
          <a:blip r:embed="rId3"/>
          <a:stretch>
            <a:fillRect/>
          </a:stretch>
        </p:blipFill>
        <p:spPr>
          <a:xfrm>
            <a:off x="6650068" y="1101142"/>
            <a:ext cx="3886210" cy="4957543"/>
          </a:xfrm>
          <a:prstGeom prst="rect">
            <a:avLst/>
          </a:prstGeom>
        </p:spPr>
      </p:pic>
      <p:sp>
        <p:nvSpPr>
          <p:cNvPr id="5" name="Up Arrow 4">
            <a:extLst>
              <a:ext uri="{FF2B5EF4-FFF2-40B4-BE49-F238E27FC236}">
                <a16:creationId xmlns:a16="http://schemas.microsoft.com/office/drawing/2014/main" id="{33A908FF-8843-4349-A6C4-A22872FE1BEA}"/>
              </a:ext>
            </a:extLst>
          </p:cNvPr>
          <p:cNvSpPr/>
          <p:nvPr/>
        </p:nvSpPr>
        <p:spPr>
          <a:xfrm flipH="1">
            <a:off x="3661598" y="4890782"/>
            <a:ext cx="206038" cy="1345478"/>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309E8E1-DCF8-854F-9C11-F3AA4EDF5FC8}"/>
              </a:ext>
            </a:extLst>
          </p:cNvPr>
          <p:cNvSpPr/>
          <p:nvPr/>
        </p:nvSpPr>
        <p:spPr>
          <a:xfrm>
            <a:off x="2638741" y="753896"/>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3957843" y="5060003"/>
            <a:ext cx="1758751" cy="461665"/>
          </a:xfrm>
          <a:prstGeom prst="rect">
            <a:avLst/>
          </a:prstGeom>
          <a:solidFill>
            <a:schemeClr val="bg1">
              <a:alpha val="66000"/>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cxnSp>
        <p:nvCxnSpPr>
          <p:cNvPr id="10" name="Straight Arrow Connector 9">
            <a:extLst>
              <a:ext uri="{FF2B5EF4-FFF2-40B4-BE49-F238E27FC236}">
                <a16:creationId xmlns:a16="http://schemas.microsoft.com/office/drawing/2014/main" id="{F275D1DE-7223-4D1E-B452-D0E4152668D3}"/>
              </a:ext>
            </a:extLst>
          </p:cNvPr>
          <p:cNvCxnSpPr/>
          <p:nvPr/>
        </p:nvCxnSpPr>
        <p:spPr>
          <a:xfrm>
            <a:off x="8481270" y="2885813"/>
            <a:ext cx="0" cy="170080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B9DC081-9C74-4CF6-A69F-3AA717BAD37F}"/>
              </a:ext>
            </a:extLst>
          </p:cNvPr>
          <p:cNvCxnSpPr>
            <a:cxnSpLocks/>
          </p:cNvCxnSpPr>
          <p:nvPr/>
        </p:nvCxnSpPr>
        <p:spPr>
          <a:xfrm flipV="1">
            <a:off x="8348444" y="3394580"/>
            <a:ext cx="0" cy="1556807"/>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FEED6EC-33B2-4A22-9E5D-7C39464943EA}"/>
              </a:ext>
            </a:extLst>
          </p:cNvPr>
          <p:cNvSpPr txBox="1"/>
          <p:nvPr/>
        </p:nvSpPr>
        <p:spPr>
          <a:xfrm>
            <a:off x="8593173" y="3429000"/>
            <a:ext cx="911554" cy="461665"/>
          </a:xfrm>
          <a:prstGeom prst="rect">
            <a:avLst/>
          </a:prstGeom>
          <a:noFill/>
        </p:spPr>
        <p:txBody>
          <a:bodyPr wrap="square" rtlCol="0">
            <a:spAutoFit/>
          </a:bodyPr>
          <a:lstStyle/>
          <a:p>
            <a:r>
              <a:rPr lang="en-US" sz="2400" b="1" dirty="0">
                <a:solidFill>
                  <a:srgbClr val="0070C0"/>
                </a:solidFill>
              </a:rPr>
              <a:t>W</a:t>
            </a:r>
            <a:r>
              <a:rPr lang="en-US" sz="2400" b="1" baseline="-25000" dirty="0">
                <a:solidFill>
                  <a:srgbClr val="0070C0"/>
                </a:solidFill>
              </a:rPr>
              <a:t>body</a:t>
            </a:r>
          </a:p>
        </p:txBody>
      </p:sp>
      <p:sp>
        <p:nvSpPr>
          <p:cNvPr id="24" name="TextBox 23">
            <a:extLst>
              <a:ext uri="{FF2B5EF4-FFF2-40B4-BE49-F238E27FC236}">
                <a16:creationId xmlns:a16="http://schemas.microsoft.com/office/drawing/2014/main" id="{FC80BA40-F8B6-4584-A9E3-F26ECA7017AC}"/>
              </a:ext>
            </a:extLst>
          </p:cNvPr>
          <p:cNvSpPr txBox="1"/>
          <p:nvPr/>
        </p:nvSpPr>
        <p:spPr>
          <a:xfrm>
            <a:off x="6994753" y="3520222"/>
            <a:ext cx="961573" cy="461665"/>
          </a:xfrm>
          <a:prstGeom prst="rect">
            <a:avLst/>
          </a:prstGeom>
          <a:noFill/>
        </p:spPr>
        <p:txBody>
          <a:bodyPr wrap="square">
            <a:spAutoFit/>
          </a:bodyPr>
          <a:lstStyle/>
          <a:p>
            <a:r>
              <a:rPr lang="en-US" sz="2400" b="1" dirty="0">
                <a:solidFill>
                  <a:srgbClr val="00B050"/>
                </a:solidFill>
              </a:rPr>
              <a:t>n</a:t>
            </a:r>
            <a:r>
              <a:rPr lang="en-US" sz="2400" b="1" baseline="-25000" dirty="0">
                <a:solidFill>
                  <a:srgbClr val="00B050"/>
                </a:solidFill>
              </a:rPr>
              <a:t>floor</a:t>
            </a:r>
            <a:endParaRPr lang="en-US" sz="2400" b="1" dirty="0">
              <a:solidFill>
                <a:srgbClr val="00B050"/>
              </a:solidFill>
            </a:endParaRPr>
          </a:p>
        </p:txBody>
      </p:sp>
      <p:sp>
        <p:nvSpPr>
          <p:cNvPr id="11" name="TextBox 10">
            <a:extLst>
              <a:ext uri="{FF2B5EF4-FFF2-40B4-BE49-F238E27FC236}">
                <a16:creationId xmlns:a16="http://schemas.microsoft.com/office/drawing/2014/main" id="{7EA7C121-923B-A934-E088-9A290A875CCF}"/>
              </a:ext>
            </a:extLst>
          </p:cNvPr>
          <p:cNvSpPr txBox="1"/>
          <p:nvPr/>
        </p:nvSpPr>
        <p:spPr>
          <a:xfrm>
            <a:off x="310536" y="199150"/>
            <a:ext cx="2978823" cy="461665"/>
          </a:xfrm>
          <a:prstGeom prst="rect">
            <a:avLst/>
          </a:prstGeom>
          <a:noFill/>
        </p:spPr>
        <p:txBody>
          <a:bodyPr wrap="square" rtlCol="0">
            <a:spAutoFit/>
          </a:bodyPr>
          <a:lstStyle/>
          <a:p>
            <a:r>
              <a:rPr lang="en-US" sz="2400" dirty="0"/>
              <a:t>System: </a:t>
            </a:r>
            <a:r>
              <a:rPr lang="en-US" sz="2400" b="1" dirty="0"/>
              <a:t>Foot</a:t>
            </a:r>
          </a:p>
        </p:txBody>
      </p:sp>
      <p:sp>
        <p:nvSpPr>
          <p:cNvPr id="13" name="TextBox 12">
            <a:extLst>
              <a:ext uri="{FF2B5EF4-FFF2-40B4-BE49-F238E27FC236}">
                <a16:creationId xmlns:a16="http://schemas.microsoft.com/office/drawing/2014/main" id="{F723EAB8-79C4-F1AE-F79B-4AB4713ADC08}"/>
              </a:ext>
            </a:extLst>
          </p:cNvPr>
          <p:cNvSpPr txBox="1"/>
          <p:nvPr/>
        </p:nvSpPr>
        <p:spPr>
          <a:xfrm>
            <a:off x="152763" y="538542"/>
            <a:ext cx="2215229" cy="461665"/>
          </a:xfrm>
          <a:prstGeom prst="rect">
            <a:avLst/>
          </a:prstGeom>
          <a:noFill/>
        </p:spPr>
        <p:txBody>
          <a:bodyPr wrap="square" rtlCol="0">
            <a:spAutoFit/>
          </a:bodyPr>
          <a:lstStyle/>
          <a:p>
            <a:r>
              <a:rPr lang="en-US" sz="2400" dirty="0"/>
              <a:t>Joint Axis: </a:t>
            </a:r>
            <a:r>
              <a:rPr lang="en-US" sz="2400" b="1" dirty="0"/>
              <a:t>ankle</a:t>
            </a:r>
          </a:p>
        </p:txBody>
      </p:sp>
      <p:sp>
        <p:nvSpPr>
          <p:cNvPr id="9" name="TextBox 8">
            <a:extLst>
              <a:ext uri="{FF2B5EF4-FFF2-40B4-BE49-F238E27FC236}">
                <a16:creationId xmlns:a16="http://schemas.microsoft.com/office/drawing/2014/main" id="{68F6E16C-0E95-C224-280A-74A289659102}"/>
              </a:ext>
            </a:extLst>
          </p:cNvPr>
          <p:cNvSpPr txBox="1"/>
          <p:nvPr/>
        </p:nvSpPr>
        <p:spPr>
          <a:xfrm>
            <a:off x="6169124" y="199150"/>
            <a:ext cx="5098653" cy="830997"/>
          </a:xfrm>
          <a:prstGeom prst="rect">
            <a:avLst/>
          </a:prstGeom>
          <a:noFill/>
        </p:spPr>
        <p:txBody>
          <a:bodyPr wrap="square" rtlCol="0">
            <a:spAutoFit/>
          </a:bodyPr>
          <a:lstStyle/>
          <a:p>
            <a:r>
              <a:rPr lang="en-US" sz="2400" dirty="0"/>
              <a:t>Assume foot not moving nor rotating, so forces and torques balance</a:t>
            </a:r>
          </a:p>
        </p:txBody>
      </p:sp>
    </p:spTree>
    <p:extLst>
      <p:ext uri="{BB962C8B-B14F-4D97-AF65-F5344CB8AC3E}">
        <p14:creationId xmlns:p14="http://schemas.microsoft.com/office/powerpoint/2010/main" val="2394406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173" y="1125848"/>
            <a:ext cx="3857445" cy="5250411"/>
          </a:xfrm>
          <a:prstGeom prst="rect">
            <a:avLst/>
          </a:prstGeom>
        </p:spPr>
      </p:pic>
      <p:sp>
        <p:nvSpPr>
          <p:cNvPr id="5" name="Up Arrow 4">
            <a:extLst>
              <a:ext uri="{FF2B5EF4-FFF2-40B4-BE49-F238E27FC236}">
                <a16:creationId xmlns:a16="http://schemas.microsoft.com/office/drawing/2014/main" id="{33A908FF-8843-4349-A6C4-A22872FE1BEA}"/>
              </a:ext>
            </a:extLst>
          </p:cNvPr>
          <p:cNvSpPr/>
          <p:nvPr/>
        </p:nvSpPr>
        <p:spPr>
          <a:xfrm flipH="1">
            <a:off x="3661598" y="4890782"/>
            <a:ext cx="206038" cy="1345478"/>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309E8E1-DCF8-854F-9C11-F3AA4EDF5FC8}"/>
              </a:ext>
            </a:extLst>
          </p:cNvPr>
          <p:cNvSpPr/>
          <p:nvPr/>
        </p:nvSpPr>
        <p:spPr>
          <a:xfrm>
            <a:off x="2116985" y="4855985"/>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3957843" y="5060003"/>
            <a:ext cx="1758751" cy="461665"/>
          </a:xfrm>
          <a:prstGeom prst="rect">
            <a:avLst/>
          </a:prstGeom>
          <a:solidFill>
            <a:schemeClr val="bg1">
              <a:alpha val="66000"/>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4" name="TextBox 3">
            <a:extLst>
              <a:ext uri="{FF2B5EF4-FFF2-40B4-BE49-F238E27FC236}">
                <a16:creationId xmlns:a16="http://schemas.microsoft.com/office/drawing/2014/main" id="{908AE7D7-F394-E65E-EA4F-AB33303FE4EB}"/>
              </a:ext>
            </a:extLst>
          </p:cNvPr>
          <p:cNvSpPr txBox="1"/>
          <p:nvPr/>
        </p:nvSpPr>
        <p:spPr>
          <a:xfrm>
            <a:off x="820379" y="304396"/>
            <a:ext cx="11008392" cy="461665"/>
          </a:xfrm>
          <a:prstGeom prst="rect">
            <a:avLst/>
          </a:prstGeom>
          <a:noFill/>
        </p:spPr>
        <p:txBody>
          <a:bodyPr wrap="square" rtlCol="0">
            <a:spAutoFit/>
          </a:bodyPr>
          <a:lstStyle/>
          <a:p>
            <a:r>
              <a:rPr lang="en-US" sz="2400" dirty="0"/>
              <a:t>Drag outline to show torque rotation direction the floor force exerts on the foot,</a:t>
            </a:r>
            <a:endParaRPr lang="en-US" sz="2400" b="1" dirty="0">
              <a:solidFill>
                <a:srgbClr val="00B050"/>
              </a:solidFill>
            </a:endParaRPr>
          </a:p>
        </p:txBody>
      </p:sp>
      <p:sp>
        <p:nvSpPr>
          <p:cNvPr id="7" name="TextBox 6">
            <a:extLst>
              <a:ext uri="{FF2B5EF4-FFF2-40B4-BE49-F238E27FC236}">
                <a16:creationId xmlns:a16="http://schemas.microsoft.com/office/drawing/2014/main" id="{29B8196A-151D-068C-67BF-A141FDFFDEA4}"/>
              </a:ext>
            </a:extLst>
          </p:cNvPr>
          <p:cNvSpPr txBox="1"/>
          <p:nvPr/>
        </p:nvSpPr>
        <p:spPr>
          <a:xfrm>
            <a:off x="2004551" y="5469003"/>
            <a:ext cx="1704932" cy="369332"/>
          </a:xfrm>
          <a:prstGeom prst="rect">
            <a:avLst/>
          </a:prstGeom>
          <a:noFill/>
        </p:spPr>
        <p:txBody>
          <a:bodyPr wrap="square" rtlCol="0">
            <a:spAutoFit/>
          </a:bodyPr>
          <a:lstStyle/>
          <a:p>
            <a:r>
              <a:rPr lang="en-US" b="1" dirty="0">
                <a:solidFill>
                  <a:srgbClr val="00B050"/>
                </a:solidFill>
              </a:rPr>
              <a:t>Dorsiflexion</a:t>
            </a:r>
          </a:p>
        </p:txBody>
      </p:sp>
      <p:pic>
        <p:nvPicPr>
          <p:cNvPr id="8" name="Picture 7">
            <a:extLst>
              <a:ext uri="{FF2B5EF4-FFF2-40B4-BE49-F238E27FC236}">
                <a16:creationId xmlns:a16="http://schemas.microsoft.com/office/drawing/2014/main" id="{28E38044-C5C4-3EA9-8EF6-8F4B7AD4F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5021" y="1125847"/>
            <a:ext cx="3857445" cy="5250411"/>
          </a:xfrm>
          <a:prstGeom prst="rect">
            <a:avLst/>
          </a:prstGeom>
        </p:spPr>
      </p:pic>
      <p:sp>
        <p:nvSpPr>
          <p:cNvPr id="14" name="Up Arrow 4">
            <a:extLst>
              <a:ext uri="{FF2B5EF4-FFF2-40B4-BE49-F238E27FC236}">
                <a16:creationId xmlns:a16="http://schemas.microsoft.com/office/drawing/2014/main" id="{7131E312-0162-6DEF-D023-351FD939B2B7}"/>
              </a:ext>
            </a:extLst>
          </p:cNvPr>
          <p:cNvSpPr/>
          <p:nvPr/>
        </p:nvSpPr>
        <p:spPr>
          <a:xfrm flipH="1">
            <a:off x="8501612" y="4796264"/>
            <a:ext cx="206038" cy="1345478"/>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urved Right Arrow 19">
            <a:extLst>
              <a:ext uri="{FF2B5EF4-FFF2-40B4-BE49-F238E27FC236}">
                <a16:creationId xmlns:a16="http://schemas.microsoft.com/office/drawing/2014/main" id="{E3BA8714-C432-8B18-5341-5B9E1C95CFA4}"/>
              </a:ext>
            </a:extLst>
          </p:cNvPr>
          <p:cNvSpPr/>
          <p:nvPr/>
        </p:nvSpPr>
        <p:spPr>
          <a:xfrm rot="10800000">
            <a:off x="3295419" y="5217576"/>
            <a:ext cx="431155" cy="1518470"/>
          </a:xfrm>
          <a:prstGeom prst="curv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Curved Left Arrow 30">
            <a:extLst>
              <a:ext uri="{FF2B5EF4-FFF2-40B4-BE49-F238E27FC236}">
                <a16:creationId xmlns:a16="http://schemas.microsoft.com/office/drawing/2014/main" id="{0F2591AB-271F-9057-0A51-B7B250DAF09E}"/>
              </a:ext>
            </a:extLst>
          </p:cNvPr>
          <p:cNvSpPr/>
          <p:nvPr/>
        </p:nvSpPr>
        <p:spPr>
          <a:xfrm rot="21447452">
            <a:off x="8077903" y="5213994"/>
            <a:ext cx="498992" cy="1633742"/>
          </a:xfrm>
          <a:prstGeom prst="curvedLeftArrow">
            <a:avLst/>
          </a:prstGeom>
          <a:solidFill>
            <a:srgbClr val="00B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TextBox 16">
            <a:extLst>
              <a:ext uri="{FF2B5EF4-FFF2-40B4-BE49-F238E27FC236}">
                <a16:creationId xmlns:a16="http://schemas.microsoft.com/office/drawing/2014/main" id="{19B4E454-C6B7-62E7-F7A4-C98CB07BC389}"/>
              </a:ext>
            </a:extLst>
          </p:cNvPr>
          <p:cNvSpPr txBox="1"/>
          <p:nvPr/>
        </p:nvSpPr>
        <p:spPr>
          <a:xfrm>
            <a:off x="6998099" y="5521668"/>
            <a:ext cx="1704932" cy="369332"/>
          </a:xfrm>
          <a:prstGeom prst="rect">
            <a:avLst/>
          </a:prstGeom>
          <a:noFill/>
        </p:spPr>
        <p:txBody>
          <a:bodyPr wrap="square" rtlCol="0">
            <a:spAutoFit/>
          </a:bodyPr>
          <a:lstStyle/>
          <a:p>
            <a:r>
              <a:rPr lang="en-US" b="1" dirty="0">
                <a:solidFill>
                  <a:srgbClr val="00B050"/>
                </a:solidFill>
              </a:rPr>
              <a:t>Plantarflexion</a:t>
            </a:r>
          </a:p>
        </p:txBody>
      </p:sp>
      <p:sp>
        <p:nvSpPr>
          <p:cNvPr id="18" name="Rounded Rectangle 49">
            <a:extLst>
              <a:ext uri="{FF2B5EF4-FFF2-40B4-BE49-F238E27FC236}">
                <a16:creationId xmlns:a16="http://schemas.microsoft.com/office/drawing/2014/main" id="{47FE0818-56FC-FFE6-3680-2F133D7C682B}"/>
              </a:ext>
            </a:extLst>
          </p:cNvPr>
          <p:cNvSpPr/>
          <p:nvPr/>
        </p:nvSpPr>
        <p:spPr>
          <a:xfrm>
            <a:off x="3193142" y="1126009"/>
            <a:ext cx="4331575" cy="5652595"/>
          </a:xfrm>
          <a:prstGeom prst="round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9252BCC-5585-8227-186F-173CE2E1ACDA}"/>
              </a:ext>
            </a:extLst>
          </p:cNvPr>
          <p:cNvSpPr/>
          <p:nvPr/>
        </p:nvSpPr>
        <p:spPr>
          <a:xfrm>
            <a:off x="7050587" y="4855985"/>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03250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08837E9-EF45-4104-D756-7F81F64C10AE}"/>
              </a:ext>
            </a:extLst>
          </p:cNvPr>
          <p:cNvGrpSpPr/>
          <p:nvPr/>
        </p:nvGrpSpPr>
        <p:grpSpPr>
          <a:xfrm>
            <a:off x="946165" y="1167588"/>
            <a:ext cx="3857445" cy="5335318"/>
            <a:chOff x="1039291" y="1100000"/>
            <a:chExt cx="3857445" cy="5335318"/>
          </a:xfrm>
        </p:grpSpPr>
        <p:pic>
          <p:nvPicPr>
            <p:cNvPr id="12" name="Picture 11">
              <a:extLst>
                <a:ext uri="{FF2B5EF4-FFF2-40B4-BE49-F238E27FC236}">
                  <a16:creationId xmlns:a16="http://schemas.microsoft.com/office/drawing/2014/main" id="{425FB30A-274D-4B54-02ED-2C758F24E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291" y="1100000"/>
              <a:ext cx="3857445" cy="5250411"/>
            </a:xfrm>
            <a:prstGeom prst="rect">
              <a:avLst/>
            </a:prstGeom>
          </p:spPr>
        </p:pic>
        <p:pic>
          <p:nvPicPr>
            <p:cNvPr id="13" name="Picture 12">
              <a:extLst>
                <a:ext uri="{FF2B5EF4-FFF2-40B4-BE49-F238E27FC236}">
                  <a16:creationId xmlns:a16="http://schemas.microsoft.com/office/drawing/2014/main" id="{ABFBC951-ED6F-19E5-88EE-EEC07D16B5EF}"/>
                </a:ext>
              </a:extLst>
            </p:cNvPr>
            <p:cNvPicPr>
              <a:picLocks noChangeAspect="1"/>
            </p:cNvPicPr>
            <p:nvPr/>
          </p:nvPicPr>
          <p:blipFill>
            <a:blip r:embed="rId3">
              <a:alphaModFix amt="50000"/>
            </a:blip>
            <a:stretch>
              <a:fillRect/>
            </a:stretch>
          </p:blipFill>
          <p:spPr>
            <a:xfrm rot="21398020">
              <a:off x="1261612" y="1537670"/>
              <a:ext cx="3013341" cy="4897648"/>
            </a:xfrm>
            <a:prstGeom prst="rect">
              <a:avLst/>
            </a:prstGeom>
          </p:spPr>
        </p:pic>
      </p:grpSp>
      <p:grpSp>
        <p:nvGrpSpPr>
          <p:cNvPr id="10" name="Group 9">
            <a:extLst>
              <a:ext uri="{FF2B5EF4-FFF2-40B4-BE49-F238E27FC236}">
                <a16:creationId xmlns:a16="http://schemas.microsoft.com/office/drawing/2014/main" id="{E5D1E99B-7E97-C263-0340-3C98B5646928}"/>
              </a:ext>
            </a:extLst>
          </p:cNvPr>
          <p:cNvGrpSpPr/>
          <p:nvPr/>
        </p:nvGrpSpPr>
        <p:grpSpPr>
          <a:xfrm>
            <a:off x="7463549" y="985078"/>
            <a:ext cx="3857445" cy="5335318"/>
            <a:chOff x="1039291" y="1100000"/>
            <a:chExt cx="3857445" cy="5335318"/>
          </a:xfrm>
        </p:grpSpPr>
        <p:pic>
          <p:nvPicPr>
            <p:cNvPr id="6" name="Picture 5">
              <a:extLst>
                <a:ext uri="{FF2B5EF4-FFF2-40B4-BE49-F238E27FC236}">
                  <a16:creationId xmlns:a16="http://schemas.microsoft.com/office/drawing/2014/main" id="{F7E890AF-EF2E-EF0E-96E3-161A67A17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291" y="1100000"/>
              <a:ext cx="3857445" cy="5250411"/>
            </a:xfrm>
            <a:prstGeom prst="rect">
              <a:avLst/>
            </a:prstGeom>
          </p:spPr>
        </p:pic>
        <p:pic>
          <p:nvPicPr>
            <p:cNvPr id="8" name="Picture 7">
              <a:extLst>
                <a:ext uri="{FF2B5EF4-FFF2-40B4-BE49-F238E27FC236}">
                  <a16:creationId xmlns:a16="http://schemas.microsoft.com/office/drawing/2014/main" id="{60048A41-46D7-C6E2-61CA-0B8ACF98FF6E}"/>
                </a:ext>
              </a:extLst>
            </p:cNvPr>
            <p:cNvPicPr>
              <a:picLocks noChangeAspect="1"/>
            </p:cNvPicPr>
            <p:nvPr/>
          </p:nvPicPr>
          <p:blipFill>
            <a:blip r:embed="rId3">
              <a:alphaModFix amt="50000"/>
            </a:blip>
            <a:stretch>
              <a:fillRect/>
            </a:stretch>
          </p:blipFill>
          <p:spPr>
            <a:xfrm rot="21398020">
              <a:off x="1261612" y="1537670"/>
              <a:ext cx="3013341" cy="4897648"/>
            </a:xfrm>
            <a:prstGeom prst="rect">
              <a:avLst/>
            </a:prstGeom>
          </p:spPr>
        </p:pic>
      </p:grpSp>
      <p:cxnSp>
        <p:nvCxnSpPr>
          <p:cNvPr id="3" name="Straight Arrow Connector 2">
            <a:extLst>
              <a:ext uri="{FF2B5EF4-FFF2-40B4-BE49-F238E27FC236}">
                <a16:creationId xmlns:a16="http://schemas.microsoft.com/office/drawing/2014/main" id="{8A4E2C8D-461A-F0AB-C0A3-DCA3631E8769}"/>
              </a:ext>
            </a:extLst>
          </p:cNvPr>
          <p:cNvCxnSpPr>
            <a:cxnSpLocks/>
          </p:cNvCxnSpPr>
          <p:nvPr/>
        </p:nvCxnSpPr>
        <p:spPr>
          <a:xfrm flipH="1" flipV="1">
            <a:off x="7738102" y="3972595"/>
            <a:ext cx="1859898" cy="141331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2C11E60D-AAA5-2E4D-AD6D-B66FE5BB0351}"/>
              </a:ext>
            </a:extLst>
          </p:cNvPr>
          <p:cNvCxnSpPr>
            <a:cxnSpLocks/>
          </p:cNvCxnSpPr>
          <p:nvPr/>
        </p:nvCxnSpPr>
        <p:spPr>
          <a:xfrm flipV="1">
            <a:off x="1643241" y="3592263"/>
            <a:ext cx="387447" cy="1700351"/>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24B519-51D7-D727-0B8C-03F33D50B267}"/>
              </a:ext>
            </a:extLst>
          </p:cNvPr>
          <p:cNvSpPr txBox="1"/>
          <p:nvPr/>
        </p:nvSpPr>
        <p:spPr>
          <a:xfrm>
            <a:off x="1324330" y="-26166"/>
            <a:ext cx="7682335" cy="461665"/>
          </a:xfrm>
          <a:prstGeom prst="rect">
            <a:avLst/>
          </a:prstGeom>
          <a:noFill/>
        </p:spPr>
        <p:txBody>
          <a:bodyPr wrap="square" rtlCol="0">
            <a:spAutoFit/>
          </a:bodyPr>
          <a:lstStyle/>
          <a:p>
            <a:r>
              <a:rPr lang="en-US" sz="2400" b="1" dirty="0"/>
              <a:t>Which muscle provides counter-torque to floor force?</a:t>
            </a:r>
          </a:p>
        </p:txBody>
      </p:sp>
      <p:sp>
        <p:nvSpPr>
          <p:cNvPr id="16" name="TextBox 15">
            <a:extLst>
              <a:ext uri="{FF2B5EF4-FFF2-40B4-BE49-F238E27FC236}">
                <a16:creationId xmlns:a16="http://schemas.microsoft.com/office/drawing/2014/main" id="{8050F6D1-E2E1-D4C5-7F51-7640EE144248}"/>
              </a:ext>
            </a:extLst>
          </p:cNvPr>
          <p:cNvSpPr txBox="1"/>
          <p:nvPr/>
        </p:nvSpPr>
        <p:spPr>
          <a:xfrm>
            <a:off x="485889" y="3870017"/>
            <a:ext cx="1351075" cy="369332"/>
          </a:xfrm>
          <a:prstGeom prst="rect">
            <a:avLst/>
          </a:prstGeom>
          <a:noFill/>
        </p:spPr>
        <p:txBody>
          <a:bodyPr wrap="none" rtlCol="0">
            <a:spAutoFit/>
          </a:bodyPr>
          <a:lstStyle/>
          <a:p>
            <a:r>
              <a:rPr lang="en-US" b="1" dirty="0">
                <a:solidFill>
                  <a:srgbClr val="FF0000"/>
                </a:solidFill>
              </a:rPr>
              <a:t>Achilles/calf</a:t>
            </a:r>
          </a:p>
        </p:txBody>
      </p:sp>
      <p:sp>
        <p:nvSpPr>
          <p:cNvPr id="17" name="TextBox 16">
            <a:extLst>
              <a:ext uri="{FF2B5EF4-FFF2-40B4-BE49-F238E27FC236}">
                <a16:creationId xmlns:a16="http://schemas.microsoft.com/office/drawing/2014/main" id="{6D3FE366-F85A-9C58-0FC7-6E739F688F38}"/>
              </a:ext>
            </a:extLst>
          </p:cNvPr>
          <p:cNvSpPr txBox="1"/>
          <p:nvPr/>
        </p:nvSpPr>
        <p:spPr>
          <a:xfrm>
            <a:off x="7163702" y="4214970"/>
            <a:ext cx="851515" cy="369332"/>
          </a:xfrm>
          <a:prstGeom prst="rect">
            <a:avLst/>
          </a:prstGeom>
          <a:noFill/>
        </p:spPr>
        <p:txBody>
          <a:bodyPr wrap="none" rtlCol="0">
            <a:spAutoFit/>
          </a:bodyPr>
          <a:lstStyle/>
          <a:p>
            <a:r>
              <a:rPr lang="en-US" b="1" dirty="0">
                <a:solidFill>
                  <a:srgbClr val="FF0000"/>
                </a:solidFill>
              </a:rPr>
              <a:t>Tibialis</a:t>
            </a:r>
          </a:p>
        </p:txBody>
      </p:sp>
      <p:sp>
        <p:nvSpPr>
          <p:cNvPr id="19" name="Oval 18">
            <a:extLst>
              <a:ext uri="{FF2B5EF4-FFF2-40B4-BE49-F238E27FC236}">
                <a16:creationId xmlns:a16="http://schemas.microsoft.com/office/drawing/2014/main" id="{CB942BB0-A757-F12B-C00B-D3EBD28862EE}"/>
              </a:ext>
            </a:extLst>
          </p:cNvPr>
          <p:cNvSpPr/>
          <p:nvPr/>
        </p:nvSpPr>
        <p:spPr>
          <a:xfrm>
            <a:off x="8478117" y="4830130"/>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377D4D76-FBBA-EB01-8E8C-72AE44BE5428}"/>
              </a:ext>
            </a:extLst>
          </p:cNvPr>
          <p:cNvSpPr txBox="1"/>
          <p:nvPr/>
        </p:nvSpPr>
        <p:spPr>
          <a:xfrm>
            <a:off x="2907408" y="6350318"/>
            <a:ext cx="8413586" cy="461665"/>
          </a:xfrm>
          <a:prstGeom prst="rect">
            <a:avLst/>
          </a:prstGeom>
          <a:noFill/>
        </p:spPr>
        <p:txBody>
          <a:bodyPr wrap="square" rtlCol="0">
            <a:spAutoFit/>
          </a:bodyPr>
          <a:lstStyle/>
          <a:p>
            <a:r>
              <a:rPr lang="en-US" sz="2400" b="1" dirty="0">
                <a:solidFill>
                  <a:srgbClr val="C00000"/>
                </a:solidFill>
              </a:rPr>
              <a:t>Drag</a:t>
            </a:r>
            <a:r>
              <a:rPr lang="en-US" sz="2400" dirty="0">
                <a:solidFill>
                  <a:srgbClr val="C00000"/>
                </a:solidFill>
              </a:rPr>
              <a:t> to show the torque direction each </a:t>
            </a:r>
            <a:r>
              <a:rPr lang="en-US" sz="2400" dirty="0">
                <a:solidFill>
                  <a:srgbClr val="FF0000"/>
                </a:solidFill>
              </a:rPr>
              <a:t>muscle</a:t>
            </a:r>
            <a:r>
              <a:rPr lang="en-US" sz="2400" dirty="0">
                <a:solidFill>
                  <a:srgbClr val="C00000"/>
                </a:solidFill>
              </a:rPr>
              <a:t> </a:t>
            </a:r>
            <a:r>
              <a:rPr lang="en-US" sz="2400" dirty="0">
                <a:solidFill>
                  <a:srgbClr val="FF0000"/>
                </a:solidFill>
              </a:rPr>
              <a:t>forces</a:t>
            </a:r>
            <a:r>
              <a:rPr lang="en-US" sz="2400" dirty="0">
                <a:solidFill>
                  <a:srgbClr val="00B050"/>
                </a:solidFill>
              </a:rPr>
              <a:t> </a:t>
            </a:r>
            <a:r>
              <a:rPr lang="en-US" sz="2400" dirty="0">
                <a:solidFill>
                  <a:srgbClr val="C00000"/>
                </a:solidFill>
              </a:rPr>
              <a:t>exerts?</a:t>
            </a:r>
          </a:p>
        </p:txBody>
      </p:sp>
      <p:grpSp>
        <p:nvGrpSpPr>
          <p:cNvPr id="28" name="Group 27">
            <a:extLst>
              <a:ext uri="{FF2B5EF4-FFF2-40B4-BE49-F238E27FC236}">
                <a16:creationId xmlns:a16="http://schemas.microsoft.com/office/drawing/2014/main" id="{4C18813B-6AED-50EE-E409-842ACFA64F3D}"/>
              </a:ext>
            </a:extLst>
          </p:cNvPr>
          <p:cNvGrpSpPr/>
          <p:nvPr/>
        </p:nvGrpSpPr>
        <p:grpSpPr>
          <a:xfrm>
            <a:off x="5311264" y="2618355"/>
            <a:ext cx="1507331" cy="1463848"/>
            <a:chOff x="4278582" y="2647622"/>
            <a:chExt cx="1507331" cy="1463848"/>
          </a:xfrm>
        </p:grpSpPr>
        <p:sp>
          <p:nvSpPr>
            <p:cNvPr id="30" name="Arc 29">
              <a:extLst>
                <a:ext uri="{FF2B5EF4-FFF2-40B4-BE49-F238E27FC236}">
                  <a16:creationId xmlns:a16="http://schemas.microsoft.com/office/drawing/2014/main" id="{0E18BD05-0339-C249-4319-77BF0973A576}"/>
                </a:ext>
              </a:extLst>
            </p:cNvPr>
            <p:cNvSpPr/>
            <p:nvPr/>
          </p:nvSpPr>
          <p:spPr>
            <a:xfrm rot="2309594">
              <a:off x="4278582" y="2647622"/>
              <a:ext cx="1507331" cy="1463848"/>
            </a:xfrm>
            <a:prstGeom prst="arc">
              <a:avLst>
                <a:gd name="adj1" fmla="val 17185535"/>
                <a:gd name="adj2" fmla="val 0"/>
              </a:avLst>
            </a:prstGeom>
            <a:ln w="57150">
              <a:solidFill>
                <a:srgbClr val="FF0000"/>
              </a:solidFill>
              <a:headEnd type="triangl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1" name="TextBox 30">
              <a:extLst>
                <a:ext uri="{FF2B5EF4-FFF2-40B4-BE49-F238E27FC236}">
                  <a16:creationId xmlns:a16="http://schemas.microsoft.com/office/drawing/2014/main" id="{76032BCA-1C7C-B42E-E7A5-BE4CD41F40B7}"/>
                </a:ext>
              </a:extLst>
            </p:cNvPr>
            <p:cNvSpPr txBox="1"/>
            <p:nvPr/>
          </p:nvSpPr>
          <p:spPr>
            <a:xfrm>
              <a:off x="4394818" y="3242248"/>
              <a:ext cx="1242263" cy="369332"/>
            </a:xfrm>
            <a:prstGeom prst="rect">
              <a:avLst/>
            </a:prstGeom>
            <a:noFill/>
          </p:spPr>
          <p:txBody>
            <a:bodyPr wrap="none" rtlCol="0">
              <a:spAutoFit/>
            </a:bodyPr>
            <a:lstStyle/>
            <a:p>
              <a:r>
                <a:rPr lang="en-US" b="1" dirty="0">
                  <a:solidFill>
                    <a:srgbClr val="FF0000"/>
                  </a:solidFill>
                </a:rPr>
                <a:t>Doriflexion</a:t>
              </a:r>
            </a:p>
          </p:txBody>
        </p:sp>
      </p:grpSp>
      <p:grpSp>
        <p:nvGrpSpPr>
          <p:cNvPr id="27" name="Group 26">
            <a:extLst>
              <a:ext uri="{FF2B5EF4-FFF2-40B4-BE49-F238E27FC236}">
                <a16:creationId xmlns:a16="http://schemas.microsoft.com/office/drawing/2014/main" id="{0D15F5C2-EF0D-CDAF-5A23-78D80F0FE248}"/>
              </a:ext>
            </a:extLst>
          </p:cNvPr>
          <p:cNvGrpSpPr/>
          <p:nvPr/>
        </p:nvGrpSpPr>
        <p:grpSpPr>
          <a:xfrm>
            <a:off x="5128975" y="4344391"/>
            <a:ext cx="1689342" cy="1507331"/>
            <a:chOff x="4849012" y="4334765"/>
            <a:chExt cx="1689342" cy="1507331"/>
          </a:xfrm>
        </p:grpSpPr>
        <p:sp>
          <p:nvSpPr>
            <p:cNvPr id="29" name="Arc 28">
              <a:extLst>
                <a:ext uri="{FF2B5EF4-FFF2-40B4-BE49-F238E27FC236}">
                  <a16:creationId xmlns:a16="http://schemas.microsoft.com/office/drawing/2014/main" id="{48B0A6D4-0AC8-0101-EBAB-907DFE86042F}"/>
                </a:ext>
              </a:extLst>
            </p:cNvPr>
            <p:cNvSpPr/>
            <p:nvPr/>
          </p:nvSpPr>
          <p:spPr>
            <a:xfrm rot="3002351">
              <a:off x="5052764" y="4356507"/>
              <a:ext cx="1507331" cy="1463848"/>
            </a:xfrm>
            <a:prstGeom prst="arc">
              <a:avLst>
                <a:gd name="adj1" fmla="val 17185535"/>
                <a:gd name="adj2" fmla="val 0"/>
              </a:avLst>
            </a:prstGeom>
            <a:ln w="57150">
              <a:solidFill>
                <a:srgbClr val="FF0000"/>
              </a:solidFill>
              <a:headEnd type="none"/>
              <a:tailEnd type="triangle" w="lg"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 name="TextBox 31">
              <a:extLst>
                <a:ext uri="{FF2B5EF4-FFF2-40B4-BE49-F238E27FC236}">
                  <a16:creationId xmlns:a16="http://schemas.microsoft.com/office/drawing/2014/main" id="{C51E1EB7-A8B6-11CD-4AA4-3836C4D6619B}"/>
                </a:ext>
              </a:extLst>
            </p:cNvPr>
            <p:cNvSpPr txBox="1"/>
            <p:nvPr/>
          </p:nvSpPr>
          <p:spPr>
            <a:xfrm>
              <a:off x="4849012" y="4913312"/>
              <a:ext cx="1576137" cy="369332"/>
            </a:xfrm>
            <a:prstGeom prst="rect">
              <a:avLst/>
            </a:prstGeom>
            <a:noFill/>
          </p:spPr>
          <p:txBody>
            <a:bodyPr wrap="none" rtlCol="0">
              <a:spAutoFit/>
            </a:bodyPr>
            <a:lstStyle/>
            <a:p>
              <a:r>
                <a:rPr lang="en-US" b="1" dirty="0">
                  <a:solidFill>
                    <a:srgbClr val="FF0000"/>
                  </a:solidFill>
                </a:rPr>
                <a:t>Plantar flexion</a:t>
              </a:r>
            </a:p>
          </p:txBody>
        </p:sp>
      </p:grpSp>
      <p:sp>
        <p:nvSpPr>
          <p:cNvPr id="33" name="TextBox 32">
            <a:extLst>
              <a:ext uri="{FF2B5EF4-FFF2-40B4-BE49-F238E27FC236}">
                <a16:creationId xmlns:a16="http://schemas.microsoft.com/office/drawing/2014/main" id="{6BA29EBE-F764-634A-9108-EF5DE2413E74}"/>
              </a:ext>
            </a:extLst>
          </p:cNvPr>
          <p:cNvSpPr txBox="1"/>
          <p:nvPr/>
        </p:nvSpPr>
        <p:spPr>
          <a:xfrm>
            <a:off x="3631876" y="428260"/>
            <a:ext cx="1746312" cy="461665"/>
          </a:xfrm>
          <a:prstGeom prst="rect">
            <a:avLst/>
          </a:prstGeom>
          <a:noFill/>
        </p:spPr>
        <p:txBody>
          <a:bodyPr wrap="none" rtlCol="0">
            <a:spAutoFit/>
          </a:bodyPr>
          <a:lstStyle/>
          <a:p>
            <a:r>
              <a:rPr lang="en-US" sz="2400" b="1" dirty="0">
                <a:solidFill>
                  <a:srgbClr val="FF0000"/>
                </a:solidFill>
              </a:rPr>
              <a:t>Achilles/calf</a:t>
            </a:r>
          </a:p>
        </p:txBody>
      </p:sp>
      <p:sp>
        <p:nvSpPr>
          <p:cNvPr id="34" name="TextBox 33">
            <a:extLst>
              <a:ext uri="{FF2B5EF4-FFF2-40B4-BE49-F238E27FC236}">
                <a16:creationId xmlns:a16="http://schemas.microsoft.com/office/drawing/2014/main" id="{221A5830-F00E-668E-909A-96A9BFE43BDF}"/>
              </a:ext>
            </a:extLst>
          </p:cNvPr>
          <p:cNvSpPr txBox="1"/>
          <p:nvPr/>
        </p:nvSpPr>
        <p:spPr>
          <a:xfrm>
            <a:off x="5973646" y="435516"/>
            <a:ext cx="1079142" cy="461665"/>
          </a:xfrm>
          <a:prstGeom prst="rect">
            <a:avLst/>
          </a:prstGeom>
          <a:noFill/>
        </p:spPr>
        <p:txBody>
          <a:bodyPr wrap="none" rtlCol="0">
            <a:spAutoFit/>
          </a:bodyPr>
          <a:lstStyle/>
          <a:p>
            <a:r>
              <a:rPr lang="en-US" sz="2400" b="1" dirty="0">
                <a:solidFill>
                  <a:srgbClr val="FF0000"/>
                </a:solidFill>
              </a:rPr>
              <a:t>Tibialis</a:t>
            </a:r>
          </a:p>
        </p:txBody>
      </p:sp>
      <p:sp>
        <p:nvSpPr>
          <p:cNvPr id="2" name="Rectangle 1">
            <a:extLst>
              <a:ext uri="{FF2B5EF4-FFF2-40B4-BE49-F238E27FC236}">
                <a16:creationId xmlns:a16="http://schemas.microsoft.com/office/drawing/2014/main" id="{B01CBF65-6B71-2BC8-C2E5-E4695C80D407}"/>
              </a:ext>
            </a:extLst>
          </p:cNvPr>
          <p:cNvSpPr/>
          <p:nvPr/>
        </p:nvSpPr>
        <p:spPr>
          <a:xfrm>
            <a:off x="7160490" y="405594"/>
            <a:ext cx="1877230" cy="4616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llout: Left Arrow 4">
            <a:extLst>
              <a:ext uri="{FF2B5EF4-FFF2-40B4-BE49-F238E27FC236}">
                <a16:creationId xmlns:a16="http://schemas.microsoft.com/office/drawing/2014/main" id="{9B37948E-76AD-4D28-0C83-5C586214A47C}"/>
              </a:ext>
            </a:extLst>
          </p:cNvPr>
          <p:cNvSpPr/>
          <p:nvPr/>
        </p:nvSpPr>
        <p:spPr>
          <a:xfrm>
            <a:off x="9572423" y="283261"/>
            <a:ext cx="1828800" cy="629515"/>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to select </a:t>
            </a:r>
          </a:p>
        </p:txBody>
      </p:sp>
      <p:sp>
        <p:nvSpPr>
          <p:cNvPr id="26" name="Oval 25">
            <a:extLst>
              <a:ext uri="{FF2B5EF4-FFF2-40B4-BE49-F238E27FC236}">
                <a16:creationId xmlns:a16="http://schemas.microsoft.com/office/drawing/2014/main" id="{7B7AD0A5-A5B4-2853-DD4C-2589C2D48068}"/>
              </a:ext>
            </a:extLst>
          </p:cNvPr>
          <p:cNvSpPr/>
          <p:nvPr/>
        </p:nvSpPr>
        <p:spPr>
          <a:xfrm>
            <a:off x="1864649" y="4969565"/>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4807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pplsci 10 06631 g001">
            <a:extLst>
              <a:ext uri="{FF2B5EF4-FFF2-40B4-BE49-F238E27FC236}">
                <a16:creationId xmlns:a16="http://schemas.microsoft.com/office/drawing/2014/main" id="{118181F7-38FF-7A83-8F8A-24BC9AF12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3213"/>
            <a:ext cx="12192000" cy="62499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92D7535-7FB5-86B9-60ED-0032EFEE2B13}"/>
              </a:ext>
            </a:extLst>
          </p:cNvPr>
          <p:cNvSpPr txBox="1"/>
          <p:nvPr/>
        </p:nvSpPr>
        <p:spPr>
          <a:xfrm>
            <a:off x="3135427" y="6322367"/>
            <a:ext cx="7252138" cy="461665"/>
          </a:xfrm>
          <a:prstGeom prst="rect">
            <a:avLst/>
          </a:prstGeom>
          <a:noFill/>
        </p:spPr>
        <p:txBody>
          <a:bodyPr wrap="square" rtlCol="0">
            <a:spAutoFit/>
          </a:bodyPr>
          <a:lstStyle/>
          <a:p>
            <a:r>
              <a:rPr lang="en-US" sz="2400" b="1" dirty="0">
                <a:solidFill>
                  <a:srgbClr val="0070C0"/>
                </a:solidFill>
              </a:rPr>
              <a:t>Moment arm is another term for lever arm</a:t>
            </a:r>
          </a:p>
        </p:txBody>
      </p:sp>
      <p:sp>
        <p:nvSpPr>
          <p:cNvPr id="3" name="TextBox 2">
            <a:extLst>
              <a:ext uri="{FF2B5EF4-FFF2-40B4-BE49-F238E27FC236}">
                <a16:creationId xmlns:a16="http://schemas.microsoft.com/office/drawing/2014/main" id="{D6584013-2E89-49CD-633A-46931C205FCE}"/>
              </a:ext>
            </a:extLst>
          </p:cNvPr>
          <p:cNvSpPr txBox="1"/>
          <p:nvPr/>
        </p:nvSpPr>
        <p:spPr>
          <a:xfrm>
            <a:off x="8912155" y="6507033"/>
            <a:ext cx="3279845" cy="276999"/>
          </a:xfrm>
          <a:prstGeom prst="rect">
            <a:avLst/>
          </a:prstGeom>
          <a:noFill/>
        </p:spPr>
        <p:txBody>
          <a:bodyPr wrap="square">
            <a:spAutoFit/>
          </a:bodyPr>
          <a:lstStyle/>
          <a:p>
            <a:r>
              <a:rPr lang="en-US" sz="1200" dirty="0">
                <a:hlinkClick r:id="rId3"/>
              </a:rPr>
              <a:t>https://www.mdpi.com/2076-3417/10/19/6631</a:t>
            </a:r>
            <a:endParaRPr lang="en-US" sz="1200" dirty="0"/>
          </a:p>
        </p:txBody>
      </p:sp>
    </p:spTree>
    <p:extLst>
      <p:ext uri="{BB962C8B-B14F-4D97-AF65-F5344CB8AC3E}">
        <p14:creationId xmlns:p14="http://schemas.microsoft.com/office/powerpoint/2010/main" val="3459287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98DBB0-C80D-7A62-F1F9-F15AA40F5259}"/>
              </a:ext>
            </a:extLst>
          </p:cNvPr>
          <p:cNvSpPr txBox="1"/>
          <p:nvPr/>
        </p:nvSpPr>
        <p:spPr>
          <a:xfrm>
            <a:off x="371100" y="76253"/>
            <a:ext cx="10920199" cy="1846659"/>
          </a:xfrm>
          <a:prstGeom prst="rect">
            <a:avLst/>
          </a:prstGeom>
          <a:noFill/>
        </p:spPr>
        <p:txBody>
          <a:bodyPr wrap="square">
            <a:spAutoFit/>
          </a:bodyPr>
          <a:lstStyle/>
          <a:p>
            <a:pPr algn="ctr" fontAlgn="ctr"/>
            <a:r>
              <a:rPr lang="en-US" b="0" i="1" dirty="0">
                <a:solidFill>
                  <a:srgbClr val="222222"/>
                </a:solidFill>
                <a:effectLst/>
                <a:latin typeface="Arial" panose="020B0604020202020204" pitchFamily="34" charset="0"/>
              </a:rPr>
              <a:t>“Also, the ratio of the MA length/foot length was used to standardize the difference in foot size. Furthermore, in order to take the influence of body weight into account, the force applied to the Achilles tendon at the time of heel raise can be calculated as the rotational force around the ankle joint axis. Then, the force applied to the Achilles tendon, F, can be estimated by: </a:t>
            </a:r>
          </a:p>
          <a:p>
            <a:pPr algn="ctr" fontAlgn="ctr"/>
            <a:r>
              <a:rPr lang="en-US" b="0" i="1" dirty="0">
                <a:solidFill>
                  <a:srgbClr val="222222"/>
                </a:solidFill>
                <a:effectLst/>
                <a:latin typeface="Arial" panose="020B0604020202020204" pitchFamily="34" charset="0"/>
              </a:rPr>
              <a:t>  </a:t>
            </a:r>
            <a:r>
              <a:rPr lang="en-US" sz="2400" b="0" i="1" dirty="0">
                <a:solidFill>
                  <a:srgbClr val="222222"/>
                </a:solidFill>
                <a:effectLst/>
                <a:latin typeface="Arial" panose="020B0604020202020204" pitchFamily="34" charset="0"/>
              </a:rPr>
              <a:t>F = w × (L − MA)/MA</a:t>
            </a:r>
          </a:p>
          <a:p>
            <a:r>
              <a:rPr lang="en-US" b="0" i="1" dirty="0">
                <a:solidFill>
                  <a:srgbClr val="222222"/>
                </a:solidFill>
                <a:effectLst/>
                <a:latin typeface="Arial" panose="020B0604020202020204" pitchFamily="34" charset="0"/>
              </a:rPr>
              <a:t>where w is the body weight, MA is the Achilles tendon moment arm length, and L is the length of the sole”</a:t>
            </a:r>
            <a:endParaRPr lang="en-US" i="1" dirty="0"/>
          </a:p>
        </p:txBody>
      </p:sp>
      <p:pic>
        <p:nvPicPr>
          <p:cNvPr id="4098" name="Picture 2">
            <a:extLst>
              <a:ext uri="{FF2B5EF4-FFF2-40B4-BE49-F238E27FC236}">
                <a16:creationId xmlns:a16="http://schemas.microsoft.com/office/drawing/2014/main" id="{D958FE4C-0F23-D85B-9D1C-212B9F6A9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698" y="1802883"/>
            <a:ext cx="6088824" cy="4021361"/>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F6A5F40C-A503-699E-331D-EEB72320EF4C}"/>
              </a:ext>
            </a:extLst>
          </p:cNvPr>
          <p:cNvGrpSpPr/>
          <p:nvPr/>
        </p:nvGrpSpPr>
        <p:grpSpPr>
          <a:xfrm>
            <a:off x="6292522" y="1862898"/>
            <a:ext cx="5972653" cy="4021360"/>
            <a:chOff x="6292522" y="1862898"/>
            <a:chExt cx="5972653" cy="4021360"/>
          </a:xfrm>
        </p:grpSpPr>
        <p:grpSp>
          <p:nvGrpSpPr>
            <p:cNvPr id="5" name="Group 4">
              <a:extLst>
                <a:ext uri="{FF2B5EF4-FFF2-40B4-BE49-F238E27FC236}">
                  <a16:creationId xmlns:a16="http://schemas.microsoft.com/office/drawing/2014/main" id="{9F83A061-D5F9-EFAF-7339-83DB84C9D5EA}"/>
                </a:ext>
              </a:extLst>
            </p:cNvPr>
            <p:cNvGrpSpPr/>
            <p:nvPr/>
          </p:nvGrpSpPr>
          <p:grpSpPr>
            <a:xfrm>
              <a:off x="6292522" y="1862898"/>
              <a:ext cx="5972653" cy="4021360"/>
              <a:chOff x="6673246" y="2642006"/>
              <a:chExt cx="5395407" cy="3531539"/>
            </a:xfrm>
          </p:grpSpPr>
          <p:pic>
            <p:nvPicPr>
              <p:cNvPr id="4100" name="Picture 4" descr="Applsci 10 06631 g005 550">
                <a:extLst>
                  <a:ext uri="{FF2B5EF4-FFF2-40B4-BE49-F238E27FC236}">
                    <a16:creationId xmlns:a16="http://schemas.microsoft.com/office/drawing/2014/main" id="{F8EECFFA-79AD-E046-85B2-4289BA064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246" y="2642006"/>
                <a:ext cx="5395407" cy="3531539"/>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
                <a:extLst>
                  <a:ext uri="{FF2B5EF4-FFF2-40B4-BE49-F238E27FC236}">
                    <a16:creationId xmlns:a16="http://schemas.microsoft.com/office/drawing/2014/main" id="{D1A5E7ED-C751-AB78-A0FF-D163F63A65B3}"/>
                  </a:ext>
                </a:extLst>
              </p:cNvPr>
              <p:cNvSpPr/>
              <p:nvPr/>
            </p:nvSpPr>
            <p:spPr>
              <a:xfrm>
                <a:off x="7356764" y="5444837"/>
                <a:ext cx="197427" cy="477980"/>
              </a:xfrm>
              <a:prstGeom prst="roundRect">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5F551194-B4BF-6EA2-60F2-1E8C309BF014}"/>
                  </a:ext>
                </a:extLst>
              </p:cNvPr>
              <p:cNvSpPr/>
              <p:nvPr/>
            </p:nvSpPr>
            <p:spPr>
              <a:xfrm rot="5400000">
                <a:off x="7455617" y="5704749"/>
                <a:ext cx="197147" cy="238990"/>
              </a:xfrm>
              <a:prstGeom prst="roundRect">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sp>
          <p:nvSpPr>
            <p:cNvPr id="6" name="Up Arrow 5">
              <a:extLst>
                <a:ext uri="{FF2B5EF4-FFF2-40B4-BE49-F238E27FC236}">
                  <a16:creationId xmlns:a16="http://schemas.microsoft.com/office/drawing/2014/main" id="{60BB7BC3-6941-4A03-EDCF-46F7B8D2DC4A}"/>
                </a:ext>
              </a:extLst>
            </p:cNvPr>
            <p:cNvSpPr/>
            <p:nvPr/>
          </p:nvSpPr>
          <p:spPr>
            <a:xfrm>
              <a:off x="7133695" y="4747846"/>
              <a:ext cx="197427" cy="374074"/>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CBABBBAD-6BD0-B72D-3D25-93A0E572BFDE}"/>
              </a:ext>
            </a:extLst>
          </p:cNvPr>
          <p:cNvSpPr txBox="1"/>
          <p:nvPr/>
        </p:nvSpPr>
        <p:spPr>
          <a:xfrm>
            <a:off x="129656" y="5819188"/>
            <a:ext cx="6099462" cy="1015663"/>
          </a:xfrm>
          <a:prstGeom prst="rect">
            <a:avLst/>
          </a:prstGeom>
          <a:noFill/>
        </p:spPr>
        <p:txBody>
          <a:bodyPr wrap="square">
            <a:spAutoFit/>
          </a:bodyPr>
          <a:lstStyle/>
          <a:p>
            <a:r>
              <a:rPr lang="en-US" sz="1200" b="1" i="0" u="none" strike="noStrike" dirty="0">
                <a:solidFill>
                  <a:srgbClr val="222222"/>
                </a:solidFill>
                <a:effectLst/>
                <a:latin typeface="Arial" panose="020B0604020202020204" pitchFamily="34" charset="0"/>
              </a:rPr>
              <a:t>Figure 3.</a:t>
            </a:r>
            <a:r>
              <a:rPr lang="en-US" sz="1200" b="0" i="0" u="none" strike="noStrike" dirty="0">
                <a:solidFill>
                  <a:srgbClr val="222222"/>
                </a:solidFill>
                <a:effectLst/>
                <a:latin typeface="Arial" panose="020B0604020202020204" pitchFamily="34" charset="0"/>
              </a:rPr>
              <a:t> The measurement of the lateral weightbearing radiograph were (A) the centerline of the Achilles tendon insertion, (B) plantar axis, (C) the center of rotation of the ankle, (L) the length of the sole, (MA) the Achilles tendon moment arm (</a:t>
            </a:r>
            <a:r>
              <a:rPr lang="el-GR" sz="1200" b="0" i="0" u="none" strike="noStrike" dirty="0">
                <a:solidFill>
                  <a:srgbClr val="222222"/>
                </a:solidFill>
                <a:effectLst/>
                <a:latin typeface="Arial" panose="020B0604020202020204" pitchFamily="34" charset="0"/>
              </a:rPr>
              <a:t>α). </a:t>
            </a:r>
            <a:r>
              <a:rPr lang="en-US" sz="1200" b="0" i="0" u="none" strike="noStrike" dirty="0">
                <a:solidFill>
                  <a:srgbClr val="222222"/>
                </a:solidFill>
                <a:effectLst/>
                <a:latin typeface="Arial" panose="020B0604020202020204" pitchFamily="34" charset="0"/>
              </a:rPr>
              <a:t>The angle between the Achilles tendon moment arm and the line connecting the insertion point and the center of rotation.</a:t>
            </a:r>
            <a:endParaRPr lang="en-US" sz="1200" dirty="0"/>
          </a:p>
        </p:txBody>
      </p:sp>
      <p:sp>
        <p:nvSpPr>
          <p:cNvPr id="10" name="TextBox 9">
            <a:extLst>
              <a:ext uri="{FF2B5EF4-FFF2-40B4-BE49-F238E27FC236}">
                <a16:creationId xmlns:a16="http://schemas.microsoft.com/office/drawing/2014/main" id="{4614F98C-B2F3-8DB5-16FA-0C259A9D4D6A}"/>
              </a:ext>
            </a:extLst>
          </p:cNvPr>
          <p:cNvSpPr txBox="1"/>
          <p:nvPr/>
        </p:nvSpPr>
        <p:spPr>
          <a:xfrm>
            <a:off x="6129343" y="5884258"/>
            <a:ext cx="6135832" cy="830997"/>
          </a:xfrm>
          <a:prstGeom prst="rect">
            <a:avLst/>
          </a:prstGeom>
          <a:noFill/>
        </p:spPr>
        <p:txBody>
          <a:bodyPr wrap="square">
            <a:spAutoFit/>
          </a:bodyPr>
          <a:lstStyle/>
          <a:p>
            <a:r>
              <a:rPr lang="en-US" sz="1200" b="1" i="0" u="none" strike="noStrike" dirty="0">
                <a:solidFill>
                  <a:srgbClr val="222222"/>
                </a:solidFill>
                <a:effectLst/>
                <a:latin typeface="Arial" panose="020B0604020202020204" pitchFamily="34" charset="0"/>
              </a:rPr>
              <a:t>Figure 5.</a:t>
            </a:r>
            <a:r>
              <a:rPr lang="en-US" sz="1200" b="0" i="0" u="none" strike="noStrike" dirty="0">
                <a:solidFill>
                  <a:srgbClr val="222222"/>
                </a:solidFill>
                <a:effectLst/>
                <a:latin typeface="Arial" panose="020B0604020202020204" pitchFamily="34" charset="0"/>
              </a:rPr>
              <a:t> (A) The centerline of the Achilles tendon insertion, (C) the center of rotation of the ankle, (L) the length of the sole, and (MA) the Achilles tendon moment arm. (F) Traction force of the Achilles tendon. (W) Reaction force by body weight. We calculated F using principle of lever.</a:t>
            </a:r>
            <a:endParaRPr lang="en-US" sz="1200" dirty="0"/>
          </a:p>
        </p:txBody>
      </p:sp>
      <p:sp>
        <p:nvSpPr>
          <p:cNvPr id="11" name="TextBox 10">
            <a:extLst>
              <a:ext uri="{FF2B5EF4-FFF2-40B4-BE49-F238E27FC236}">
                <a16:creationId xmlns:a16="http://schemas.microsoft.com/office/drawing/2014/main" id="{2D4B0710-E430-03A9-73B6-CADBEAEA1603}"/>
              </a:ext>
            </a:extLst>
          </p:cNvPr>
          <p:cNvSpPr txBox="1"/>
          <p:nvPr/>
        </p:nvSpPr>
        <p:spPr>
          <a:xfrm>
            <a:off x="8669700" y="6504748"/>
            <a:ext cx="3279845" cy="276999"/>
          </a:xfrm>
          <a:prstGeom prst="rect">
            <a:avLst/>
          </a:prstGeom>
          <a:noFill/>
        </p:spPr>
        <p:txBody>
          <a:bodyPr wrap="square">
            <a:spAutoFit/>
          </a:bodyPr>
          <a:lstStyle/>
          <a:p>
            <a:r>
              <a:rPr lang="en-US" sz="1200" dirty="0">
                <a:hlinkClick r:id="rId4"/>
              </a:rPr>
              <a:t>https://www.mdpi.com/2076-3417/10/19/6631</a:t>
            </a:r>
            <a:endParaRPr lang="en-US" sz="1200" dirty="0"/>
          </a:p>
        </p:txBody>
      </p:sp>
    </p:spTree>
    <p:extLst>
      <p:ext uri="{BB962C8B-B14F-4D97-AF65-F5344CB8AC3E}">
        <p14:creationId xmlns:p14="http://schemas.microsoft.com/office/powerpoint/2010/main" val="1008779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CD5CD7-D5C3-CEA6-4053-DA888241A20C}"/>
              </a:ext>
            </a:extLst>
          </p:cNvPr>
          <p:cNvSpPr txBox="1"/>
          <p:nvPr/>
        </p:nvSpPr>
        <p:spPr>
          <a:xfrm>
            <a:off x="353291" y="5595266"/>
            <a:ext cx="6135832" cy="830997"/>
          </a:xfrm>
          <a:prstGeom prst="rect">
            <a:avLst/>
          </a:prstGeom>
          <a:noFill/>
        </p:spPr>
        <p:txBody>
          <a:bodyPr wrap="square">
            <a:spAutoFit/>
          </a:bodyPr>
          <a:lstStyle/>
          <a:p>
            <a:r>
              <a:rPr lang="en-US" sz="1200" b="1" i="0" u="none" strike="noStrike" dirty="0">
                <a:solidFill>
                  <a:srgbClr val="222222"/>
                </a:solidFill>
                <a:effectLst/>
                <a:latin typeface="Arial" panose="020B0604020202020204" pitchFamily="34" charset="0"/>
              </a:rPr>
              <a:t>Figure 5.</a:t>
            </a:r>
            <a:r>
              <a:rPr lang="en-US" sz="1200" b="0" i="0" u="none" strike="noStrike" dirty="0">
                <a:solidFill>
                  <a:srgbClr val="222222"/>
                </a:solidFill>
                <a:effectLst/>
                <a:latin typeface="Arial" panose="020B0604020202020204" pitchFamily="34" charset="0"/>
              </a:rPr>
              <a:t> (A) The centerline of the Achilles tendon insertion, (C) the center of rotation of the ankle, (L) the length of the sole, and (MA) the Achilles tendon moment arm. (F) Traction force of the Achilles tendon. (W) Reaction force by body weight. We calculated F using principle of lever.</a:t>
            </a:r>
            <a:endParaRPr lang="en-US" sz="1200" dirty="0"/>
          </a:p>
        </p:txBody>
      </p:sp>
      <p:pic>
        <p:nvPicPr>
          <p:cNvPr id="12" name="Picture 11" descr="Applsci 10 06631 g005 550">
            <a:extLst>
              <a:ext uri="{FF2B5EF4-FFF2-40B4-BE49-F238E27FC236}">
                <a16:creationId xmlns:a16="http://schemas.microsoft.com/office/drawing/2014/main" id="{C3654478-0885-D84A-038C-1D22FB3E1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90" y="1418320"/>
            <a:ext cx="5972653" cy="402136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33CE497-7F3B-A7AD-AAA2-1C24417C3B9D}"/>
              </a:ext>
            </a:extLst>
          </p:cNvPr>
          <p:cNvSpPr txBox="1"/>
          <p:nvPr/>
        </p:nvSpPr>
        <p:spPr>
          <a:xfrm>
            <a:off x="353291" y="847235"/>
            <a:ext cx="9788236" cy="461665"/>
          </a:xfrm>
          <a:prstGeom prst="rect">
            <a:avLst/>
          </a:prstGeom>
          <a:noFill/>
        </p:spPr>
        <p:txBody>
          <a:bodyPr wrap="square" rtlCol="0">
            <a:spAutoFit/>
          </a:bodyPr>
          <a:lstStyle/>
          <a:p>
            <a:r>
              <a:rPr lang="en-US" sz="2400" dirty="0">
                <a:solidFill>
                  <a:srgbClr val="C00000"/>
                </a:solidFill>
              </a:rPr>
              <a:t>What is wrong with the diagram in the publication?  Do the torques balance?</a:t>
            </a:r>
          </a:p>
        </p:txBody>
      </p:sp>
      <p:sp>
        <p:nvSpPr>
          <p:cNvPr id="16" name="TextBox 15">
            <a:extLst>
              <a:ext uri="{FF2B5EF4-FFF2-40B4-BE49-F238E27FC236}">
                <a16:creationId xmlns:a16="http://schemas.microsoft.com/office/drawing/2014/main" id="{82C4262D-E162-5D3C-63DB-5C415FAA15FC}"/>
              </a:ext>
            </a:extLst>
          </p:cNvPr>
          <p:cNvSpPr txBox="1"/>
          <p:nvPr/>
        </p:nvSpPr>
        <p:spPr>
          <a:xfrm>
            <a:off x="6639791" y="3691776"/>
            <a:ext cx="2379518" cy="369332"/>
          </a:xfrm>
          <a:prstGeom prst="rect">
            <a:avLst/>
          </a:prstGeom>
          <a:noFill/>
        </p:spPr>
        <p:txBody>
          <a:bodyPr wrap="square" rtlCol="0">
            <a:spAutoFit/>
          </a:bodyPr>
          <a:lstStyle/>
          <a:p>
            <a:r>
              <a:rPr lang="en-US" dirty="0"/>
              <a:t>Publication figure</a:t>
            </a:r>
          </a:p>
        </p:txBody>
      </p:sp>
      <p:sp>
        <p:nvSpPr>
          <p:cNvPr id="17" name="TextBox 16">
            <a:extLst>
              <a:ext uri="{FF2B5EF4-FFF2-40B4-BE49-F238E27FC236}">
                <a16:creationId xmlns:a16="http://schemas.microsoft.com/office/drawing/2014/main" id="{9D18D867-4EA7-7452-56BC-D139F6312BD8}"/>
              </a:ext>
            </a:extLst>
          </p:cNvPr>
          <p:cNvSpPr txBox="1"/>
          <p:nvPr/>
        </p:nvSpPr>
        <p:spPr>
          <a:xfrm>
            <a:off x="6847609" y="1418320"/>
            <a:ext cx="3210791" cy="867680"/>
          </a:xfrm>
          <a:prstGeom prst="rect">
            <a:avLst/>
          </a:prstGeom>
          <a:noFill/>
          <a:ln>
            <a:solidFill>
              <a:srgbClr val="002060"/>
            </a:solidFill>
          </a:ln>
        </p:spPr>
        <p:txBody>
          <a:bodyPr wrap="square" rtlCol="0">
            <a:spAutoFit/>
          </a:bodyPr>
          <a:lstStyle/>
          <a:p>
            <a:endParaRPr lang="en-US" dirty="0"/>
          </a:p>
        </p:txBody>
      </p:sp>
    </p:spTree>
    <p:extLst>
      <p:ext uri="{BB962C8B-B14F-4D97-AF65-F5344CB8AC3E}">
        <p14:creationId xmlns:p14="http://schemas.microsoft.com/office/powerpoint/2010/main" val="24473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56E1D7-D081-AFC6-A3F0-C12648BCFEF8}"/>
              </a:ext>
            </a:extLst>
          </p:cNvPr>
          <p:cNvPicPr>
            <a:picLocks noChangeAspect="1"/>
          </p:cNvPicPr>
          <p:nvPr/>
        </p:nvPicPr>
        <p:blipFill>
          <a:blip r:embed="rId2"/>
          <a:stretch>
            <a:fillRect/>
          </a:stretch>
        </p:blipFill>
        <p:spPr>
          <a:xfrm>
            <a:off x="969054" y="562754"/>
            <a:ext cx="6692900" cy="4381500"/>
          </a:xfrm>
          <a:prstGeom prst="rect">
            <a:avLst/>
          </a:prstGeom>
        </p:spPr>
      </p:pic>
      <p:sp>
        <p:nvSpPr>
          <p:cNvPr id="3" name="TextBox 2">
            <a:extLst>
              <a:ext uri="{FF2B5EF4-FFF2-40B4-BE49-F238E27FC236}">
                <a16:creationId xmlns:a16="http://schemas.microsoft.com/office/drawing/2014/main" id="{50F5BCE3-70A9-3BEA-2DA2-F74D4B14B1CF}"/>
              </a:ext>
            </a:extLst>
          </p:cNvPr>
          <p:cNvSpPr txBox="1"/>
          <p:nvPr/>
        </p:nvSpPr>
        <p:spPr>
          <a:xfrm>
            <a:off x="1406455" y="6421582"/>
            <a:ext cx="3279845" cy="276999"/>
          </a:xfrm>
          <a:prstGeom prst="rect">
            <a:avLst/>
          </a:prstGeom>
          <a:noFill/>
        </p:spPr>
        <p:txBody>
          <a:bodyPr wrap="square">
            <a:spAutoFit/>
          </a:bodyPr>
          <a:lstStyle/>
          <a:p>
            <a:r>
              <a:rPr lang="en-US" sz="1200" dirty="0">
                <a:hlinkClick r:id="rId3"/>
              </a:rPr>
              <a:t>https://www.mdpi.com/2076-3417/10/19/6631</a:t>
            </a:r>
            <a:endParaRPr lang="en-US" sz="1200" dirty="0"/>
          </a:p>
        </p:txBody>
      </p:sp>
      <p:sp>
        <p:nvSpPr>
          <p:cNvPr id="5" name="TextBox 4">
            <a:extLst>
              <a:ext uri="{FF2B5EF4-FFF2-40B4-BE49-F238E27FC236}">
                <a16:creationId xmlns:a16="http://schemas.microsoft.com/office/drawing/2014/main" id="{80F54533-F1FD-0951-1343-0CA0DDC90E62}"/>
              </a:ext>
            </a:extLst>
          </p:cNvPr>
          <p:cNvSpPr txBox="1"/>
          <p:nvPr/>
        </p:nvSpPr>
        <p:spPr>
          <a:xfrm>
            <a:off x="805295" y="5221253"/>
            <a:ext cx="9606396" cy="923330"/>
          </a:xfrm>
          <a:prstGeom prst="rect">
            <a:avLst/>
          </a:prstGeom>
          <a:noFill/>
        </p:spPr>
        <p:txBody>
          <a:bodyPr wrap="square">
            <a:spAutoFit/>
          </a:bodyPr>
          <a:lstStyle/>
          <a:p>
            <a:r>
              <a:rPr lang="en-US" b="0" i="0" u="none" strike="noStrike" dirty="0">
                <a:solidFill>
                  <a:srgbClr val="222222"/>
                </a:solidFill>
                <a:effectLst/>
                <a:latin typeface="Arial" panose="020B0604020202020204" pitchFamily="34" charset="0"/>
              </a:rPr>
              <a:t>(</a:t>
            </a:r>
            <a:r>
              <a:rPr lang="en-US" b="1" i="0" u="none" strike="noStrike" dirty="0">
                <a:solidFill>
                  <a:srgbClr val="222222"/>
                </a:solidFill>
                <a:effectLst/>
                <a:latin typeface="Arial" panose="020B0604020202020204" pitchFamily="34" charset="0"/>
              </a:rPr>
              <a:t>B</a:t>
            </a:r>
            <a:r>
              <a:rPr lang="en-US" b="0" i="0" u="none" strike="noStrike" dirty="0">
                <a:solidFill>
                  <a:srgbClr val="222222"/>
                </a:solidFill>
                <a:effectLst/>
                <a:latin typeface="Arial" panose="020B0604020202020204" pitchFamily="34" charset="0"/>
              </a:rPr>
              <a:t>): Comparison of the ratio of MA length/foot length between the control group, the preoperative IAT group, and the postoperative IAT group, showing significant differences between these groups (</a:t>
            </a:r>
            <a:r>
              <a:rPr lang="en-US" b="0" i="1" u="none" strike="noStrike" dirty="0">
                <a:solidFill>
                  <a:srgbClr val="222222"/>
                </a:solidFill>
                <a:effectLst/>
                <a:latin typeface="Arial" panose="020B0604020202020204" pitchFamily="34" charset="0"/>
              </a:rPr>
              <a:t>p</a:t>
            </a:r>
            <a:r>
              <a:rPr lang="en-US" b="0" i="0" u="none" strike="noStrike" dirty="0">
                <a:solidFill>
                  <a:srgbClr val="222222"/>
                </a:solidFill>
                <a:effectLst/>
                <a:latin typeface="Arial" panose="020B0604020202020204" pitchFamily="34" charset="0"/>
              </a:rPr>
              <a:t> &lt; 0.05).</a:t>
            </a:r>
            <a:endParaRPr lang="en-US" dirty="0"/>
          </a:p>
        </p:txBody>
      </p:sp>
      <p:sp>
        <p:nvSpPr>
          <p:cNvPr id="6" name="TextBox 5">
            <a:extLst>
              <a:ext uri="{FF2B5EF4-FFF2-40B4-BE49-F238E27FC236}">
                <a16:creationId xmlns:a16="http://schemas.microsoft.com/office/drawing/2014/main" id="{A0BC14B6-F135-E8DF-01DD-CCA18E3E2729}"/>
              </a:ext>
            </a:extLst>
          </p:cNvPr>
          <p:cNvSpPr txBox="1"/>
          <p:nvPr/>
        </p:nvSpPr>
        <p:spPr>
          <a:xfrm>
            <a:off x="7782791" y="800100"/>
            <a:ext cx="3293918" cy="461665"/>
          </a:xfrm>
          <a:prstGeom prst="rect">
            <a:avLst/>
          </a:prstGeom>
          <a:noFill/>
        </p:spPr>
        <p:txBody>
          <a:bodyPr wrap="square" rtlCol="0">
            <a:spAutoFit/>
          </a:bodyPr>
          <a:lstStyle/>
          <a:p>
            <a:r>
              <a:rPr lang="en-US" sz="2400" dirty="0">
                <a:solidFill>
                  <a:srgbClr val="0070C0"/>
                </a:solidFill>
              </a:rPr>
              <a:t>Use control data</a:t>
            </a:r>
          </a:p>
        </p:txBody>
      </p:sp>
    </p:spTree>
    <p:extLst>
      <p:ext uri="{BB962C8B-B14F-4D97-AF65-F5344CB8AC3E}">
        <p14:creationId xmlns:p14="http://schemas.microsoft.com/office/powerpoint/2010/main" val="185486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86" y="790209"/>
            <a:ext cx="3857445" cy="5250411"/>
          </a:xfrm>
          <a:prstGeom prst="rect">
            <a:avLst/>
          </a:prstGeom>
        </p:spPr>
      </p:pic>
      <p:sp>
        <p:nvSpPr>
          <p:cNvPr id="4" name="Up Arrow 3">
            <a:extLst>
              <a:ext uri="{FF2B5EF4-FFF2-40B4-BE49-F238E27FC236}">
                <a16:creationId xmlns:a16="http://schemas.microsoft.com/office/drawing/2014/main" id="{531F3BCD-5442-FC4D-8D87-4E0DC96D7AE0}"/>
              </a:ext>
            </a:extLst>
          </p:cNvPr>
          <p:cNvSpPr/>
          <p:nvPr/>
        </p:nvSpPr>
        <p:spPr>
          <a:xfrm rot="955256">
            <a:off x="1645116" y="3633497"/>
            <a:ext cx="185946" cy="1660163"/>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Up Arrow 4">
            <a:extLst>
              <a:ext uri="{FF2B5EF4-FFF2-40B4-BE49-F238E27FC236}">
                <a16:creationId xmlns:a16="http://schemas.microsoft.com/office/drawing/2014/main" id="{33A908FF-8843-4349-A6C4-A22872FE1BEA}"/>
              </a:ext>
            </a:extLst>
          </p:cNvPr>
          <p:cNvSpPr/>
          <p:nvPr/>
        </p:nvSpPr>
        <p:spPr>
          <a:xfrm>
            <a:off x="3640017" y="4494952"/>
            <a:ext cx="150594" cy="1339826"/>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309E8E1-DCF8-854F-9C11-F3AA4EDF5FC8}"/>
              </a:ext>
            </a:extLst>
          </p:cNvPr>
          <p:cNvSpPr/>
          <p:nvPr/>
        </p:nvSpPr>
        <p:spPr>
          <a:xfrm>
            <a:off x="2049995" y="4567747"/>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DE5F2CC0-3D76-5348-9902-DA6143DF75F1}"/>
              </a:ext>
            </a:extLst>
          </p:cNvPr>
          <p:cNvCxnSpPr>
            <a:cxnSpLocks/>
          </p:cNvCxnSpPr>
          <p:nvPr/>
        </p:nvCxnSpPr>
        <p:spPr>
          <a:xfrm flipH="1">
            <a:off x="6007878" y="1091132"/>
            <a:ext cx="1629086" cy="1"/>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A8F964C-C52F-224B-9B38-ED09BF1ADE8C}"/>
              </a:ext>
            </a:extLst>
          </p:cNvPr>
          <p:cNvCxnSpPr>
            <a:cxnSpLocks/>
          </p:cNvCxnSpPr>
          <p:nvPr/>
        </p:nvCxnSpPr>
        <p:spPr>
          <a:xfrm>
            <a:off x="5704315" y="1863484"/>
            <a:ext cx="46145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4486" y="5880349"/>
            <a:ext cx="1576137" cy="369332"/>
          </a:xfrm>
          <a:prstGeom prst="rect">
            <a:avLst/>
          </a:prstGeom>
          <a:noFill/>
        </p:spPr>
        <p:txBody>
          <a:bodyPr wrap="none" rtlCol="0">
            <a:spAutoFit/>
          </a:bodyPr>
          <a:lstStyle/>
          <a:p>
            <a:r>
              <a:rPr lang="en-US" b="1" dirty="0">
                <a:solidFill>
                  <a:srgbClr val="FF0000"/>
                </a:solidFill>
              </a:rPr>
              <a:t>Plantar flexion</a:t>
            </a:r>
          </a:p>
        </p:txBody>
      </p:sp>
      <p:sp>
        <p:nvSpPr>
          <p:cNvPr id="18" name="TextBox 17"/>
          <p:cNvSpPr txBox="1"/>
          <p:nvPr/>
        </p:nvSpPr>
        <p:spPr>
          <a:xfrm>
            <a:off x="3420206" y="6019786"/>
            <a:ext cx="1242263" cy="369332"/>
          </a:xfrm>
          <a:prstGeom prst="rect">
            <a:avLst/>
          </a:prstGeom>
          <a:noFill/>
        </p:spPr>
        <p:txBody>
          <a:bodyPr wrap="none" rtlCol="0">
            <a:spAutoFit/>
          </a:bodyPr>
          <a:lstStyle/>
          <a:p>
            <a:r>
              <a:rPr lang="en-US" b="1" dirty="0">
                <a:solidFill>
                  <a:srgbClr val="00B050"/>
                </a:solidFill>
              </a:rPr>
              <a:t>Doriflexion</a:t>
            </a:r>
          </a:p>
        </p:txBody>
      </p:sp>
      <p:sp>
        <p:nvSpPr>
          <p:cNvPr id="19" name="TextBox 18"/>
          <p:cNvSpPr txBox="1"/>
          <p:nvPr/>
        </p:nvSpPr>
        <p:spPr>
          <a:xfrm>
            <a:off x="3060083" y="3533685"/>
            <a:ext cx="1758751" cy="461665"/>
          </a:xfrm>
          <a:prstGeom prst="rect">
            <a:avLst/>
          </a:prstGeom>
          <a:no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21" name="TextBox 20"/>
          <p:cNvSpPr txBox="1"/>
          <p:nvPr/>
        </p:nvSpPr>
        <p:spPr>
          <a:xfrm>
            <a:off x="155315" y="3025248"/>
            <a:ext cx="2380780" cy="461665"/>
          </a:xfrm>
          <a:prstGeom prst="rect">
            <a:avLst/>
          </a:prstGeom>
          <a:noFill/>
        </p:spPr>
        <p:txBody>
          <a:bodyPr wrap="none" rtlCol="0">
            <a:spAutoFit/>
          </a:bodyPr>
          <a:lstStyle/>
          <a:p>
            <a:r>
              <a:rPr lang="en-US" sz="2400" b="1" dirty="0">
                <a:solidFill>
                  <a:srgbClr val="FF0000"/>
                </a:solidFill>
              </a:rPr>
              <a:t>Achilles = ? W</a:t>
            </a:r>
            <a:r>
              <a:rPr lang="en-US" sz="2400" b="1" baseline="-25000" dirty="0">
                <a:solidFill>
                  <a:srgbClr val="FF0000"/>
                </a:solidFill>
              </a:rPr>
              <a:t>body</a:t>
            </a:r>
          </a:p>
        </p:txBody>
      </p:sp>
      <p:sp>
        <p:nvSpPr>
          <p:cNvPr id="14" name="Text Box 324">
            <a:extLst>
              <a:ext uri="{FF2B5EF4-FFF2-40B4-BE49-F238E27FC236}">
                <a16:creationId xmlns:a16="http://schemas.microsoft.com/office/drawing/2014/main" id="{DFCE11FD-61A3-4493-4A13-E2DDB69AD4A7}"/>
              </a:ext>
            </a:extLst>
          </p:cNvPr>
          <p:cNvSpPr txBox="1"/>
          <p:nvPr/>
        </p:nvSpPr>
        <p:spPr>
          <a:xfrm>
            <a:off x="6135551" y="1873165"/>
            <a:ext cx="628650" cy="2657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324">
            <a:extLst>
              <a:ext uri="{FF2B5EF4-FFF2-40B4-BE49-F238E27FC236}">
                <a16:creationId xmlns:a16="http://schemas.microsoft.com/office/drawing/2014/main" id="{D8EEE4AE-121F-DB3F-048D-052E27CF655F}"/>
              </a:ext>
            </a:extLst>
          </p:cNvPr>
          <p:cNvSpPr txBox="1"/>
          <p:nvPr/>
        </p:nvSpPr>
        <p:spPr>
          <a:xfrm>
            <a:off x="6508096" y="1091132"/>
            <a:ext cx="628650" cy="2657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US"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BC8B74A-40CB-5F0E-13C4-77EADB21999D}"/>
              </a:ext>
            </a:extLst>
          </p:cNvPr>
          <p:cNvSpPr txBox="1"/>
          <p:nvPr/>
        </p:nvSpPr>
        <p:spPr>
          <a:xfrm>
            <a:off x="1107871" y="193423"/>
            <a:ext cx="5124090" cy="523220"/>
          </a:xfrm>
          <a:prstGeom prst="rect">
            <a:avLst/>
          </a:prstGeom>
          <a:noFill/>
        </p:spPr>
        <p:txBody>
          <a:bodyPr wrap="square" rtlCol="0">
            <a:spAutoFit/>
          </a:bodyPr>
          <a:lstStyle/>
          <a:p>
            <a:r>
              <a:rPr lang="en-US" sz="2800" dirty="0"/>
              <a:t>Like an upside-down seesaw</a:t>
            </a:r>
          </a:p>
        </p:txBody>
      </p:sp>
      <p:sp>
        <p:nvSpPr>
          <p:cNvPr id="23" name="Arc 22">
            <a:extLst>
              <a:ext uri="{FF2B5EF4-FFF2-40B4-BE49-F238E27FC236}">
                <a16:creationId xmlns:a16="http://schemas.microsoft.com/office/drawing/2014/main" id="{1E43B7DC-643A-B026-9603-FDF9612D9239}"/>
              </a:ext>
            </a:extLst>
          </p:cNvPr>
          <p:cNvSpPr/>
          <p:nvPr/>
        </p:nvSpPr>
        <p:spPr>
          <a:xfrm rot="3368962">
            <a:off x="3097732" y="4634618"/>
            <a:ext cx="1507331" cy="1463848"/>
          </a:xfrm>
          <a:prstGeom prst="arc">
            <a:avLst>
              <a:gd name="adj1" fmla="val 17185535"/>
              <a:gd name="adj2" fmla="val 0"/>
            </a:avLst>
          </a:prstGeom>
          <a:ln w="57150">
            <a:solidFill>
              <a:srgbClr val="00B050"/>
            </a:solidFill>
            <a:headEnd type="triangl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5" name="Arc 24">
            <a:extLst>
              <a:ext uri="{FF2B5EF4-FFF2-40B4-BE49-F238E27FC236}">
                <a16:creationId xmlns:a16="http://schemas.microsoft.com/office/drawing/2014/main" id="{C84A33BE-51C0-9CF3-3A40-35887D43EE0E}"/>
              </a:ext>
            </a:extLst>
          </p:cNvPr>
          <p:cNvSpPr/>
          <p:nvPr/>
        </p:nvSpPr>
        <p:spPr>
          <a:xfrm rot="11293824">
            <a:off x="536275" y="5020582"/>
            <a:ext cx="1507331" cy="1463848"/>
          </a:xfrm>
          <a:prstGeom prst="arc">
            <a:avLst>
              <a:gd name="adj1" fmla="val 17185535"/>
              <a:gd name="adj2" fmla="val 0"/>
            </a:avLst>
          </a:prstGeom>
          <a:ln w="57150">
            <a:solidFill>
              <a:srgbClr val="FF0000"/>
            </a:solidFill>
            <a:headEnd type="none"/>
            <a:tailEnd type="triangle" w="lg"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6" name="Callout: Left Arrow 25">
            <a:extLst>
              <a:ext uri="{FF2B5EF4-FFF2-40B4-BE49-F238E27FC236}">
                <a16:creationId xmlns:a16="http://schemas.microsoft.com/office/drawing/2014/main" id="{515B84C4-E0D3-7EE3-A193-301A27320BB2}"/>
              </a:ext>
            </a:extLst>
          </p:cNvPr>
          <p:cNvSpPr/>
          <p:nvPr/>
        </p:nvSpPr>
        <p:spPr>
          <a:xfrm>
            <a:off x="8149590" y="776375"/>
            <a:ext cx="1828800" cy="629515"/>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lever arms</a:t>
            </a:r>
          </a:p>
        </p:txBody>
      </p:sp>
      <p:sp>
        <p:nvSpPr>
          <p:cNvPr id="29" name="TextBox 28">
            <a:extLst>
              <a:ext uri="{FF2B5EF4-FFF2-40B4-BE49-F238E27FC236}">
                <a16:creationId xmlns:a16="http://schemas.microsoft.com/office/drawing/2014/main" id="{B33EF1D0-EEE3-7CD0-98E4-19501339DAB6}"/>
              </a:ext>
            </a:extLst>
          </p:cNvPr>
          <p:cNvSpPr txBox="1"/>
          <p:nvPr/>
        </p:nvSpPr>
        <p:spPr>
          <a:xfrm>
            <a:off x="5430252" y="4707182"/>
            <a:ext cx="6549390" cy="830997"/>
          </a:xfrm>
          <a:prstGeom prst="rect">
            <a:avLst/>
          </a:prstGeom>
          <a:noFill/>
        </p:spPr>
        <p:txBody>
          <a:bodyPr wrap="square" rtlCol="0">
            <a:spAutoFit/>
          </a:bodyPr>
          <a:lstStyle/>
          <a:p>
            <a:r>
              <a:rPr lang="en-US" sz="2400" b="1" dirty="0">
                <a:solidFill>
                  <a:srgbClr val="C00000"/>
                </a:solidFill>
              </a:rPr>
              <a:t>Estimate</a:t>
            </a:r>
            <a:r>
              <a:rPr lang="en-US" sz="2400" dirty="0">
                <a:solidFill>
                  <a:srgbClr val="C00000"/>
                </a:solidFill>
              </a:rPr>
              <a:t> </a:t>
            </a:r>
            <a:r>
              <a:rPr lang="en-US" sz="2400" b="1" dirty="0">
                <a:solidFill>
                  <a:srgbClr val="FF0000"/>
                </a:solidFill>
              </a:rPr>
              <a:t>Achilles force</a:t>
            </a:r>
            <a:r>
              <a:rPr lang="en-US" sz="2400" dirty="0">
                <a:solidFill>
                  <a:srgbClr val="C00000"/>
                </a:solidFill>
              </a:rPr>
              <a:t>, relative to body weight, using lever arm ratio</a:t>
            </a:r>
          </a:p>
        </p:txBody>
      </p:sp>
      <p:sp>
        <p:nvSpPr>
          <p:cNvPr id="9" name="TextBox 8">
            <a:extLst>
              <a:ext uri="{FF2B5EF4-FFF2-40B4-BE49-F238E27FC236}">
                <a16:creationId xmlns:a16="http://schemas.microsoft.com/office/drawing/2014/main" id="{F217BD40-F359-963F-632E-1E7407BC01C4}"/>
              </a:ext>
            </a:extLst>
          </p:cNvPr>
          <p:cNvSpPr txBox="1"/>
          <p:nvPr/>
        </p:nvSpPr>
        <p:spPr>
          <a:xfrm>
            <a:off x="5356051" y="2650759"/>
            <a:ext cx="3325494" cy="2000548"/>
          </a:xfrm>
          <a:prstGeom prst="rect">
            <a:avLst/>
          </a:prstGeom>
          <a:noFill/>
        </p:spPr>
        <p:txBody>
          <a:bodyPr wrap="square" rtlCol="0">
            <a:spAutoFit/>
          </a:bodyPr>
          <a:lstStyle/>
          <a:p>
            <a:r>
              <a:rPr lang="en-US" sz="2400" b="1" dirty="0">
                <a:solidFill>
                  <a:srgbClr val="C00000"/>
                </a:solidFill>
              </a:rPr>
              <a:t>Estimate</a:t>
            </a:r>
            <a:r>
              <a:rPr lang="en-US" sz="2400" dirty="0">
                <a:solidFill>
                  <a:srgbClr val="C00000"/>
                </a:solidFill>
              </a:rPr>
              <a:t> lever arm ratio</a:t>
            </a:r>
          </a:p>
          <a:p>
            <a:pPr marL="1257300" lvl="2" indent="-342900">
              <a:buFont typeface="Arial" panose="020B0604020202020204" pitchFamily="34" charset="0"/>
              <a:buChar char="•"/>
            </a:pPr>
            <a:r>
              <a:rPr lang="en-US" sz="2000" dirty="0"/>
              <a:t>1:1</a:t>
            </a:r>
          </a:p>
          <a:p>
            <a:pPr marL="1257300" lvl="2" indent="-342900">
              <a:buFont typeface="Arial" panose="020B0604020202020204" pitchFamily="34" charset="0"/>
              <a:buChar char="•"/>
            </a:pPr>
            <a:r>
              <a:rPr lang="en-US" sz="2000" dirty="0"/>
              <a:t>2:1</a:t>
            </a:r>
          </a:p>
          <a:p>
            <a:pPr marL="1257300" lvl="2" indent="-342900">
              <a:buFont typeface="Arial" panose="020B0604020202020204" pitchFamily="34" charset="0"/>
              <a:buChar char="•"/>
            </a:pPr>
            <a:r>
              <a:rPr lang="en-US" sz="2000" dirty="0"/>
              <a:t>3:1</a:t>
            </a:r>
          </a:p>
          <a:p>
            <a:pPr marL="1257300" lvl="2" indent="-342900">
              <a:buFont typeface="Arial" panose="020B0604020202020204" pitchFamily="34" charset="0"/>
              <a:buChar char="•"/>
            </a:pPr>
            <a:r>
              <a:rPr lang="en-US" sz="2000" dirty="0"/>
              <a:t>4:1</a:t>
            </a:r>
          </a:p>
          <a:p>
            <a:pPr marL="1257300" lvl="2" indent="-342900">
              <a:buFont typeface="Arial" panose="020B0604020202020204" pitchFamily="34" charset="0"/>
              <a:buChar char="•"/>
            </a:pPr>
            <a:r>
              <a:rPr lang="en-US" sz="2000" dirty="0"/>
              <a:t>5:1</a:t>
            </a:r>
          </a:p>
        </p:txBody>
      </p:sp>
      <p:sp>
        <p:nvSpPr>
          <p:cNvPr id="10" name="TextBox 9">
            <a:extLst>
              <a:ext uri="{FF2B5EF4-FFF2-40B4-BE49-F238E27FC236}">
                <a16:creationId xmlns:a16="http://schemas.microsoft.com/office/drawing/2014/main" id="{F7F3D62A-12D3-4DD8-EE61-6E3FC20B4564}"/>
              </a:ext>
            </a:extLst>
          </p:cNvPr>
          <p:cNvSpPr txBox="1"/>
          <p:nvPr/>
        </p:nvSpPr>
        <p:spPr>
          <a:xfrm>
            <a:off x="6036296" y="5521673"/>
            <a:ext cx="2380780" cy="461665"/>
          </a:xfrm>
          <a:prstGeom prst="rect">
            <a:avLst/>
          </a:prstGeom>
          <a:noFill/>
        </p:spPr>
        <p:txBody>
          <a:bodyPr wrap="none" rtlCol="0">
            <a:spAutoFit/>
          </a:bodyPr>
          <a:lstStyle/>
          <a:p>
            <a:r>
              <a:rPr lang="en-US" sz="2400" b="1" dirty="0">
                <a:solidFill>
                  <a:srgbClr val="FF0000"/>
                </a:solidFill>
              </a:rPr>
              <a:t>Achilles </a:t>
            </a:r>
            <a:r>
              <a:rPr lang="en-US" sz="2400" b="1" dirty="0"/>
              <a:t>=</a:t>
            </a:r>
            <a:r>
              <a:rPr lang="en-US" sz="2400" b="1" dirty="0">
                <a:solidFill>
                  <a:srgbClr val="FF0000"/>
                </a:solidFill>
              </a:rPr>
              <a:t> </a:t>
            </a:r>
            <a:r>
              <a:rPr lang="en-US" sz="2400" b="1" dirty="0">
                <a:solidFill>
                  <a:srgbClr val="C00000"/>
                </a:solidFill>
              </a:rPr>
              <a:t>?</a:t>
            </a:r>
            <a:r>
              <a:rPr lang="en-US" sz="2400" b="1" dirty="0">
                <a:solidFill>
                  <a:srgbClr val="FF0000"/>
                </a:solidFill>
              </a:rPr>
              <a:t> </a:t>
            </a:r>
            <a:r>
              <a:rPr lang="en-US" sz="2400" b="1" dirty="0">
                <a:solidFill>
                  <a:srgbClr val="0070C0"/>
                </a:solidFill>
              </a:rPr>
              <a:t>W</a:t>
            </a:r>
            <a:r>
              <a:rPr lang="en-US" sz="2400" b="1" baseline="-25000" dirty="0">
                <a:solidFill>
                  <a:srgbClr val="0070C0"/>
                </a:solidFill>
              </a:rPr>
              <a:t>body</a:t>
            </a:r>
          </a:p>
        </p:txBody>
      </p:sp>
      <p:sp>
        <p:nvSpPr>
          <p:cNvPr id="11" name="Rectangle 10">
            <a:extLst>
              <a:ext uri="{FF2B5EF4-FFF2-40B4-BE49-F238E27FC236}">
                <a16:creationId xmlns:a16="http://schemas.microsoft.com/office/drawing/2014/main" id="{20F21182-EAFB-9900-B11C-F47FC2A68D44}"/>
              </a:ext>
            </a:extLst>
          </p:cNvPr>
          <p:cNvSpPr/>
          <p:nvPr/>
        </p:nvSpPr>
        <p:spPr>
          <a:xfrm>
            <a:off x="7923001" y="3848443"/>
            <a:ext cx="988148" cy="3719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1D7BC79-7AC1-5A38-02DF-57BAB0A952A6}"/>
              </a:ext>
            </a:extLst>
          </p:cNvPr>
          <p:cNvSpPr txBox="1"/>
          <p:nvPr/>
        </p:nvSpPr>
        <p:spPr>
          <a:xfrm>
            <a:off x="5787377" y="6210934"/>
            <a:ext cx="5259397" cy="461665"/>
          </a:xfrm>
          <a:prstGeom prst="rect">
            <a:avLst/>
          </a:prstGeom>
          <a:noFill/>
        </p:spPr>
        <p:txBody>
          <a:bodyPr wrap="square" rtlCol="0">
            <a:spAutoFit/>
          </a:bodyPr>
          <a:lstStyle/>
          <a:p>
            <a:r>
              <a:rPr lang="en-US" sz="2400" b="1" dirty="0">
                <a:solidFill>
                  <a:srgbClr val="C00000"/>
                </a:solidFill>
              </a:rPr>
              <a:t>Resize</a:t>
            </a:r>
            <a:r>
              <a:rPr lang="en-US" sz="2400" dirty="0">
                <a:solidFill>
                  <a:srgbClr val="C00000"/>
                </a:solidFill>
              </a:rPr>
              <a:t> Achilles force vector accordingly</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2795115-04E7-4685-F182-68F8D77FC2A8}"/>
                  </a:ext>
                </a:extLst>
              </p:cNvPr>
              <p:cNvSpPr txBox="1"/>
              <p:nvPr/>
            </p:nvSpPr>
            <p:spPr>
              <a:xfrm>
                <a:off x="9072280" y="2650759"/>
                <a:ext cx="1461810" cy="7555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b>
                            <m:sSubPr>
                              <m:ctrlPr>
                                <a:rPr lang="en-US" sz="2400" i="1" smtClean="0">
                                  <a:solidFill>
                                    <a:srgbClr val="00B050"/>
                                  </a:solidFill>
                                  <a:latin typeface="Cambria Math" panose="02040503050406030204" pitchFamily="18" charset="0"/>
                                </a:rPr>
                              </m:ctrlPr>
                            </m:sSubPr>
                            <m:e>
                              <m:r>
                                <a:rPr lang="en-US" sz="2400" b="0" i="1" smtClean="0">
                                  <a:solidFill>
                                    <a:srgbClr val="00B050"/>
                                  </a:solidFill>
                                  <a:latin typeface="Cambria Math" panose="02040503050406030204" pitchFamily="18" charset="0"/>
                                </a:rPr>
                                <m:t>𝑟</m:t>
                              </m:r>
                            </m:e>
                            <m:sub>
                              <m:r>
                                <a:rPr lang="en-US" sz="2400" i="1" baseline="-25000" smtClean="0">
                                  <a:solidFill>
                                    <a:srgbClr val="00B050"/>
                                  </a:solidFill>
                                  <a:latin typeface="Cambria Math" panose="02040503050406030204" pitchFamily="18" charset="0"/>
                                  <a:sym typeface="Symbol" panose="05050102010706020507" pitchFamily="18" charset="2"/>
                                </a:rPr>
                                <m:t></m:t>
                              </m:r>
                              <m:r>
                                <a:rPr lang="en-US" sz="2400" b="0" i="1" baseline="-25000" smtClean="0">
                                  <a:solidFill>
                                    <a:srgbClr val="00B050"/>
                                  </a:solidFill>
                                  <a:latin typeface="Cambria Math" panose="02040503050406030204" pitchFamily="18" charset="0"/>
                                  <a:sym typeface="Symbol" panose="05050102010706020507" pitchFamily="18" charset="2"/>
                                </a:rPr>
                                <m:t>𝑛</m:t>
                              </m:r>
                              <m:r>
                                <a:rPr lang="en-US" sz="2400" b="0" i="1" baseline="-25000" smtClean="0">
                                  <a:solidFill>
                                    <a:srgbClr val="00B050"/>
                                  </a:solidFill>
                                  <a:latin typeface="Cambria Math" panose="02040503050406030204" pitchFamily="18" charset="0"/>
                                  <a:sym typeface="Symbol" panose="05050102010706020507" pitchFamily="18" charset="2"/>
                                </a:rPr>
                                <m:t> </m:t>
                              </m:r>
                              <m:r>
                                <a:rPr lang="en-US" sz="2400" b="0" i="1" baseline="-25000" smtClean="0">
                                  <a:solidFill>
                                    <a:srgbClr val="00B050"/>
                                  </a:solidFill>
                                  <a:latin typeface="Cambria Math" panose="02040503050406030204" pitchFamily="18" charset="0"/>
                                  <a:sym typeface="Symbol" panose="05050102010706020507" pitchFamily="18" charset="2"/>
                                </a:rPr>
                                <m:t>𝑓𝑙𝑜𝑜𝑟</m:t>
                              </m:r>
                            </m:sub>
                          </m:sSub>
                        </m:num>
                        <m:den>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𝑟</m:t>
                              </m:r>
                              <m:r>
                                <a:rPr lang="en-US" sz="2400" b="0" i="1" baseline="-25000" smtClean="0">
                                  <a:solidFill>
                                    <a:srgbClr val="FF0000"/>
                                  </a:solidFill>
                                  <a:latin typeface="Cambria Math" panose="02040503050406030204" pitchFamily="18" charset="0"/>
                                  <a:sym typeface="Symbol" panose="05050102010706020507" pitchFamily="18" charset="2"/>
                                </a:rPr>
                                <m:t></m:t>
                              </m:r>
                            </m:e>
                            <m:sub>
                              <m:r>
                                <a:rPr lang="en-US" sz="2400" b="0" i="1" baseline="-25000" smtClean="0">
                                  <a:solidFill>
                                    <a:srgbClr val="FF0000"/>
                                  </a:solidFill>
                                  <a:latin typeface="Cambria Math" panose="02040503050406030204" pitchFamily="18" charset="0"/>
                                  <a:sym typeface="Symbol" panose="05050102010706020507" pitchFamily="18" charset="2"/>
                                </a:rPr>
                                <m:t>𝐴𝑐h𝑖𝑙𝑙𝑒𝑠</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m:t>
                          </m:r>
                        </m:num>
                        <m:den>
                          <m:r>
                            <a:rPr lang="en-US" sz="2400" b="0" i="1" smtClean="0">
                              <a:latin typeface="Cambria Math" panose="02040503050406030204" pitchFamily="18" charset="0"/>
                            </a:rPr>
                            <m:t>?</m:t>
                          </m:r>
                        </m:den>
                      </m:f>
                    </m:oMath>
                  </m:oMathPara>
                </a14:m>
                <a:endParaRPr lang="en-US" sz="2400" dirty="0"/>
              </a:p>
            </p:txBody>
          </p:sp>
        </mc:Choice>
        <mc:Fallback>
          <p:sp>
            <p:nvSpPr>
              <p:cNvPr id="13" name="TextBox 12">
                <a:extLst>
                  <a:ext uri="{FF2B5EF4-FFF2-40B4-BE49-F238E27FC236}">
                    <a16:creationId xmlns:a16="http://schemas.microsoft.com/office/drawing/2014/main" id="{C2795115-04E7-4685-F182-68F8D77FC2A8}"/>
                  </a:ext>
                </a:extLst>
              </p:cNvPr>
              <p:cNvSpPr txBox="1">
                <a:spLocks noRot="1" noChangeAspect="1" noMove="1" noResize="1" noEditPoints="1" noAdjustHandles="1" noChangeArrowheads="1" noChangeShapeType="1" noTextEdit="1"/>
              </p:cNvSpPr>
              <p:nvPr/>
            </p:nvSpPr>
            <p:spPr>
              <a:xfrm>
                <a:off x="9072280" y="2650759"/>
                <a:ext cx="1461810" cy="755591"/>
              </a:xfrm>
              <a:prstGeom prst="rect">
                <a:avLst/>
              </a:prstGeom>
              <a:blipFill>
                <a:blip r:embed="rId3"/>
                <a:stretch>
                  <a:fillRect l="-2586" r="-4310" b="-13115"/>
                </a:stretch>
              </a:blipFill>
            </p:spPr>
            <p:txBody>
              <a:bodyPr/>
              <a:lstStyle/>
              <a:p>
                <a:r>
                  <a:rPr lang="en-US">
                    <a:noFill/>
                  </a:rPr>
                  <a:t> </a:t>
                </a:r>
              </a:p>
            </p:txBody>
          </p:sp>
        </mc:Fallback>
      </mc:AlternateContent>
      <p:sp>
        <p:nvSpPr>
          <p:cNvPr id="3" name="Callout: Left Arrow 2">
            <a:extLst>
              <a:ext uri="{FF2B5EF4-FFF2-40B4-BE49-F238E27FC236}">
                <a16:creationId xmlns:a16="http://schemas.microsoft.com/office/drawing/2014/main" id="{CC743788-0BC9-D6BE-76D1-CA5B7A4C6374}"/>
              </a:ext>
            </a:extLst>
          </p:cNvPr>
          <p:cNvSpPr/>
          <p:nvPr/>
        </p:nvSpPr>
        <p:spPr>
          <a:xfrm>
            <a:off x="8942218" y="3719669"/>
            <a:ext cx="1828800" cy="629515"/>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to select </a:t>
            </a:r>
          </a:p>
        </p:txBody>
      </p:sp>
      <p:sp>
        <p:nvSpPr>
          <p:cNvPr id="20" name="TextBox 19">
            <a:extLst>
              <a:ext uri="{FF2B5EF4-FFF2-40B4-BE49-F238E27FC236}">
                <a16:creationId xmlns:a16="http://schemas.microsoft.com/office/drawing/2014/main" id="{D7909CD1-523D-E56A-2126-3AAD173DD7F2}"/>
              </a:ext>
            </a:extLst>
          </p:cNvPr>
          <p:cNvSpPr txBox="1"/>
          <p:nvPr/>
        </p:nvSpPr>
        <p:spPr>
          <a:xfrm>
            <a:off x="9891642" y="5310423"/>
            <a:ext cx="1758751" cy="461665"/>
          </a:xfrm>
          <a:prstGeom prst="rect">
            <a:avLst/>
          </a:prstGeom>
          <a:no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22" name="TextBox 21">
            <a:extLst>
              <a:ext uri="{FF2B5EF4-FFF2-40B4-BE49-F238E27FC236}">
                <a16:creationId xmlns:a16="http://schemas.microsoft.com/office/drawing/2014/main" id="{059465B5-2AAE-3FD3-24E9-40C061EBD4D1}"/>
              </a:ext>
            </a:extLst>
          </p:cNvPr>
          <p:cNvSpPr txBox="1"/>
          <p:nvPr/>
        </p:nvSpPr>
        <p:spPr>
          <a:xfrm>
            <a:off x="6470608" y="122632"/>
            <a:ext cx="3743909" cy="523220"/>
          </a:xfrm>
          <a:prstGeom prst="rect">
            <a:avLst/>
          </a:prstGeom>
          <a:noFill/>
        </p:spPr>
        <p:txBody>
          <a:bodyPr wrap="square" rtlCol="0">
            <a:spAutoFit/>
          </a:bodyPr>
          <a:lstStyle/>
          <a:p>
            <a:r>
              <a:rPr lang="en-US" sz="2800" dirty="0">
                <a:solidFill>
                  <a:srgbClr val="0070C0"/>
                </a:solidFill>
                <a:latin typeface="Agency FB" panose="020F0502020204030204" pitchFamily="34" charset="0"/>
              </a:rPr>
              <a:t>Visual estimate approach</a:t>
            </a:r>
          </a:p>
        </p:txBody>
      </p:sp>
    </p:spTree>
    <p:extLst>
      <p:ext uri="{BB962C8B-B14F-4D97-AF65-F5344CB8AC3E}">
        <p14:creationId xmlns:p14="http://schemas.microsoft.com/office/powerpoint/2010/main" val="2791689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871" y="769375"/>
            <a:ext cx="3857445" cy="5250411"/>
          </a:xfrm>
          <a:prstGeom prst="rect">
            <a:avLst/>
          </a:prstGeom>
        </p:spPr>
      </p:pic>
      <p:sp>
        <p:nvSpPr>
          <p:cNvPr id="4" name="Up Arrow 3">
            <a:extLst>
              <a:ext uri="{FF2B5EF4-FFF2-40B4-BE49-F238E27FC236}">
                <a16:creationId xmlns:a16="http://schemas.microsoft.com/office/drawing/2014/main" id="{531F3BCD-5442-FC4D-8D87-4E0DC96D7AE0}"/>
              </a:ext>
            </a:extLst>
          </p:cNvPr>
          <p:cNvSpPr/>
          <p:nvPr/>
        </p:nvSpPr>
        <p:spPr>
          <a:xfrm rot="679483">
            <a:off x="1683590" y="3670094"/>
            <a:ext cx="209489" cy="1461236"/>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Up Arrow 4">
            <a:extLst>
              <a:ext uri="{FF2B5EF4-FFF2-40B4-BE49-F238E27FC236}">
                <a16:creationId xmlns:a16="http://schemas.microsoft.com/office/drawing/2014/main" id="{33A908FF-8843-4349-A6C4-A22872FE1BEA}"/>
              </a:ext>
            </a:extLst>
          </p:cNvPr>
          <p:cNvSpPr/>
          <p:nvPr/>
        </p:nvSpPr>
        <p:spPr>
          <a:xfrm>
            <a:off x="3656136" y="4404501"/>
            <a:ext cx="237809" cy="1339826"/>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309E8E1-DCF8-854F-9C11-F3AA4EDF5FC8}"/>
              </a:ext>
            </a:extLst>
          </p:cNvPr>
          <p:cNvSpPr/>
          <p:nvPr/>
        </p:nvSpPr>
        <p:spPr>
          <a:xfrm>
            <a:off x="2066714" y="4525111"/>
            <a:ext cx="111365" cy="1368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DE5F2CC0-3D76-5348-9902-DA6143DF75F1}"/>
              </a:ext>
            </a:extLst>
          </p:cNvPr>
          <p:cNvCxnSpPr>
            <a:cxnSpLocks/>
          </p:cNvCxnSpPr>
          <p:nvPr/>
        </p:nvCxnSpPr>
        <p:spPr>
          <a:xfrm flipH="1">
            <a:off x="3305706" y="2736742"/>
            <a:ext cx="1265334"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A8F964C-C52F-224B-9B38-ED09BF1ADE8C}"/>
              </a:ext>
            </a:extLst>
          </p:cNvPr>
          <p:cNvCxnSpPr>
            <a:cxnSpLocks/>
          </p:cNvCxnSpPr>
          <p:nvPr/>
        </p:nvCxnSpPr>
        <p:spPr>
          <a:xfrm>
            <a:off x="3278788" y="3054540"/>
            <a:ext cx="66614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907898" y="3559342"/>
            <a:ext cx="1758751" cy="461665"/>
          </a:xfrm>
          <a:prstGeom prst="rect">
            <a:avLst/>
          </a:prstGeom>
          <a:no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21" name="TextBox 20"/>
          <p:cNvSpPr txBox="1"/>
          <p:nvPr/>
        </p:nvSpPr>
        <p:spPr>
          <a:xfrm>
            <a:off x="234484" y="932628"/>
            <a:ext cx="2380780" cy="461665"/>
          </a:xfrm>
          <a:prstGeom prst="rect">
            <a:avLst/>
          </a:prstGeom>
          <a:noFill/>
        </p:spPr>
        <p:txBody>
          <a:bodyPr wrap="none" rtlCol="0">
            <a:spAutoFit/>
          </a:bodyPr>
          <a:lstStyle/>
          <a:p>
            <a:r>
              <a:rPr lang="en-US" sz="2400" b="1" dirty="0">
                <a:solidFill>
                  <a:srgbClr val="FF0000"/>
                </a:solidFill>
              </a:rPr>
              <a:t>Achilles </a:t>
            </a:r>
            <a:r>
              <a:rPr lang="en-US" sz="2400" b="1" dirty="0"/>
              <a:t>=</a:t>
            </a:r>
            <a:r>
              <a:rPr lang="en-US" sz="2400" b="1" dirty="0">
                <a:solidFill>
                  <a:srgbClr val="FF0000"/>
                </a:solidFill>
              </a:rPr>
              <a:t> ? </a:t>
            </a:r>
            <a:r>
              <a:rPr lang="en-US" sz="2400" b="1" dirty="0">
                <a:solidFill>
                  <a:srgbClr val="0070C0"/>
                </a:solidFill>
              </a:rPr>
              <a:t>W</a:t>
            </a:r>
            <a:r>
              <a:rPr lang="en-US" sz="2400" b="1" baseline="-25000" dirty="0">
                <a:solidFill>
                  <a:srgbClr val="0070C0"/>
                </a:solidFill>
              </a:rPr>
              <a:t>body</a:t>
            </a:r>
          </a:p>
        </p:txBody>
      </p:sp>
      <p:sp>
        <p:nvSpPr>
          <p:cNvPr id="9" name="TextBox 8">
            <a:extLst>
              <a:ext uri="{FF2B5EF4-FFF2-40B4-BE49-F238E27FC236}">
                <a16:creationId xmlns:a16="http://schemas.microsoft.com/office/drawing/2014/main" id="{D7C4F125-CAA9-9C59-06C9-72DBA0A1BEDC}"/>
              </a:ext>
            </a:extLst>
          </p:cNvPr>
          <p:cNvSpPr txBox="1"/>
          <p:nvPr/>
        </p:nvSpPr>
        <p:spPr>
          <a:xfrm>
            <a:off x="5230088" y="180380"/>
            <a:ext cx="6505813" cy="461665"/>
          </a:xfrm>
          <a:prstGeom prst="rect">
            <a:avLst/>
          </a:prstGeom>
          <a:noFill/>
        </p:spPr>
        <p:txBody>
          <a:bodyPr wrap="square" rtlCol="0">
            <a:spAutoFit/>
          </a:bodyPr>
          <a:lstStyle/>
          <a:p>
            <a:r>
              <a:rPr lang="en-US" sz="2400" b="1" dirty="0">
                <a:solidFill>
                  <a:srgbClr val="0070C0"/>
                </a:solidFill>
              </a:rPr>
              <a:t>Calculation version for estimate for Achilles force</a:t>
            </a:r>
          </a:p>
        </p:txBody>
      </p:sp>
      <p:sp>
        <p:nvSpPr>
          <p:cNvPr id="11" name="Text Box 324">
            <a:extLst>
              <a:ext uri="{FF2B5EF4-FFF2-40B4-BE49-F238E27FC236}">
                <a16:creationId xmlns:a16="http://schemas.microsoft.com/office/drawing/2014/main" id="{286B53D2-56CF-B0E1-6D9E-6D88F403498D}"/>
              </a:ext>
            </a:extLst>
          </p:cNvPr>
          <p:cNvSpPr txBox="1"/>
          <p:nvPr/>
        </p:nvSpPr>
        <p:spPr>
          <a:xfrm>
            <a:off x="3272814" y="3085292"/>
            <a:ext cx="628650" cy="2657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324">
            <a:extLst>
              <a:ext uri="{FF2B5EF4-FFF2-40B4-BE49-F238E27FC236}">
                <a16:creationId xmlns:a16="http://schemas.microsoft.com/office/drawing/2014/main" id="{8FD998FB-D09E-978B-2692-D217FC4EE3A2}"/>
              </a:ext>
            </a:extLst>
          </p:cNvPr>
          <p:cNvSpPr txBox="1"/>
          <p:nvPr/>
        </p:nvSpPr>
        <p:spPr>
          <a:xfrm>
            <a:off x="3341811" y="2603854"/>
            <a:ext cx="628650" cy="2657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US"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C3B2C1D-F3A4-3D6C-D399-35E988E8C7DA}"/>
                  </a:ext>
                </a:extLst>
              </p:cNvPr>
              <p:cNvSpPr/>
              <p:nvPr/>
            </p:nvSpPr>
            <p:spPr>
              <a:xfrm>
                <a:off x="5881862" y="649880"/>
                <a:ext cx="5202267" cy="6058518"/>
              </a:xfrm>
              <a:prstGeom prst="rect">
                <a:avLst/>
              </a:prstGeom>
            </p:spPr>
            <p:txBody>
              <a:bodyPr wrap="square">
                <a:spAutoFit/>
              </a:bodyPr>
              <a:lstStyle/>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a:t>
                </a:r>
                <a:r>
                  <a:rPr lang="en-US" sz="2400" b="1" dirty="0">
                    <a:latin typeface="Calibri" panose="020F0502020204030204" pitchFamily="34" charset="0"/>
                    <a:ea typeface="Calibri" panose="020F0502020204030204" pitchFamily="34" charset="0"/>
                    <a:cs typeface="Times New Roman" panose="02020603050405020304" pitchFamily="18" charset="0"/>
                  </a:rPr>
                  <a:t> = 0</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 </a:t>
                </a: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Achilles</a:t>
                </a:r>
                <a:r>
                  <a:rPr lang="en-US" sz="2400" dirty="0">
                    <a:latin typeface="Calibri" panose="020F0502020204030204" pitchFamily="34" charset="0"/>
                    <a:ea typeface="Calibri" panose="020F0502020204030204" pitchFamily="34" charset="0"/>
                    <a:cs typeface="Times New Roman" panose="02020603050405020304" pitchFamily="18" charset="0"/>
                  </a:rPr>
                  <a:t> - </a:t>
                </a: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a:t>
                </a:r>
                <a:r>
                  <a:rPr lang="en-US" sz="2400" b="1" baseline="-25000" dirty="0">
                    <a:latin typeface="Calibri" panose="020F0502020204030204" pitchFamily="34" charset="0"/>
                    <a:ea typeface="Calibri" panose="020F0502020204030204" pitchFamily="34" charset="0"/>
                    <a:cs typeface="Times New Roman" panose="02020603050405020304" pitchFamily="18" charset="0"/>
                    <a:sym typeface="Symbol" pitchFamily="2" charset="2"/>
                  </a:rPr>
                  <a:t>floor</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Calibri" panose="020F0502020204030204" pitchFamily="34" charset="0"/>
                    <a:ea typeface="Calibri" panose="020F0502020204030204" pitchFamily="34" charset="0"/>
                    <a:cs typeface="Times New Roman" panose="02020603050405020304" pitchFamily="18" charset="0"/>
                  </a:rPr>
                  <a:t>= 0</a:t>
                </a:r>
              </a:p>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Achilles</a:t>
                </a:r>
                <a:r>
                  <a:rPr lang="en-US" sz="2400" dirty="0">
                    <a:latin typeface="Calibri" panose="020F0502020204030204" pitchFamily="34" charset="0"/>
                    <a:ea typeface="Calibri" panose="020F0502020204030204" pitchFamily="34" charset="0"/>
                    <a:cs typeface="Times New Roman" panose="02020603050405020304" pitchFamily="18" charset="0"/>
                  </a:rPr>
                  <a:t> = </a:t>
                </a: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floor</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Calibri" panose="020F0502020204030204" pitchFamily="34" charset="0"/>
                    <a:ea typeface="Calibri" panose="020F0502020204030204" pitchFamily="34" charset="0"/>
                    <a:cs typeface="Times New Roman" panose="02020603050405020304" pitchFamily="18" charset="0"/>
                  </a:rPr>
                  <a:t>x </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 </a:t>
                </a:r>
                <a:r>
                  <a:rPr lang="en-US" sz="2400" b="1" dirty="0">
                    <a:latin typeface="Calibri" panose="020F0502020204030204" pitchFamily="34" charset="0"/>
                    <a:ea typeface="Calibri" panose="020F0502020204030204" pitchFamily="34" charset="0"/>
                    <a:cs typeface="Times New Roman" panose="02020603050405020304" pitchFamily="18" charset="0"/>
                  </a:rPr>
                  <a:t>= </a:t>
                </a: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n</a:t>
                </a:r>
                <a:r>
                  <a:rPr lang="en-US" sz="2400" b="1"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r>
                  <a:rPr lang="en-US" sz="2400" dirty="0">
                    <a:latin typeface="Calibri" panose="020F0502020204030204" pitchFamily="34" charset="0"/>
                    <a:ea typeface="Calibri" panose="020F0502020204030204" pitchFamily="34" charset="0"/>
                    <a:cs typeface="Times New Roman" panose="02020603050405020304" pitchFamily="18" charset="0"/>
                  </a:rPr>
                  <a:t>x</a:t>
                </a:r>
                <a:r>
                  <a:rPr lang="en-US" sz="2400" b="1" dirty="0">
                    <a:latin typeface="Calibri" panose="020F0502020204030204" pitchFamily="34" charset="0"/>
                    <a:ea typeface="Calibri" panose="020F0502020204030204" pitchFamily="34" charset="0"/>
                    <a:cs typeface="Times New Roman" panose="02020603050405020304" pitchFamily="18" charset="0"/>
                  </a:rPr>
                  <a:t>  </a:t>
                </a: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r</a:t>
                </a:r>
                <a:r>
                  <a:rPr lang="en-US" sz="2400" b="1"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US" sz="2400" b="1"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p>
              <a:p>
                <a:pPr marL="457200" marR="0">
                  <a:lnSpc>
                    <a:spcPct val="115000"/>
                  </a:lnSpc>
                  <a:spcBef>
                    <a:spcPts val="0"/>
                  </a:spcBef>
                  <a:spcAft>
                    <a:spcPts val="1000"/>
                  </a:spcAft>
                </a:pP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b="1"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US" sz="2400" b="1" i="1" smtClean="0">
                            <a:latin typeface="Cambria Math" panose="02040503050406030204" pitchFamily="18" charset="0"/>
                            <a:cs typeface="Times New Roman" panose="02020603050405020304" pitchFamily="18" charset="0"/>
                          </a:rPr>
                        </m:ctrlPr>
                      </m:fPr>
                      <m:num>
                        <m:r>
                          <m:rPr>
                            <m:nor/>
                          </m:rPr>
                          <a:rPr lang="en-US" sz="2400" b="1">
                            <a:solidFill>
                              <a:srgbClr val="00B050"/>
                            </a:solidFill>
                            <a:latin typeface="Calibri" panose="020F0502020204030204" pitchFamily="34" charset="0"/>
                            <a:ea typeface="Calibri" panose="020F0502020204030204" pitchFamily="34" charset="0"/>
                            <a:cs typeface="Times New Roman" panose="02020603050405020304" pitchFamily="18" charset="0"/>
                          </a:rPr>
                          <m:t>n</m:t>
                        </m:r>
                        <m:r>
                          <m:rPr>
                            <m:nor/>
                          </m:rPr>
                          <a:rPr lang="en-US" sz="2400" b="1" baseline="-25000">
                            <a:solidFill>
                              <a:srgbClr val="00B050"/>
                            </a:solidFill>
                            <a:latin typeface="Calibri" panose="020F0502020204030204" pitchFamily="34" charset="0"/>
                            <a:ea typeface="Calibri" panose="020F0502020204030204" pitchFamily="34" charset="0"/>
                            <a:cs typeface="Times New Roman" panose="02020603050405020304" pitchFamily="18" charset="0"/>
                          </a:rPr>
                          <m:t>floor</m:t>
                        </m:r>
                        <m:r>
                          <m:rPr>
                            <m:nor/>
                          </m:rPr>
                          <a:rPr lang="en-US" sz="2400">
                            <a:latin typeface="Calibri" panose="020F0502020204030204" pitchFamily="34" charset="0"/>
                            <a:ea typeface="Calibri" panose="020F0502020204030204" pitchFamily="34" charset="0"/>
                            <a:cs typeface="Times New Roman" panose="02020603050405020304" pitchFamily="18" charset="0"/>
                          </a:rPr>
                          <m:t>x</m:t>
                        </m:r>
                        <m:r>
                          <m:rPr>
                            <m:nor/>
                          </m:rPr>
                          <a:rPr lang="en-US" sz="2400" b="1">
                            <a:latin typeface="Calibri" panose="020F0502020204030204" pitchFamily="34" charset="0"/>
                            <a:ea typeface="Calibri" panose="020F0502020204030204" pitchFamily="34" charset="0"/>
                            <a:cs typeface="Times New Roman" panose="02020603050405020304" pitchFamily="18" charset="0"/>
                          </a:rPr>
                          <m:t> </m:t>
                        </m:r>
                        <m:r>
                          <m:rPr>
                            <m:nor/>
                          </m:rPr>
                          <a:rPr lang="en-US" sz="2400" b="1">
                            <a:solidFill>
                              <a:srgbClr val="00B050"/>
                            </a:solidFill>
                            <a:latin typeface="Calibri" panose="020F0502020204030204" pitchFamily="34" charset="0"/>
                            <a:ea typeface="Calibri" panose="020F0502020204030204" pitchFamily="34" charset="0"/>
                            <a:cs typeface="Times New Roman" panose="02020603050405020304" pitchFamily="18" charset="0"/>
                          </a:rPr>
                          <m:t>r</m:t>
                        </m:r>
                        <m:r>
                          <m:rPr>
                            <m:nor/>
                          </m:rPr>
                          <a:rPr lang="en-US" sz="2400" b="1" baseline="-25000">
                            <a:solidFill>
                              <a:srgbClr val="00B05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m:t></m:t>
                        </m:r>
                        <m:r>
                          <m:rPr>
                            <m:nor/>
                          </m:rPr>
                          <a:rPr lang="en-US" sz="2400" b="1" baseline="-25000">
                            <a:solidFill>
                              <a:srgbClr val="00B050"/>
                            </a:solidFill>
                            <a:latin typeface="Calibri" panose="020F0502020204030204" pitchFamily="34" charset="0"/>
                            <a:ea typeface="Calibri" panose="020F0502020204030204" pitchFamily="34" charset="0"/>
                            <a:cs typeface="Times New Roman" panose="02020603050405020304" pitchFamily="18" charset="0"/>
                          </a:rPr>
                          <m:t>floor</m:t>
                        </m:r>
                      </m:num>
                      <m:den>
                        <m:r>
                          <m:rPr>
                            <m:nor/>
                          </m:rPr>
                          <a:rPr lang="en-US" sz="2400" b="1">
                            <a:solidFill>
                              <a:srgbClr val="FF0000"/>
                            </a:solidFill>
                            <a:latin typeface="Calibri" panose="020F0502020204030204" pitchFamily="34" charset="0"/>
                            <a:ea typeface="Calibri" panose="020F0502020204030204" pitchFamily="34" charset="0"/>
                            <a:cs typeface="Times New Roman" panose="02020603050405020304" pitchFamily="18" charset="0"/>
                          </a:rPr>
                          <m:t>r</m:t>
                        </m:r>
                        <m:r>
                          <m:rPr>
                            <m:nor/>
                          </m:rPr>
                          <a:rPr lang="en-US" sz="2400" b="1" baseline="-25000">
                            <a:solidFill>
                              <a:srgbClr val="FF000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m:t></m:t>
                        </m:r>
                        <m:r>
                          <m:rPr>
                            <m:nor/>
                          </m:rPr>
                          <a:rPr lang="en-US" sz="2400" b="1" baseline="-25000">
                            <a:solidFill>
                              <a:srgbClr val="FF0000"/>
                            </a:solidFill>
                            <a:latin typeface="Calibri" panose="020F0502020204030204" pitchFamily="34" charset="0"/>
                            <a:ea typeface="Calibri" panose="020F0502020204030204" pitchFamily="34" charset="0"/>
                            <a:cs typeface="Times New Roman" panose="02020603050405020304" pitchFamily="18" charset="0"/>
                          </a:rPr>
                          <m:t>Achilles</m:t>
                        </m:r>
                      </m:den>
                    </m:f>
                  </m:oMath>
                </a14:m>
                <a:endPar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           =  </a:t>
                </a: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n</a:t>
                </a:r>
                <a:r>
                  <a:rPr lang="en-US" sz="2400" b="1"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r>
                  <a:rPr lang="en-US" sz="2400" b="1"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US" sz="2400" b="1" i="1" smtClean="0">
                            <a:latin typeface="Cambria Math" panose="02040503050406030204" pitchFamily="18" charset="0"/>
                            <a:cs typeface="Times New Roman" panose="02020603050405020304" pitchFamily="18" charset="0"/>
                          </a:rPr>
                        </m:ctrlPr>
                      </m:fPr>
                      <m:num>
                        <m:r>
                          <m:rPr>
                            <m:nor/>
                          </m:rPr>
                          <a:rPr lang="en-US" sz="2400" b="1">
                            <a:solidFill>
                              <a:srgbClr val="00B050"/>
                            </a:solidFill>
                            <a:latin typeface="Calibri" panose="020F0502020204030204" pitchFamily="34" charset="0"/>
                            <a:ea typeface="Calibri" panose="020F0502020204030204" pitchFamily="34" charset="0"/>
                            <a:cs typeface="Times New Roman" panose="02020603050405020304" pitchFamily="18" charset="0"/>
                          </a:rPr>
                          <m:t>r</m:t>
                        </m:r>
                        <m:r>
                          <m:rPr>
                            <m:nor/>
                          </m:rPr>
                          <a:rPr lang="en-US" sz="2400" b="1" baseline="-25000">
                            <a:solidFill>
                              <a:srgbClr val="00B05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m:t></m:t>
                        </m:r>
                        <m:r>
                          <m:rPr>
                            <m:nor/>
                          </m:rPr>
                          <a:rPr lang="en-US" sz="2400" b="1" baseline="-25000">
                            <a:solidFill>
                              <a:srgbClr val="00B050"/>
                            </a:solidFill>
                            <a:latin typeface="Calibri" panose="020F0502020204030204" pitchFamily="34" charset="0"/>
                            <a:ea typeface="Calibri" panose="020F0502020204030204" pitchFamily="34" charset="0"/>
                            <a:cs typeface="Times New Roman" panose="02020603050405020304" pitchFamily="18" charset="0"/>
                          </a:rPr>
                          <m:t>floor</m:t>
                        </m:r>
                      </m:num>
                      <m:den>
                        <m:r>
                          <m:rPr>
                            <m:nor/>
                          </m:rPr>
                          <a:rPr lang="en-US" sz="2400" b="1">
                            <a:solidFill>
                              <a:srgbClr val="FF0000"/>
                            </a:solidFill>
                            <a:latin typeface="Calibri" panose="020F0502020204030204" pitchFamily="34" charset="0"/>
                            <a:ea typeface="Calibri" panose="020F0502020204030204" pitchFamily="34" charset="0"/>
                            <a:cs typeface="Times New Roman" panose="02020603050405020304" pitchFamily="18" charset="0"/>
                          </a:rPr>
                          <m:t>r</m:t>
                        </m:r>
                        <m:r>
                          <m:rPr>
                            <m:nor/>
                          </m:rPr>
                          <a:rPr lang="en-US" sz="2400" b="1" baseline="-25000">
                            <a:solidFill>
                              <a:srgbClr val="FF0000"/>
                            </a:solidFill>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m:t></m:t>
                        </m:r>
                        <m:r>
                          <m:rPr>
                            <m:nor/>
                          </m:rPr>
                          <a:rPr lang="en-US" sz="2400" b="1" baseline="-25000">
                            <a:solidFill>
                              <a:srgbClr val="FF0000"/>
                            </a:solidFill>
                            <a:latin typeface="Calibri" panose="020F0502020204030204" pitchFamily="34" charset="0"/>
                            <a:ea typeface="Calibri" panose="020F0502020204030204" pitchFamily="34" charset="0"/>
                            <a:cs typeface="Times New Roman" panose="02020603050405020304" pitchFamily="18" charset="0"/>
                          </a:rPr>
                          <m:t>Achilles</m:t>
                        </m:r>
                      </m:den>
                    </m:f>
                  </m:oMath>
                </a14:m>
                <a:r>
                  <a:rPr lang="en-US" sz="2400" dirty="0">
                    <a:latin typeface="Calibri" panose="020F0502020204030204" pitchFamily="34" charset="0"/>
                    <a:ea typeface="Calibri" panose="020F0502020204030204" pitchFamily="34" charset="0"/>
                    <a:cs typeface="Times New Roman" panose="02020603050405020304" pitchFamily="18" charset="0"/>
                  </a:rPr>
                  <a:t>)</a:t>
                </a:r>
              </a:p>
              <a:p>
                <a:pPr marL="457200" marR="0">
                  <a:lnSpc>
                    <a:spcPct val="115000"/>
                  </a:lnSpc>
                  <a:spcBef>
                    <a:spcPts val="0"/>
                  </a:spcBef>
                  <a:spcAft>
                    <a:spcPts val="1000"/>
                  </a:spcAft>
                </a:pP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b="1" dirty="0">
                    <a:latin typeface="Calibri" panose="020F0502020204030204" pitchFamily="34" charset="0"/>
                    <a:ea typeface="Calibri" panose="020F0502020204030204" pitchFamily="34" charset="0"/>
                    <a:cs typeface="Times New Roman" panose="02020603050405020304" pitchFamily="18" charset="0"/>
                  </a:rPr>
                  <a:t>=  </a:t>
                </a: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n</a:t>
                </a:r>
                <a:r>
                  <a:rPr lang="en-US" sz="2400" b="1"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Calibri" panose="020F0502020204030204" pitchFamily="34" charset="0"/>
                    <a:ea typeface="Calibri" panose="020F0502020204030204" pitchFamily="34" charset="0"/>
                    <a:cs typeface="Times New Roman" panose="02020603050405020304" pitchFamily="18" charset="0"/>
                  </a:rPr>
                  <a:t>(</a:t>
                </a:r>
                <a14:m>
                  <m:oMath xmlns:m="http://schemas.openxmlformats.org/officeDocument/2006/math">
                    <m:r>
                      <a:rPr lang="en-US" sz="2400" b="1" i="1" smtClean="0">
                        <a:solidFill>
                          <a:schemeClr val="tx1"/>
                        </a:solidFill>
                        <a:latin typeface="Cambria Math" panose="02040503050406030204" pitchFamily="18" charset="0"/>
                        <a:cs typeface="Times New Roman" panose="02020603050405020304" pitchFamily="18" charset="0"/>
                      </a:rPr>
                      <m:t>?</m:t>
                    </m:r>
                  </m:oMath>
                </a14:m>
                <a:r>
                  <a:rPr lang="en-US" sz="2400" dirty="0">
                    <a:latin typeface="Calibri" panose="020F0502020204030204" pitchFamily="34" charset="0"/>
                    <a:ea typeface="Calibri" panose="020F0502020204030204" pitchFamily="34" charset="0"/>
                    <a:cs typeface="Times New Roman" panose="02020603050405020304" pitchFamily="18" charset="0"/>
                  </a:rPr>
                  <a:t>)</a:t>
                </a:r>
              </a:p>
              <a:p>
                <a:pPr marL="457200">
                  <a:lnSpc>
                    <a:spcPct val="115000"/>
                  </a:lnSpc>
                  <a:spcAft>
                    <a:spcPts val="1000"/>
                  </a:spcAft>
                </a:pP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F</a:t>
                </a:r>
                <a:r>
                  <a:rPr lang="en-US" sz="2400" b="1"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 </a:t>
                </a:r>
                <a:r>
                  <a:rPr lang="en-US" sz="2400" b="1" dirty="0">
                    <a:latin typeface="Calibri" panose="020F0502020204030204" pitchFamily="34" charset="0"/>
                    <a:ea typeface="Calibri" panose="020F0502020204030204" pitchFamily="34" charset="0"/>
                    <a:cs typeface="Times New Roman" panose="02020603050405020304" pitchFamily="18" charset="0"/>
                  </a:rPr>
                  <a:t>=  ? </a:t>
                </a:r>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W</a:t>
                </a:r>
                <a:r>
                  <a:rPr lang="en-US" sz="2400" b="1" baseline="-25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body</a:t>
                </a:r>
                <a:endParaRPr lang="en-US" sz="2400" baseline="-25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1000"/>
                  </a:spcAft>
                </a:pPr>
                <a:endParaRPr lang="en-US" sz="1600" b="1"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1000"/>
                  </a:spcAft>
                </a:pPr>
                <a:endParaRPr lang="en-US" sz="105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Rectangle 15">
                <a:extLst>
                  <a:ext uri="{FF2B5EF4-FFF2-40B4-BE49-F238E27FC236}">
                    <a16:creationId xmlns:a16="http://schemas.microsoft.com/office/drawing/2014/main" id="{AC3B2C1D-F3A4-3D6C-D399-35E988E8C7DA}"/>
                  </a:ext>
                </a:extLst>
              </p:cNvPr>
              <p:cNvSpPr>
                <a:spLocks noRot="1" noChangeAspect="1" noMove="1" noResize="1" noEditPoints="1" noAdjustHandles="1" noChangeArrowheads="1" noChangeShapeType="1" noTextEdit="1"/>
              </p:cNvSpPr>
              <p:nvPr/>
            </p:nvSpPr>
            <p:spPr>
              <a:xfrm>
                <a:off x="5881862" y="649880"/>
                <a:ext cx="5202267" cy="6058518"/>
              </a:xfrm>
              <a:prstGeom prst="rect">
                <a:avLst/>
              </a:prstGeom>
              <a:blipFill>
                <a:blip r:embed="rId3"/>
                <a:stretch>
                  <a:fillRect t="-62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1594348-DDB5-C0B8-9BD8-B5BE475F806A}"/>
              </a:ext>
            </a:extLst>
          </p:cNvPr>
          <p:cNvSpPr txBox="1"/>
          <p:nvPr/>
        </p:nvSpPr>
        <p:spPr>
          <a:xfrm>
            <a:off x="5230088" y="6019786"/>
            <a:ext cx="5259397" cy="461665"/>
          </a:xfrm>
          <a:prstGeom prst="rect">
            <a:avLst/>
          </a:prstGeom>
          <a:noFill/>
        </p:spPr>
        <p:txBody>
          <a:bodyPr wrap="square" rtlCol="0">
            <a:spAutoFit/>
          </a:bodyPr>
          <a:lstStyle/>
          <a:p>
            <a:r>
              <a:rPr lang="en-US" sz="2400" b="1" dirty="0">
                <a:solidFill>
                  <a:srgbClr val="C00000"/>
                </a:solidFill>
              </a:rPr>
              <a:t>Resize</a:t>
            </a:r>
            <a:r>
              <a:rPr lang="en-US" sz="2400" dirty="0">
                <a:solidFill>
                  <a:srgbClr val="C00000"/>
                </a:solidFill>
              </a:rPr>
              <a:t> Achilles force vector accordingly</a:t>
            </a:r>
          </a:p>
        </p:txBody>
      </p:sp>
      <p:sp>
        <p:nvSpPr>
          <p:cNvPr id="10" name="TextBox 9">
            <a:extLst>
              <a:ext uri="{FF2B5EF4-FFF2-40B4-BE49-F238E27FC236}">
                <a16:creationId xmlns:a16="http://schemas.microsoft.com/office/drawing/2014/main" id="{EF7047E7-61D3-5A4D-5844-1E294C469778}"/>
              </a:ext>
            </a:extLst>
          </p:cNvPr>
          <p:cNvSpPr txBox="1"/>
          <p:nvPr/>
        </p:nvSpPr>
        <p:spPr>
          <a:xfrm>
            <a:off x="9977150" y="4676009"/>
            <a:ext cx="1758751" cy="461665"/>
          </a:xfrm>
          <a:prstGeom prst="rect">
            <a:avLst/>
          </a:prstGeom>
          <a:no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Tree>
    <p:extLst>
      <p:ext uri="{BB962C8B-B14F-4D97-AF65-F5344CB8AC3E}">
        <p14:creationId xmlns:p14="http://schemas.microsoft.com/office/powerpoint/2010/main" val="315670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4309E8E1-DCF8-854F-9C11-F3AA4EDF5FC8}"/>
              </a:ext>
            </a:extLst>
          </p:cNvPr>
          <p:cNvSpPr/>
          <p:nvPr/>
        </p:nvSpPr>
        <p:spPr>
          <a:xfrm>
            <a:off x="2066714" y="4525111"/>
            <a:ext cx="111365" cy="1368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13832" y="921609"/>
            <a:ext cx="2393604" cy="461665"/>
          </a:xfrm>
          <a:prstGeom prst="rect">
            <a:avLst/>
          </a:prstGeom>
          <a:noFill/>
        </p:spPr>
        <p:txBody>
          <a:bodyPr wrap="none" rtlCol="0">
            <a:spAutoFit/>
          </a:bodyPr>
          <a:lstStyle/>
          <a:p>
            <a:r>
              <a:rPr lang="en-US" sz="2400" b="1" dirty="0">
                <a:solidFill>
                  <a:srgbClr val="FF0000"/>
                </a:solidFill>
              </a:rPr>
              <a:t>Achilles </a:t>
            </a:r>
            <a:r>
              <a:rPr lang="en-US" sz="2400" b="1" dirty="0"/>
              <a:t>=</a:t>
            </a:r>
            <a:r>
              <a:rPr lang="en-US" sz="2400" b="1" dirty="0">
                <a:solidFill>
                  <a:srgbClr val="FF0000"/>
                </a:solidFill>
              </a:rPr>
              <a:t> ? </a:t>
            </a:r>
            <a:r>
              <a:rPr lang="en-US" sz="2400" b="1" dirty="0">
                <a:solidFill>
                  <a:srgbClr val="0070C0"/>
                </a:solidFill>
              </a:rPr>
              <a:t>W</a:t>
            </a:r>
            <a:r>
              <a:rPr lang="en-US" sz="2400" b="1" baseline="-25000" dirty="0">
                <a:solidFill>
                  <a:srgbClr val="0070C0"/>
                </a:solidFill>
              </a:rPr>
              <a:t>body</a:t>
            </a:r>
          </a:p>
        </p:txBody>
      </p:sp>
      <p:sp>
        <p:nvSpPr>
          <p:cNvPr id="23" name="Rectangle 22">
            <a:extLst>
              <a:ext uri="{FF2B5EF4-FFF2-40B4-BE49-F238E27FC236}">
                <a16:creationId xmlns:a16="http://schemas.microsoft.com/office/drawing/2014/main" id="{0852851B-E29C-4D5C-8FBA-750EA5265F7B}"/>
              </a:ext>
            </a:extLst>
          </p:cNvPr>
          <p:cNvSpPr/>
          <p:nvPr/>
        </p:nvSpPr>
        <p:spPr>
          <a:xfrm>
            <a:off x="5310211" y="219589"/>
            <a:ext cx="2959190" cy="488980"/>
          </a:xfrm>
          <a:prstGeom prst="rect">
            <a:avLst/>
          </a:prstGeom>
        </p:spPr>
        <p:txBody>
          <a:bodyPr wrap="square">
            <a:spAutoFit/>
          </a:bodyPr>
          <a:lstStyle/>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F</a:t>
            </a:r>
            <a:r>
              <a:rPr lang="en-US" sz="2400" b="1" dirty="0">
                <a:latin typeface="Calibri" panose="020F0502020204030204" pitchFamily="34" charset="0"/>
                <a:ea typeface="Calibri" panose="020F0502020204030204" pitchFamily="34" charset="0"/>
                <a:cs typeface="Times New Roman" panose="02020603050405020304" pitchFamily="18" charset="0"/>
              </a:rPr>
              <a:t> = 0</a:t>
            </a:r>
          </a:p>
        </p:txBody>
      </p:sp>
      <p:sp>
        <p:nvSpPr>
          <p:cNvPr id="3" name="TextBox 2">
            <a:extLst>
              <a:ext uri="{FF2B5EF4-FFF2-40B4-BE49-F238E27FC236}">
                <a16:creationId xmlns:a16="http://schemas.microsoft.com/office/drawing/2014/main" id="{B896F30E-444D-E61A-F736-33CA4BE62438}"/>
              </a:ext>
            </a:extLst>
          </p:cNvPr>
          <p:cNvSpPr txBox="1"/>
          <p:nvPr/>
        </p:nvSpPr>
        <p:spPr>
          <a:xfrm>
            <a:off x="5783580" y="1143000"/>
            <a:ext cx="5806440" cy="461665"/>
          </a:xfrm>
          <a:prstGeom prst="rect">
            <a:avLst/>
          </a:prstGeom>
          <a:noFill/>
        </p:spPr>
        <p:txBody>
          <a:bodyPr wrap="square" rtlCol="0">
            <a:spAutoFit/>
          </a:bodyPr>
          <a:lstStyle/>
          <a:p>
            <a:r>
              <a:rPr lang="en-US" sz="2400" dirty="0">
                <a:solidFill>
                  <a:srgbClr val="C00000"/>
                </a:solidFill>
              </a:rPr>
              <a:t>Are forces on foot balanced, as shown?</a:t>
            </a:r>
          </a:p>
        </p:txBody>
      </p:sp>
      <p:sp>
        <p:nvSpPr>
          <p:cNvPr id="7" name="TextBox 6">
            <a:extLst>
              <a:ext uri="{FF2B5EF4-FFF2-40B4-BE49-F238E27FC236}">
                <a16:creationId xmlns:a16="http://schemas.microsoft.com/office/drawing/2014/main" id="{B1AFBE68-BE1C-3F2A-A5A2-9B9FD6A5E306}"/>
              </a:ext>
            </a:extLst>
          </p:cNvPr>
          <p:cNvSpPr txBox="1"/>
          <p:nvPr/>
        </p:nvSpPr>
        <p:spPr>
          <a:xfrm>
            <a:off x="6474372" y="2123090"/>
            <a:ext cx="924911" cy="461665"/>
          </a:xfrm>
          <a:prstGeom prst="rect">
            <a:avLst/>
          </a:prstGeom>
          <a:noFill/>
        </p:spPr>
        <p:txBody>
          <a:bodyPr wrap="square" rtlCol="0">
            <a:spAutoFit/>
          </a:bodyPr>
          <a:lstStyle/>
          <a:p>
            <a:r>
              <a:rPr lang="en-US" sz="2400" dirty="0"/>
              <a:t>yes</a:t>
            </a:r>
          </a:p>
        </p:txBody>
      </p:sp>
      <p:sp>
        <p:nvSpPr>
          <p:cNvPr id="8" name="TextBox 7">
            <a:extLst>
              <a:ext uri="{FF2B5EF4-FFF2-40B4-BE49-F238E27FC236}">
                <a16:creationId xmlns:a16="http://schemas.microsoft.com/office/drawing/2014/main" id="{EF0256B7-1070-B83E-1CDA-03B02EFD16D8}"/>
              </a:ext>
            </a:extLst>
          </p:cNvPr>
          <p:cNvSpPr txBox="1"/>
          <p:nvPr/>
        </p:nvSpPr>
        <p:spPr>
          <a:xfrm>
            <a:off x="7806945" y="2101763"/>
            <a:ext cx="924911" cy="461665"/>
          </a:xfrm>
          <a:prstGeom prst="rect">
            <a:avLst/>
          </a:prstGeom>
          <a:noFill/>
        </p:spPr>
        <p:txBody>
          <a:bodyPr wrap="square" rtlCol="0">
            <a:spAutoFit/>
          </a:bodyPr>
          <a:lstStyle/>
          <a:p>
            <a:r>
              <a:rPr lang="en-US" sz="2400" dirty="0"/>
              <a:t>no</a:t>
            </a:r>
          </a:p>
        </p:txBody>
      </p:sp>
      <p:sp>
        <p:nvSpPr>
          <p:cNvPr id="9" name="Rectangle 8">
            <a:extLst>
              <a:ext uri="{FF2B5EF4-FFF2-40B4-BE49-F238E27FC236}">
                <a16:creationId xmlns:a16="http://schemas.microsoft.com/office/drawing/2014/main" id="{6CA31451-4CF0-7D79-9A28-A1F109E42E40}"/>
              </a:ext>
            </a:extLst>
          </p:cNvPr>
          <p:cNvSpPr/>
          <p:nvPr/>
        </p:nvSpPr>
        <p:spPr>
          <a:xfrm>
            <a:off x="9058119" y="2039096"/>
            <a:ext cx="988148" cy="3719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allout: Left Arrow 9">
            <a:extLst>
              <a:ext uri="{FF2B5EF4-FFF2-40B4-BE49-F238E27FC236}">
                <a16:creationId xmlns:a16="http://schemas.microsoft.com/office/drawing/2014/main" id="{D2800B04-5732-5061-EA9A-61A6EA1BE95E}"/>
              </a:ext>
            </a:extLst>
          </p:cNvPr>
          <p:cNvSpPr/>
          <p:nvPr/>
        </p:nvSpPr>
        <p:spPr>
          <a:xfrm>
            <a:off x="10077336" y="1910322"/>
            <a:ext cx="1828800" cy="629515"/>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to select </a:t>
            </a:r>
          </a:p>
        </p:txBody>
      </p:sp>
      <p:sp>
        <p:nvSpPr>
          <p:cNvPr id="11" name="TextBox 10">
            <a:extLst>
              <a:ext uri="{FF2B5EF4-FFF2-40B4-BE49-F238E27FC236}">
                <a16:creationId xmlns:a16="http://schemas.microsoft.com/office/drawing/2014/main" id="{F98D082B-B358-FAEC-34DB-12F3D9CBB36E}"/>
              </a:ext>
            </a:extLst>
          </p:cNvPr>
          <p:cNvSpPr txBox="1"/>
          <p:nvPr/>
        </p:nvSpPr>
        <p:spPr>
          <a:xfrm>
            <a:off x="5207979" y="3690533"/>
            <a:ext cx="6551351" cy="1938992"/>
          </a:xfrm>
          <a:prstGeom prst="rect">
            <a:avLst/>
          </a:prstGeom>
          <a:noFill/>
        </p:spPr>
        <p:txBody>
          <a:bodyPr wrap="square" rtlCol="0">
            <a:spAutoFit/>
          </a:bodyPr>
          <a:lstStyle/>
          <a:p>
            <a:r>
              <a:rPr lang="en-US" sz="2400" dirty="0"/>
              <a:t>If foot is not accelerating vertically        </a:t>
            </a:r>
            <a:r>
              <a:rPr lang="en-US" sz="2400" b="1" dirty="0"/>
              <a:t>ΣF</a:t>
            </a:r>
            <a:r>
              <a:rPr lang="en-US" sz="2400" b="1" baseline="-25000" dirty="0"/>
              <a:t>y</a:t>
            </a:r>
            <a:r>
              <a:rPr lang="en-US" sz="2400" b="1" dirty="0"/>
              <a:t> </a:t>
            </a:r>
            <a:r>
              <a:rPr lang="en-US" sz="2400" dirty="0"/>
              <a:t>= 0</a:t>
            </a:r>
          </a:p>
          <a:p>
            <a:r>
              <a:rPr lang="en-US" sz="2400" dirty="0"/>
              <a:t>If foot is not accelerating horizontally</a:t>
            </a:r>
            <a:r>
              <a:rPr lang="en-US" sz="2400" b="1" dirty="0"/>
              <a:t>     ΣF</a:t>
            </a:r>
            <a:r>
              <a:rPr lang="en-US" sz="2400" b="1" baseline="-25000" dirty="0"/>
              <a:t>x</a:t>
            </a:r>
            <a:r>
              <a:rPr lang="en-US" sz="2400" b="1" dirty="0"/>
              <a:t> </a:t>
            </a:r>
            <a:r>
              <a:rPr lang="en-US" sz="2400" dirty="0"/>
              <a:t>= 0</a:t>
            </a:r>
          </a:p>
          <a:p>
            <a:endParaRPr lang="en-US" sz="2400" b="1" baseline="-25000" dirty="0"/>
          </a:p>
          <a:p>
            <a:endParaRPr lang="en-US" sz="2400" b="1" baseline="-25000" dirty="0"/>
          </a:p>
          <a:p>
            <a:endParaRPr lang="en-US" sz="2400" b="1" baseline="-25000" dirty="0"/>
          </a:p>
          <a:p>
            <a:r>
              <a:rPr lang="en-US" sz="2400" dirty="0"/>
              <a:t>Force we need to consider – the </a:t>
            </a:r>
            <a:r>
              <a:rPr lang="en-US" sz="2400" b="1" dirty="0"/>
              <a:t>ankle</a:t>
            </a:r>
            <a:r>
              <a:rPr lang="en-US" sz="2400" dirty="0"/>
              <a:t> </a:t>
            </a:r>
            <a:r>
              <a:rPr lang="en-US" sz="2400" b="1" dirty="0"/>
              <a:t>joint force</a:t>
            </a:r>
          </a:p>
        </p:txBody>
      </p:sp>
      <p:grpSp>
        <p:nvGrpSpPr>
          <p:cNvPr id="2" name="Group 1">
            <a:extLst>
              <a:ext uri="{FF2B5EF4-FFF2-40B4-BE49-F238E27FC236}">
                <a16:creationId xmlns:a16="http://schemas.microsoft.com/office/drawing/2014/main" id="{BFDFB76C-FB01-5B35-82B0-64716E3FBA8C}"/>
              </a:ext>
            </a:extLst>
          </p:cNvPr>
          <p:cNvGrpSpPr/>
          <p:nvPr/>
        </p:nvGrpSpPr>
        <p:grpSpPr>
          <a:xfrm>
            <a:off x="365442" y="1492429"/>
            <a:ext cx="4551416" cy="3469126"/>
            <a:chOff x="365442" y="1492429"/>
            <a:chExt cx="4551416" cy="3469126"/>
          </a:xfrm>
        </p:grpSpPr>
        <p:grpSp>
          <p:nvGrpSpPr>
            <p:cNvPr id="17" name="Group 16">
              <a:extLst>
                <a:ext uri="{FF2B5EF4-FFF2-40B4-BE49-F238E27FC236}">
                  <a16:creationId xmlns:a16="http://schemas.microsoft.com/office/drawing/2014/main" id="{1D97D0FD-F25C-9D16-1283-3F843D0B7B75}"/>
                </a:ext>
              </a:extLst>
            </p:cNvPr>
            <p:cNvGrpSpPr/>
            <p:nvPr/>
          </p:nvGrpSpPr>
          <p:grpSpPr>
            <a:xfrm>
              <a:off x="365442" y="1492429"/>
              <a:ext cx="4551416" cy="3469126"/>
              <a:chOff x="432670" y="1546364"/>
              <a:chExt cx="4551416" cy="3469126"/>
            </a:xfrm>
          </p:grpSpPr>
          <p:pic>
            <p:nvPicPr>
              <p:cNvPr id="14" name="Picture 13">
                <a:extLst>
                  <a:ext uri="{FF2B5EF4-FFF2-40B4-BE49-F238E27FC236}">
                    <a16:creationId xmlns:a16="http://schemas.microsoft.com/office/drawing/2014/main" id="{F9374A70-F1D2-ED6D-411E-4D2BC29DA9D7}"/>
                  </a:ext>
                </a:extLst>
              </p:cNvPr>
              <p:cNvPicPr>
                <a:picLocks noChangeAspect="1"/>
              </p:cNvPicPr>
              <p:nvPr/>
            </p:nvPicPr>
            <p:blipFill>
              <a:blip r:embed="rId2"/>
              <a:stretch>
                <a:fillRect/>
              </a:stretch>
            </p:blipFill>
            <p:spPr>
              <a:xfrm>
                <a:off x="432670" y="1546364"/>
                <a:ext cx="4551416" cy="3469126"/>
              </a:xfrm>
              <a:prstGeom prst="rect">
                <a:avLst/>
              </a:prstGeom>
            </p:spPr>
          </p:pic>
          <p:sp>
            <p:nvSpPr>
              <p:cNvPr id="4" name="Up Arrow 3">
                <a:extLst>
                  <a:ext uri="{FF2B5EF4-FFF2-40B4-BE49-F238E27FC236}">
                    <a16:creationId xmlns:a16="http://schemas.microsoft.com/office/drawing/2014/main" id="{531F3BCD-5442-FC4D-8D87-4E0DC96D7AE0}"/>
                  </a:ext>
                </a:extLst>
              </p:cNvPr>
              <p:cNvSpPr/>
              <p:nvPr/>
            </p:nvSpPr>
            <p:spPr>
              <a:xfrm rot="951483">
                <a:off x="1230009" y="1778813"/>
                <a:ext cx="282736" cy="2375621"/>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Up Arrow 4">
                <a:extLst>
                  <a:ext uri="{FF2B5EF4-FFF2-40B4-BE49-F238E27FC236}">
                    <a16:creationId xmlns:a16="http://schemas.microsoft.com/office/drawing/2014/main" id="{33A908FF-8843-4349-A6C4-A22872FE1BEA}"/>
                  </a:ext>
                </a:extLst>
              </p:cNvPr>
              <p:cNvSpPr/>
              <p:nvPr/>
            </p:nvSpPr>
            <p:spPr>
              <a:xfrm>
                <a:off x="3621482" y="4006921"/>
                <a:ext cx="282736" cy="899330"/>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2919544" y="3057705"/>
                <a:ext cx="1758751" cy="461665"/>
              </a:xfrm>
              <a:prstGeom prst="rect">
                <a:avLst/>
              </a:prstGeom>
              <a:solidFill>
                <a:schemeClr val="bg1">
                  <a:alpha val="58488"/>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15" name="Oval 14">
                <a:extLst>
                  <a:ext uri="{FF2B5EF4-FFF2-40B4-BE49-F238E27FC236}">
                    <a16:creationId xmlns:a16="http://schemas.microsoft.com/office/drawing/2014/main" id="{98E4DC2B-2D4F-84B2-4B30-69189BD6D04A}"/>
                  </a:ext>
                </a:extLst>
              </p:cNvPr>
              <p:cNvSpPr/>
              <p:nvPr/>
            </p:nvSpPr>
            <p:spPr>
              <a:xfrm>
                <a:off x="1707104" y="3149103"/>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Oval 11">
              <a:extLst>
                <a:ext uri="{FF2B5EF4-FFF2-40B4-BE49-F238E27FC236}">
                  <a16:creationId xmlns:a16="http://schemas.microsoft.com/office/drawing/2014/main" id="{8E403CAB-5C98-6959-0440-5F66EDDAE540}"/>
                </a:ext>
              </a:extLst>
            </p:cNvPr>
            <p:cNvSpPr/>
            <p:nvPr/>
          </p:nvSpPr>
          <p:spPr>
            <a:xfrm rot="562784">
              <a:off x="462615" y="3394386"/>
              <a:ext cx="4164089" cy="1534073"/>
            </a:xfrm>
            <a:prstGeom prst="ellipse">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2D2EFCAC-CE55-2C40-BC58-9636C8BA4BF4}"/>
              </a:ext>
            </a:extLst>
          </p:cNvPr>
          <p:cNvSpPr txBox="1"/>
          <p:nvPr/>
        </p:nvSpPr>
        <p:spPr>
          <a:xfrm>
            <a:off x="231227" y="202724"/>
            <a:ext cx="2477151" cy="461665"/>
          </a:xfrm>
          <a:prstGeom prst="rect">
            <a:avLst/>
          </a:prstGeom>
          <a:noFill/>
        </p:spPr>
        <p:txBody>
          <a:bodyPr wrap="square" rtlCol="0">
            <a:spAutoFit/>
          </a:bodyPr>
          <a:lstStyle/>
          <a:p>
            <a:r>
              <a:rPr lang="en-US" sz="2400" dirty="0"/>
              <a:t>SYSTEM:  </a:t>
            </a:r>
            <a:r>
              <a:rPr lang="en-US" sz="2400" b="1" dirty="0"/>
              <a:t>foot</a:t>
            </a:r>
          </a:p>
        </p:txBody>
      </p:sp>
    </p:spTree>
    <p:extLst>
      <p:ext uri="{BB962C8B-B14F-4D97-AF65-F5344CB8AC3E}">
        <p14:creationId xmlns:p14="http://schemas.microsoft.com/office/powerpoint/2010/main" val="3589682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23D3169-4581-306A-8F56-695301429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7366" y="1329766"/>
            <a:ext cx="2802685" cy="5049040"/>
          </a:xfrm>
          <a:prstGeom prst="rect">
            <a:avLst/>
          </a:prstGeom>
          <a:noFill/>
          <a:extLst>
            <a:ext uri="{909E8E84-426E-40DD-AFC4-6F175D3DCCD1}">
              <a14:hiddenFill xmlns:a14="http://schemas.microsoft.com/office/drawing/2010/main">
                <a:solidFill>
                  <a:srgbClr val="FFFFFF"/>
                </a:solidFill>
              </a14:hiddenFill>
            </a:ext>
          </a:extLst>
        </p:spPr>
      </p:pic>
      <p:sp>
        <p:nvSpPr>
          <p:cNvPr id="3" name="Down Arrow 6">
            <a:extLst>
              <a:ext uri="{FF2B5EF4-FFF2-40B4-BE49-F238E27FC236}">
                <a16:creationId xmlns:a16="http://schemas.microsoft.com/office/drawing/2014/main" id="{E1288DF2-7964-5953-A266-E0958A01652D}"/>
              </a:ext>
            </a:extLst>
          </p:cNvPr>
          <p:cNvSpPr/>
          <p:nvPr/>
        </p:nvSpPr>
        <p:spPr>
          <a:xfrm rot="435325">
            <a:off x="7687365" y="3916978"/>
            <a:ext cx="265709" cy="1810303"/>
          </a:xfrm>
          <a:prstGeom prst="down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own Arrow 6">
            <a:extLst>
              <a:ext uri="{FF2B5EF4-FFF2-40B4-BE49-F238E27FC236}">
                <a16:creationId xmlns:a16="http://schemas.microsoft.com/office/drawing/2014/main" id="{57B1ED4B-6859-868B-2016-0503B34C9903}"/>
              </a:ext>
            </a:extLst>
          </p:cNvPr>
          <p:cNvSpPr/>
          <p:nvPr/>
        </p:nvSpPr>
        <p:spPr>
          <a:xfrm rot="11138778">
            <a:off x="7869069" y="2070835"/>
            <a:ext cx="288226" cy="1791553"/>
          </a:xfrm>
          <a:prstGeom prst="downArrow">
            <a:avLst/>
          </a:prstGeom>
          <a:pattFill prst="smGrid">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1BA8CDE-4E75-444D-71D1-3DC12832DA0D}"/>
              </a:ext>
            </a:extLst>
          </p:cNvPr>
          <p:cNvSpPr txBox="1"/>
          <p:nvPr/>
        </p:nvSpPr>
        <p:spPr>
          <a:xfrm>
            <a:off x="8002888" y="4761585"/>
            <a:ext cx="4304442" cy="461665"/>
          </a:xfrm>
          <a:prstGeom prst="rect">
            <a:avLst/>
          </a:prstGeom>
          <a:noFill/>
        </p:spPr>
        <p:txBody>
          <a:bodyPr wrap="square" rtlCol="0">
            <a:spAutoFit/>
          </a:bodyPr>
          <a:lstStyle/>
          <a:p>
            <a:r>
              <a:rPr lang="en-US" sz="2400" dirty="0">
                <a:solidFill>
                  <a:schemeClr val="accent4"/>
                </a:solidFill>
              </a:rPr>
              <a:t>Joint force (tibia on talus)</a:t>
            </a:r>
          </a:p>
        </p:txBody>
      </p:sp>
      <p:sp>
        <p:nvSpPr>
          <p:cNvPr id="6" name="TextBox 5">
            <a:extLst>
              <a:ext uri="{FF2B5EF4-FFF2-40B4-BE49-F238E27FC236}">
                <a16:creationId xmlns:a16="http://schemas.microsoft.com/office/drawing/2014/main" id="{31250206-5AC8-5718-0BB4-7EFB5E52047F}"/>
              </a:ext>
            </a:extLst>
          </p:cNvPr>
          <p:cNvSpPr txBox="1"/>
          <p:nvPr/>
        </p:nvSpPr>
        <p:spPr>
          <a:xfrm>
            <a:off x="8341960" y="2725763"/>
            <a:ext cx="4530662" cy="461665"/>
          </a:xfrm>
          <a:prstGeom prst="rect">
            <a:avLst/>
          </a:prstGeom>
          <a:noFill/>
        </p:spPr>
        <p:txBody>
          <a:bodyPr wrap="square" rtlCol="0">
            <a:spAutoFit/>
          </a:bodyPr>
          <a:lstStyle/>
          <a:p>
            <a:r>
              <a:rPr lang="en-US" sz="2400" dirty="0">
                <a:solidFill>
                  <a:schemeClr val="accent4"/>
                </a:solidFill>
              </a:rPr>
              <a:t>Joint force (talus on tibia)</a:t>
            </a:r>
          </a:p>
        </p:txBody>
      </p:sp>
      <p:sp>
        <p:nvSpPr>
          <p:cNvPr id="7" name="TextBox 6">
            <a:extLst>
              <a:ext uri="{FF2B5EF4-FFF2-40B4-BE49-F238E27FC236}">
                <a16:creationId xmlns:a16="http://schemas.microsoft.com/office/drawing/2014/main" id="{B2E42E45-C787-576A-B7A5-EBB3B44CF1B9}"/>
              </a:ext>
            </a:extLst>
          </p:cNvPr>
          <p:cNvSpPr txBox="1"/>
          <p:nvPr/>
        </p:nvSpPr>
        <p:spPr>
          <a:xfrm>
            <a:off x="326058" y="206643"/>
            <a:ext cx="11539883" cy="830997"/>
          </a:xfrm>
          <a:prstGeom prst="rect">
            <a:avLst/>
          </a:prstGeom>
          <a:noFill/>
        </p:spPr>
        <p:txBody>
          <a:bodyPr wrap="square" rtlCol="0">
            <a:spAutoFit/>
          </a:bodyPr>
          <a:lstStyle/>
          <a:p>
            <a:r>
              <a:rPr lang="en-US" sz="2400" dirty="0"/>
              <a:t>The force of</a:t>
            </a:r>
            <a:r>
              <a:rPr lang="en-US" sz="2400" dirty="0">
                <a:solidFill>
                  <a:schemeClr val="accent4">
                    <a:lumMod val="50000"/>
                  </a:schemeClr>
                </a:solidFill>
              </a:rPr>
              <a:t> </a:t>
            </a:r>
            <a:r>
              <a:rPr lang="en-US" sz="2400" dirty="0"/>
              <a:t>the</a:t>
            </a:r>
            <a:r>
              <a:rPr lang="en-US" sz="2400" dirty="0">
                <a:solidFill>
                  <a:schemeClr val="accent4">
                    <a:lumMod val="50000"/>
                  </a:schemeClr>
                </a:solidFill>
              </a:rPr>
              <a:t> </a:t>
            </a:r>
            <a:r>
              <a:rPr lang="en-US" sz="2400" b="1" dirty="0">
                <a:solidFill>
                  <a:schemeClr val="accent4"/>
                </a:solidFill>
              </a:rPr>
              <a:t>tibia on the talus </a:t>
            </a:r>
            <a:r>
              <a:rPr lang="en-US" sz="2400" dirty="0"/>
              <a:t>and the force of the </a:t>
            </a:r>
            <a:r>
              <a:rPr lang="en-US" sz="2400" b="1" dirty="0">
                <a:solidFill>
                  <a:schemeClr val="accent4"/>
                </a:solidFill>
              </a:rPr>
              <a:t>talus on the tibia </a:t>
            </a:r>
            <a:r>
              <a:rPr lang="en-US" sz="2400" dirty="0"/>
              <a:t>are interaction force pairs</a:t>
            </a:r>
          </a:p>
        </p:txBody>
      </p:sp>
      <p:sp>
        <p:nvSpPr>
          <p:cNvPr id="8" name="TextBox 7">
            <a:extLst>
              <a:ext uri="{FF2B5EF4-FFF2-40B4-BE49-F238E27FC236}">
                <a16:creationId xmlns:a16="http://schemas.microsoft.com/office/drawing/2014/main" id="{A9437971-359E-9496-5F0E-5C53A01B2332}"/>
              </a:ext>
            </a:extLst>
          </p:cNvPr>
          <p:cNvSpPr txBox="1"/>
          <p:nvPr/>
        </p:nvSpPr>
        <p:spPr>
          <a:xfrm>
            <a:off x="7129849" y="2743200"/>
            <a:ext cx="690370" cy="369332"/>
          </a:xfrm>
          <a:prstGeom prst="rect">
            <a:avLst/>
          </a:prstGeom>
          <a:noFill/>
        </p:spPr>
        <p:txBody>
          <a:bodyPr wrap="square" rtlCol="0">
            <a:spAutoFit/>
          </a:bodyPr>
          <a:lstStyle/>
          <a:p>
            <a:r>
              <a:rPr lang="en-US" dirty="0">
                <a:solidFill>
                  <a:schemeClr val="bg1"/>
                </a:solidFill>
              </a:rPr>
              <a:t>tibia</a:t>
            </a:r>
          </a:p>
        </p:txBody>
      </p:sp>
      <p:sp>
        <p:nvSpPr>
          <p:cNvPr id="9" name="TextBox 8">
            <a:extLst>
              <a:ext uri="{FF2B5EF4-FFF2-40B4-BE49-F238E27FC236}">
                <a16:creationId xmlns:a16="http://schemas.microsoft.com/office/drawing/2014/main" id="{DAE154DC-3837-45B5-4C0B-32F64629C845}"/>
              </a:ext>
            </a:extLst>
          </p:cNvPr>
          <p:cNvSpPr txBox="1"/>
          <p:nvPr/>
        </p:nvSpPr>
        <p:spPr>
          <a:xfrm>
            <a:off x="8202456" y="4132237"/>
            <a:ext cx="690370" cy="369332"/>
          </a:xfrm>
          <a:prstGeom prst="rect">
            <a:avLst/>
          </a:prstGeom>
          <a:noFill/>
        </p:spPr>
        <p:txBody>
          <a:bodyPr wrap="square" rtlCol="0">
            <a:spAutoFit/>
          </a:bodyPr>
          <a:lstStyle/>
          <a:p>
            <a:r>
              <a:rPr lang="en-US" dirty="0">
                <a:solidFill>
                  <a:schemeClr val="bg1"/>
                </a:solidFill>
              </a:rPr>
              <a:t>talus</a:t>
            </a:r>
          </a:p>
        </p:txBody>
      </p:sp>
      <p:sp>
        <p:nvSpPr>
          <p:cNvPr id="10" name="TextBox 9">
            <a:extLst>
              <a:ext uri="{FF2B5EF4-FFF2-40B4-BE49-F238E27FC236}">
                <a16:creationId xmlns:a16="http://schemas.microsoft.com/office/drawing/2014/main" id="{209A7D22-404A-BDF4-DDA5-0B05E813B906}"/>
              </a:ext>
            </a:extLst>
          </p:cNvPr>
          <p:cNvSpPr txBox="1"/>
          <p:nvPr/>
        </p:nvSpPr>
        <p:spPr>
          <a:xfrm>
            <a:off x="5757334" y="6481651"/>
            <a:ext cx="6434666" cy="276999"/>
          </a:xfrm>
          <a:prstGeom prst="rect">
            <a:avLst/>
          </a:prstGeom>
          <a:noFill/>
        </p:spPr>
        <p:txBody>
          <a:bodyPr wrap="square">
            <a:spAutoFit/>
          </a:bodyPr>
          <a:lstStyle/>
          <a:p>
            <a:r>
              <a:rPr lang="en-US" sz="1200" dirty="0">
                <a:hlinkClick r:id="rId3"/>
              </a:rPr>
              <a:t>https://commons.wikimedia.org/wiki/File:X-ray_of_normal_ankle_-_lateral.jpg\</a:t>
            </a:r>
            <a:endParaRPr lang="en-US" sz="1200" dirty="0"/>
          </a:p>
        </p:txBody>
      </p:sp>
    </p:spTree>
    <p:extLst>
      <p:ext uri="{BB962C8B-B14F-4D97-AF65-F5344CB8AC3E}">
        <p14:creationId xmlns:p14="http://schemas.microsoft.com/office/powerpoint/2010/main" val="97403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34417CA-FCBB-59C0-4BA0-4F80D4FE7EB6}"/>
              </a:ext>
            </a:extLst>
          </p:cNvPr>
          <p:cNvGrpSpPr/>
          <p:nvPr/>
        </p:nvGrpSpPr>
        <p:grpSpPr>
          <a:xfrm>
            <a:off x="1888471" y="879286"/>
            <a:ext cx="5396074" cy="4356119"/>
            <a:chOff x="432670" y="1546364"/>
            <a:chExt cx="4551416" cy="3469126"/>
          </a:xfrm>
        </p:grpSpPr>
        <p:pic>
          <p:nvPicPr>
            <p:cNvPr id="3" name="Picture 2">
              <a:extLst>
                <a:ext uri="{FF2B5EF4-FFF2-40B4-BE49-F238E27FC236}">
                  <a16:creationId xmlns:a16="http://schemas.microsoft.com/office/drawing/2014/main" id="{22B69E12-1932-27B5-DB20-6255DAC4216A}"/>
                </a:ext>
              </a:extLst>
            </p:cNvPr>
            <p:cNvPicPr>
              <a:picLocks noChangeAspect="1"/>
            </p:cNvPicPr>
            <p:nvPr/>
          </p:nvPicPr>
          <p:blipFill>
            <a:blip r:embed="rId2"/>
            <a:stretch>
              <a:fillRect/>
            </a:stretch>
          </p:blipFill>
          <p:spPr>
            <a:xfrm>
              <a:off x="432670" y="1546364"/>
              <a:ext cx="4551416" cy="3469126"/>
            </a:xfrm>
            <a:prstGeom prst="rect">
              <a:avLst/>
            </a:prstGeom>
          </p:spPr>
        </p:pic>
        <p:sp>
          <p:nvSpPr>
            <p:cNvPr id="4" name="Up Arrow 3">
              <a:extLst>
                <a:ext uri="{FF2B5EF4-FFF2-40B4-BE49-F238E27FC236}">
                  <a16:creationId xmlns:a16="http://schemas.microsoft.com/office/drawing/2014/main" id="{1E1C52CE-722F-D3FF-C100-68330EA50BB1}"/>
                </a:ext>
              </a:extLst>
            </p:cNvPr>
            <p:cNvSpPr/>
            <p:nvPr/>
          </p:nvSpPr>
          <p:spPr>
            <a:xfrm rot="951483">
              <a:off x="1247923" y="1657371"/>
              <a:ext cx="282736" cy="2499418"/>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Up Arrow 4">
              <a:extLst>
                <a:ext uri="{FF2B5EF4-FFF2-40B4-BE49-F238E27FC236}">
                  <a16:creationId xmlns:a16="http://schemas.microsoft.com/office/drawing/2014/main" id="{B0B5F333-C35C-D846-26E7-6EF548C1B8B8}"/>
                </a:ext>
              </a:extLst>
            </p:cNvPr>
            <p:cNvSpPr/>
            <p:nvPr/>
          </p:nvSpPr>
          <p:spPr>
            <a:xfrm>
              <a:off x="3621483" y="4072780"/>
              <a:ext cx="239480" cy="833471"/>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70CB442F-432D-5538-BB78-2645CCE1DD9B}"/>
                </a:ext>
              </a:extLst>
            </p:cNvPr>
            <p:cNvSpPr txBox="1"/>
            <p:nvPr/>
          </p:nvSpPr>
          <p:spPr>
            <a:xfrm>
              <a:off x="2919544" y="3057705"/>
              <a:ext cx="1758751" cy="461665"/>
            </a:xfrm>
            <a:prstGeom prst="rect">
              <a:avLst/>
            </a:prstGeom>
            <a:solidFill>
              <a:schemeClr val="bg1">
                <a:alpha val="58488"/>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7" name="Oval 6">
              <a:extLst>
                <a:ext uri="{FF2B5EF4-FFF2-40B4-BE49-F238E27FC236}">
                  <a16:creationId xmlns:a16="http://schemas.microsoft.com/office/drawing/2014/main" id="{4EE33E82-5FB4-AAF3-F1E9-AEB17A8A5E18}"/>
                </a:ext>
              </a:extLst>
            </p:cNvPr>
            <p:cNvSpPr/>
            <p:nvPr/>
          </p:nvSpPr>
          <p:spPr>
            <a:xfrm>
              <a:off x="1707104" y="3149103"/>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ACD0E866-4EA7-2465-A660-14416D2C11CA}"/>
              </a:ext>
            </a:extLst>
          </p:cNvPr>
          <p:cNvSpPr txBox="1"/>
          <p:nvPr/>
        </p:nvSpPr>
        <p:spPr>
          <a:xfrm>
            <a:off x="648531" y="196180"/>
            <a:ext cx="6435968" cy="461665"/>
          </a:xfrm>
          <a:prstGeom prst="rect">
            <a:avLst/>
          </a:prstGeom>
          <a:noFill/>
        </p:spPr>
        <p:txBody>
          <a:bodyPr wrap="square" rtlCol="0">
            <a:spAutoFit/>
          </a:bodyPr>
          <a:lstStyle/>
          <a:p>
            <a:r>
              <a:rPr lang="en-US" sz="2400" dirty="0">
                <a:solidFill>
                  <a:srgbClr val="C00000"/>
                </a:solidFill>
              </a:rPr>
              <a:t>Visualize the components of the muscle force </a:t>
            </a:r>
          </a:p>
        </p:txBody>
      </p:sp>
      <p:cxnSp>
        <p:nvCxnSpPr>
          <p:cNvPr id="9" name="Straight Connector 8">
            <a:extLst>
              <a:ext uri="{FF2B5EF4-FFF2-40B4-BE49-F238E27FC236}">
                <a16:creationId xmlns:a16="http://schemas.microsoft.com/office/drawing/2014/main" id="{930153E3-680F-90BB-DFD0-FC6C35E51BB3}"/>
              </a:ext>
            </a:extLst>
          </p:cNvPr>
          <p:cNvCxnSpPr>
            <a:cxnSpLocks/>
          </p:cNvCxnSpPr>
          <p:nvPr/>
        </p:nvCxnSpPr>
        <p:spPr>
          <a:xfrm flipH="1">
            <a:off x="9819581" y="1475263"/>
            <a:ext cx="22069" cy="1901230"/>
          </a:xfrm>
          <a:prstGeom prst="line">
            <a:avLst/>
          </a:prstGeom>
          <a:ln w="22225">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109796-F525-9F3B-CCFC-2A5284C113FA}"/>
              </a:ext>
            </a:extLst>
          </p:cNvPr>
          <p:cNvCxnSpPr>
            <a:cxnSpLocks/>
          </p:cNvCxnSpPr>
          <p:nvPr/>
        </p:nvCxnSpPr>
        <p:spPr>
          <a:xfrm flipH="1">
            <a:off x="8546198" y="2288621"/>
            <a:ext cx="2546765" cy="0"/>
          </a:xfrm>
          <a:prstGeom prst="line">
            <a:avLst/>
          </a:prstGeom>
          <a:ln w="2222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9BE4C76-5763-0503-73C3-5D49B5B8908A}"/>
              </a:ext>
            </a:extLst>
          </p:cNvPr>
          <p:cNvSpPr/>
          <p:nvPr/>
        </p:nvSpPr>
        <p:spPr>
          <a:xfrm>
            <a:off x="10994673" y="1245574"/>
            <a:ext cx="670838" cy="2229834"/>
          </a:xfrm>
          <a:prstGeom prst="rect">
            <a:avLst/>
          </a:prstGeom>
          <a:noFill/>
          <a:ln w="2222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Arrow Connector 16">
            <a:extLst>
              <a:ext uri="{FF2B5EF4-FFF2-40B4-BE49-F238E27FC236}">
                <a16:creationId xmlns:a16="http://schemas.microsoft.com/office/drawing/2014/main" id="{87D14838-0B89-49EB-C8D5-3F30C25DB5E9}"/>
              </a:ext>
            </a:extLst>
          </p:cNvPr>
          <p:cNvCxnSpPr>
            <a:cxnSpLocks/>
          </p:cNvCxnSpPr>
          <p:nvPr/>
        </p:nvCxnSpPr>
        <p:spPr>
          <a:xfrm>
            <a:off x="8694109" y="1182403"/>
            <a:ext cx="529022" cy="0"/>
          </a:xfrm>
          <a:prstGeom prst="straightConnector1">
            <a:avLst/>
          </a:prstGeom>
          <a:ln w="508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D2CC9F1-7FBD-EC18-BD65-F004B294F2C5}"/>
              </a:ext>
            </a:extLst>
          </p:cNvPr>
          <p:cNvCxnSpPr>
            <a:cxnSpLocks/>
          </p:cNvCxnSpPr>
          <p:nvPr/>
        </p:nvCxnSpPr>
        <p:spPr>
          <a:xfrm flipV="1">
            <a:off x="7921236" y="1063625"/>
            <a:ext cx="1" cy="1406953"/>
          </a:xfrm>
          <a:prstGeom prst="straightConnector1">
            <a:avLst/>
          </a:prstGeom>
          <a:ln w="508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Text Box 203">
            <a:extLst>
              <a:ext uri="{FF2B5EF4-FFF2-40B4-BE49-F238E27FC236}">
                <a16:creationId xmlns:a16="http://schemas.microsoft.com/office/drawing/2014/main" id="{9A54A54D-8889-CF5E-B218-6E0175CB2135}"/>
              </a:ext>
            </a:extLst>
          </p:cNvPr>
          <p:cNvSpPr txBox="1"/>
          <p:nvPr/>
        </p:nvSpPr>
        <p:spPr>
          <a:xfrm>
            <a:off x="8694109" y="657845"/>
            <a:ext cx="563020" cy="44288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t>
            </a:r>
            <a:r>
              <a:rPr lang="en-US" sz="2400" b="1" baseline="-25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x</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204">
            <a:extLst>
              <a:ext uri="{FF2B5EF4-FFF2-40B4-BE49-F238E27FC236}">
                <a16:creationId xmlns:a16="http://schemas.microsoft.com/office/drawing/2014/main" id="{A831E7A9-DFDF-D885-B785-D320E4812B5D}"/>
              </a:ext>
            </a:extLst>
          </p:cNvPr>
          <p:cNvSpPr txBox="1"/>
          <p:nvPr/>
        </p:nvSpPr>
        <p:spPr>
          <a:xfrm>
            <a:off x="7358216" y="1545660"/>
            <a:ext cx="563020" cy="44288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t>
            </a:r>
            <a:r>
              <a:rPr lang="en-US" sz="2400" b="1" baseline="-25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y</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CDFB1479-D150-354E-29CA-6647C8BF240D}"/>
              </a:ext>
            </a:extLst>
          </p:cNvPr>
          <p:cNvSpPr txBox="1"/>
          <p:nvPr/>
        </p:nvSpPr>
        <p:spPr>
          <a:xfrm>
            <a:off x="352428" y="5522291"/>
            <a:ext cx="10255576" cy="461665"/>
          </a:xfrm>
          <a:prstGeom prst="rect">
            <a:avLst/>
          </a:prstGeom>
          <a:noFill/>
        </p:spPr>
        <p:txBody>
          <a:bodyPr wrap="square" rtlCol="0">
            <a:spAutoFit/>
          </a:bodyPr>
          <a:lstStyle/>
          <a:p>
            <a:r>
              <a:rPr lang="en-US" sz="2400" dirty="0">
                <a:solidFill>
                  <a:srgbClr val="C00000"/>
                </a:solidFill>
              </a:rPr>
              <a:t>Draw or drag to visualize </a:t>
            </a:r>
            <a:r>
              <a:rPr lang="en-US" sz="2400" b="1" dirty="0">
                <a:solidFill>
                  <a:schemeClr val="accent4">
                    <a:lumMod val="50000"/>
                  </a:schemeClr>
                </a:solidFill>
              </a:rPr>
              <a:t>joint force components </a:t>
            </a:r>
            <a:r>
              <a:rPr lang="en-US" sz="2400" dirty="0">
                <a:solidFill>
                  <a:srgbClr val="C00000"/>
                </a:solidFill>
              </a:rPr>
              <a:t>and from those the </a:t>
            </a:r>
            <a:r>
              <a:rPr lang="en-US" sz="2400" b="1" dirty="0">
                <a:solidFill>
                  <a:schemeClr val="accent4">
                    <a:lumMod val="50000"/>
                  </a:schemeClr>
                </a:solidFill>
              </a:rPr>
              <a:t>joint force</a:t>
            </a:r>
          </a:p>
        </p:txBody>
      </p:sp>
      <p:cxnSp>
        <p:nvCxnSpPr>
          <p:cNvPr id="24" name="Straight Arrow Connector 23">
            <a:extLst>
              <a:ext uri="{FF2B5EF4-FFF2-40B4-BE49-F238E27FC236}">
                <a16:creationId xmlns:a16="http://schemas.microsoft.com/office/drawing/2014/main" id="{DE7FD640-A71E-2B3C-9AC9-9A203FD0C903}"/>
              </a:ext>
            </a:extLst>
          </p:cNvPr>
          <p:cNvCxnSpPr>
            <a:cxnSpLocks/>
          </p:cNvCxnSpPr>
          <p:nvPr/>
        </p:nvCxnSpPr>
        <p:spPr>
          <a:xfrm>
            <a:off x="8028725" y="4351559"/>
            <a:ext cx="529022" cy="0"/>
          </a:xfrm>
          <a:prstGeom prst="straightConnector1">
            <a:avLst/>
          </a:prstGeom>
          <a:ln w="50800">
            <a:solidFill>
              <a:schemeClr val="accent4">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F322F84-BC02-653F-1606-B04EEEEB026B}"/>
              </a:ext>
            </a:extLst>
          </p:cNvPr>
          <p:cNvCxnSpPr>
            <a:cxnSpLocks/>
          </p:cNvCxnSpPr>
          <p:nvPr/>
        </p:nvCxnSpPr>
        <p:spPr>
          <a:xfrm flipV="1">
            <a:off x="7551803" y="3798545"/>
            <a:ext cx="0" cy="1487655"/>
          </a:xfrm>
          <a:prstGeom prst="straightConnector1">
            <a:avLst/>
          </a:prstGeom>
          <a:ln w="50800">
            <a:solidFill>
              <a:schemeClr val="accent4">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Text Box 203">
            <a:extLst>
              <a:ext uri="{FF2B5EF4-FFF2-40B4-BE49-F238E27FC236}">
                <a16:creationId xmlns:a16="http://schemas.microsoft.com/office/drawing/2014/main" id="{E8E45822-FBFB-EDAA-52D4-B88D32A0F635}"/>
              </a:ext>
            </a:extLst>
          </p:cNvPr>
          <p:cNvSpPr txBox="1"/>
          <p:nvPr/>
        </p:nvSpPr>
        <p:spPr>
          <a:xfrm>
            <a:off x="8011726" y="3848839"/>
            <a:ext cx="563020" cy="44288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rPr>
              <a:t>J</a:t>
            </a:r>
            <a:r>
              <a:rPr lang="en-US" sz="2400" b="1" baseline="-25000"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x</a:t>
            </a:r>
            <a:endParaRPr lang="en-US" sz="2400"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204">
            <a:extLst>
              <a:ext uri="{FF2B5EF4-FFF2-40B4-BE49-F238E27FC236}">
                <a16:creationId xmlns:a16="http://schemas.microsoft.com/office/drawing/2014/main" id="{6128F327-CC25-3384-96AD-9DC29F3158CB}"/>
              </a:ext>
            </a:extLst>
          </p:cNvPr>
          <p:cNvSpPr txBox="1"/>
          <p:nvPr/>
        </p:nvSpPr>
        <p:spPr>
          <a:xfrm>
            <a:off x="6827826" y="4674764"/>
            <a:ext cx="563020" cy="44288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400" b="1"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rPr>
              <a:t>J</a:t>
            </a:r>
            <a:r>
              <a:rPr lang="en-US" sz="2400" b="1" baseline="-25000"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y</a:t>
            </a:r>
            <a:endParaRPr lang="en-US" sz="2400" dirty="0">
              <a:solidFill>
                <a:schemeClr val="accent4">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9" name="Straight Arrow Connector 28">
            <a:extLst>
              <a:ext uri="{FF2B5EF4-FFF2-40B4-BE49-F238E27FC236}">
                <a16:creationId xmlns:a16="http://schemas.microsoft.com/office/drawing/2014/main" id="{C9775CA8-D992-5B96-72C2-BDB1EA404F2B}"/>
              </a:ext>
            </a:extLst>
          </p:cNvPr>
          <p:cNvCxnSpPr>
            <a:cxnSpLocks/>
          </p:cNvCxnSpPr>
          <p:nvPr/>
        </p:nvCxnSpPr>
        <p:spPr>
          <a:xfrm flipV="1">
            <a:off x="7229887" y="3930937"/>
            <a:ext cx="0" cy="1487655"/>
          </a:xfrm>
          <a:prstGeom prst="straightConnector1">
            <a:avLst/>
          </a:prstGeom>
          <a:ln w="50800">
            <a:solidFill>
              <a:schemeClr val="accent4">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FFDAC0E-D55C-C1AA-AAD2-5762E28A22F3}"/>
              </a:ext>
            </a:extLst>
          </p:cNvPr>
          <p:cNvCxnSpPr>
            <a:cxnSpLocks/>
          </p:cNvCxnSpPr>
          <p:nvPr/>
        </p:nvCxnSpPr>
        <p:spPr>
          <a:xfrm flipH="1">
            <a:off x="8129642" y="4674764"/>
            <a:ext cx="564467" cy="0"/>
          </a:xfrm>
          <a:prstGeom prst="straightConnector1">
            <a:avLst/>
          </a:prstGeom>
          <a:ln w="50800">
            <a:solidFill>
              <a:schemeClr val="accent4">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Up Arrow 14">
            <a:extLst>
              <a:ext uri="{FF2B5EF4-FFF2-40B4-BE49-F238E27FC236}">
                <a16:creationId xmlns:a16="http://schemas.microsoft.com/office/drawing/2014/main" id="{1B17A4A6-B0DF-498B-63FE-61E43565A2EE}"/>
              </a:ext>
            </a:extLst>
          </p:cNvPr>
          <p:cNvSpPr/>
          <p:nvPr/>
        </p:nvSpPr>
        <p:spPr>
          <a:xfrm flipH="1">
            <a:off x="11223697" y="4543932"/>
            <a:ext cx="275433" cy="148928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88E0AC87-6697-7E0A-4E48-C7D6AFAE35BD}"/>
              </a:ext>
            </a:extLst>
          </p:cNvPr>
          <p:cNvSpPr txBox="1"/>
          <p:nvPr/>
        </p:nvSpPr>
        <p:spPr>
          <a:xfrm>
            <a:off x="9131179" y="4449452"/>
            <a:ext cx="1715945" cy="461665"/>
          </a:xfrm>
          <a:prstGeom prst="rect">
            <a:avLst/>
          </a:prstGeom>
          <a:noFill/>
        </p:spPr>
        <p:txBody>
          <a:bodyPr wrap="square" rtlCol="0">
            <a:spAutoFit/>
          </a:bodyPr>
          <a:lstStyle/>
          <a:p>
            <a:r>
              <a:rPr lang="en-US" sz="2400" b="1" dirty="0">
                <a:solidFill>
                  <a:schemeClr val="accent4">
                    <a:lumMod val="75000"/>
                  </a:schemeClr>
                </a:solidFill>
              </a:rPr>
              <a:t>Joint force</a:t>
            </a:r>
          </a:p>
        </p:txBody>
      </p:sp>
      <p:sp>
        <p:nvSpPr>
          <p:cNvPr id="34" name="Up Arrow 21">
            <a:extLst>
              <a:ext uri="{FF2B5EF4-FFF2-40B4-BE49-F238E27FC236}">
                <a16:creationId xmlns:a16="http://schemas.microsoft.com/office/drawing/2014/main" id="{54A93310-E7FF-C8A8-A20F-60D426AC6795}"/>
              </a:ext>
            </a:extLst>
          </p:cNvPr>
          <p:cNvSpPr/>
          <p:nvPr/>
        </p:nvSpPr>
        <p:spPr>
          <a:xfrm rot="10800000" flipH="1">
            <a:off x="10901781" y="4373004"/>
            <a:ext cx="275433" cy="148928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AA8EE8CA-FF5F-E8E0-B27E-843040FE8384}"/>
              </a:ext>
            </a:extLst>
          </p:cNvPr>
          <p:cNvSpPr txBox="1"/>
          <p:nvPr/>
        </p:nvSpPr>
        <p:spPr>
          <a:xfrm>
            <a:off x="585745" y="1302548"/>
            <a:ext cx="1076002" cy="461665"/>
          </a:xfrm>
          <a:prstGeom prst="rect">
            <a:avLst/>
          </a:prstGeom>
          <a:noFill/>
        </p:spPr>
        <p:txBody>
          <a:bodyPr wrap="square">
            <a:spAutoFit/>
          </a:bodyPr>
          <a:lstStyle/>
          <a:p>
            <a:r>
              <a:rPr lang="en-US" sz="2400" b="1" dirty="0"/>
              <a:t>ΣF</a:t>
            </a:r>
            <a:r>
              <a:rPr lang="en-US" sz="2400" b="1" baseline="-25000" dirty="0"/>
              <a:t>y</a:t>
            </a:r>
            <a:r>
              <a:rPr lang="en-US" sz="2400" b="1" dirty="0"/>
              <a:t> </a:t>
            </a:r>
            <a:r>
              <a:rPr lang="en-US" sz="2400" dirty="0"/>
              <a:t>= 0</a:t>
            </a:r>
          </a:p>
        </p:txBody>
      </p:sp>
      <p:sp>
        <p:nvSpPr>
          <p:cNvPr id="38" name="TextBox 37">
            <a:extLst>
              <a:ext uri="{FF2B5EF4-FFF2-40B4-BE49-F238E27FC236}">
                <a16:creationId xmlns:a16="http://schemas.microsoft.com/office/drawing/2014/main" id="{5BC21457-5138-F094-E07B-E3E4AB54129B}"/>
              </a:ext>
            </a:extLst>
          </p:cNvPr>
          <p:cNvSpPr txBox="1"/>
          <p:nvPr/>
        </p:nvSpPr>
        <p:spPr>
          <a:xfrm>
            <a:off x="624061" y="1952636"/>
            <a:ext cx="1037686" cy="461665"/>
          </a:xfrm>
          <a:prstGeom prst="rect">
            <a:avLst/>
          </a:prstGeom>
          <a:noFill/>
        </p:spPr>
        <p:txBody>
          <a:bodyPr wrap="square">
            <a:spAutoFit/>
          </a:bodyPr>
          <a:lstStyle/>
          <a:p>
            <a:r>
              <a:rPr lang="en-US" sz="2400" b="1" dirty="0"/>
              <a:t>ΣF</a:t>
            </a:r>
            <a:r>
              <a:rPr lang="en-US" sz="2400" b="1" baseline="-25000" dirty="0"/>
              <a:t>x</a:t>
            </a:r>
            <a:r>
              <a:rPr lang="en-US" sz="2400" b="1" dirty="0"/>
              <a:t> </a:t>
            </a:r>
            <a:r>
              <a:rPr lang="en-US" sz="2400" dirty="0"/>
              <a:t>= 0</a:t>
            </a:r>
          </a:p>
        </p:txBody>
      </p:sp>
      <p:sp>
        <p:nvSpPr>
          <p:cNvPr id="12" name="TextBox 11">
            <a:extLst>
              <a:ext uri="{FF2B5EF4-FFF2-40B4-BE49-F238E27FC236}">
                <a16:creationId xmlns:a16="http://schemas.microsoft.com/office/drawing/2014/main" id="{CD452CD9-FD0A-B1BF-167D-7918830E6B0D}"/>
              </a:ext>
            </a:extLst>
          </p:cNvPr>
          <p:cNvSpPr txBox="1"/>
          <p:nvPr/>
        </p:nvSpPr>
        <p:spPr>
          <a:xfrm>
            <a:off x="352427" y="6033216"/>
            <a:ext cx="6732071" cy="461665"/>
          </a:xfrm>
          <a:prstGeom prst="rect">
            <a:avLst/>
          </a:prstGeom>
          <a:noFill/>
        </p:spPr>
        <p:txBody>
          <a:bodyPr wrap="square" rtlCol="0">
            <a:spAutoFit/>
          </a:bodyPr>
          <a:lstStyle/>
          <a:p>
            <a:r>
              <a:rPr lang="en-US" sz="2400" dirty="0">
                <a:solidFill>
                  <a:srgbClr val="C00000"/>
                </a:solidFill>
              </a:rPr>
              <a:t>Visually estimate Joint force , relative to body weight</a:t>
            </a:r>
          </a:p>
        </p:txBody>
      </p:sp>
      <p:sp>
        <p:nvSpPr>
          <p:cNvPr id="13" name="TextBox 12">
            <a:extLst>
              <a:ext uri="{FF2B5EF4-FFF2-40B4-BE49-F238E27FC236}">
                <a16:creationId xmlns:a16="http://schemas.microsoft.com/office/drawing/2014/main" id="{F8C4849B-A325-A22D-1AD1-965DDD3C30E4}"/>
              </a:ext>
            </a:extLst>
          </p:cNvPr>
          <p:cNvSpPr txBox="1"/>
          <p:nvPr/>
        </p:nvSpPr>
        <p:spPr>
          <a:xfrm>
            <a:off x="7422264" y="6094829"/>
            <a:ext cx="3185740" cy="461665"/>
          </a:xfrm>
          <a:prstGeom prst="rect">
            <a:avLst/>
          </a:prstGeom>
          <a:noFill/>
        </p:spPr>
        <p:txBody>
          <a:bodyPr wrap="square" rtlCol="0">
            <a:spAutoFit/>
          </a:bodyPr>
          <a:lstStyle/>
          <a:p>
            <a:r>
              <a:rPr lang="en-US" sz="2400" b="1" dirty="0">
                <a:solidFill>
                  <a:schemeClr val="accent4">
                    <a:lumMod val="75000"/>
                  </a:schemeClr>
                </a:solidFill>
              </a:rPr>
              <a:t>J</a:t>
            </a:r>
            <a:r>
              <a:rPr lang="en-US" sz="2400" b="1" baseline="-25000" dirty="0">
                <a:solidFill>
                  <a:schemeClr val="accent4">
                    <a:lumMod val="75000"/>
                  </a:schemeClr>
                </a:solidFill>
              </a:rPr>
              <a:t>estimate</a:t>
            </a:r>
            <a:r>
              <a:rPr lang="en-US" sz="2400" b="1" dirty="0">
                <a:solidFill>
                  <a:schemeClr val="accent4">
                    <a:lumMod val="75000"/>
                  </a:schemeClr>
                </a:solidFill>
              </a:rPr>
              <a:t> </a:t>
            </a:r>
            <a:r>
              <a:rPr lang="en-US" sz="2400" b="1" dirty="0"/>
              <a:t>=</a:t>
            </a:r>
            <a:r>
              <a:rPr lang="en-US" sz="2400" b="1" dirty="0">
                <a:solidFill>
                  <a:schemeClr val="accent4">
                    <a:lumMod val="75000"/>
                  </a:schemeClr>
                </a:solidFill>
              </a:rPr>
              <a:t> </a:t>
            </a:r>
            <a:r>
              <a:rPr lang="en-US" sz="2400" b="1" dirty="0">
                <a:solidFill>
                  <a:srgbClr val="C00000"/>
                </a:solidFill>
              </a:rPr>
              <a:t>?</a:t>
            </a:r>
            <a:r>
              <a:rPr lang="en-US" sz="2400" b="1" dirty="0">
                <a:solidFill>
                  <a:schemeClr val="accent4">
                    <a:lumMod val="75000"/>
                  </a:schemeClr>
                </a:solidFill>
              </a:rPr>
              <a:t> </a:t>
            </a:r>
            <a:r>
              <a:rPr lang="en-US" sz="2400" b="1" dirty="0">
                <a:solidFill>
                  <a:srgbClr val="0070C0"/>
                </a:solidFill>
              </a:rPr>
              <a:t>W</a:t>
            </a:r>
            <a:r>
              <a:rPr lang="en-US" sz="2400" b="1" baseline="-25000" dirty="0">
                <a:solidFill>
                  <a:srgbClr val="0070C0"/>
                </a:solidFill>
              </a:rPr>
              <a:t>body</a:t>
            </a:r>
          </a:p>
        </p:txBody>
      </p:sp>
    </p:spTree>
    <p:extLst>
      <p:ext uri="{BB962C8B-B14F-4D97-AF65-F5344CB8AC3E}">
        <p14:creationId xmlns:p14="http://schemas.microsoft.com/office/powerpoint/2010/main" val="4106109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302E46-8E2E-46E5-8069-8B367553A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537" y="803794"/>
            <a:ext cx="3857445" cy="5250411"/>
          </a:xfrm>
          <a:prstGeom prst="rect">
            <a:avLst/>
          </a:prstGeom>
        </p:spPr>
      </p:pic>
      <p:sp>
        <p:nvSpPr>
          <p:cNvPr id="3" name="Up Arrow 3">
            <a:extLst>
              <a:ext uri="{FF2B5EF4-FFF2-40B4-BE49-F238E27FC236}">
                <a16:creationId xmlns:a16="http://schemas.microsoft.com/office/drawing/2014/main" id="{6EB3B77A-B9AC-49C0-8888-06D8A79470F8}"/>
              </a:ext>
            </a:extLst>
          </p:cNvPr>
          <p:cNvSpPr/>
          <p:nvPr/>
        </p:nvSpPr>
        <p:spPr>
          <a:xfrm>
            <a:off x="1608221" y="1406290"/>
            <a:ext cx="227746" cy="3668124"/>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Up Arrow 4">
            <a:extLst>
              <a:ext uri="{FF2B5EF4-FFF2-40B4-BE49-F238E27FC236}">
                <a16:creationId xmlns:a16="http://schemas.microsoft.com/office/drawing/2014/main" id="{193946A3-4953-47CB-9CA0-D11C55318DDE}"/>
              </a:ext>
            </a:extLst>
          </p:cNvPr>
          <p:cNvSpPr/>
          <p:nvPr/>
        </p:nvSpPr>
        <p:spPr>
          <a:xfrm>
            <a:off x="3656137" y="4404501"/>
            <a:ext cx="227494" cy="1339826"/>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92EF64A-EFBF-41FE-AF36-C49D60AE311F}"/>
              </a:ext>
            </a:extLst>
          </p:cNvPr>
          <p:cNvSpPr/>
          <p:nvPr/>
        </p:nvSpPr>
        <p:spPr>
          <a:xfrm rot="562784">
            <a:off x="1260461" y="4672581"/>
            <a:ext cx="3106148" cy="13577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8FB4DBD-C402-4E2B-8BD2-5A8E9995E3D1}"/>
              </a:ext>
            </a:extLst>
          </p:cNvPr>
          <p:cNvSpPr/>
          <p:nvPr/>
        </p:nvSpPr>
        <p:spPr>
          <a:xfrm>
            <a:off x="2066714" y="4525111"/>
            <a:ext cx="111365" cy="1368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BEF48237-42BD-E97E-B5F9-084B666786EE}"/>
              </a:ext>
            </a:extLst>
          </p:cNvPr>
          <p:cNvSpPr txBox="1"/>
          <p:nvPr/>
        </p:nvSpPr>
        <p:spPr>
          <a:xfrm>
            <a:off x="5465666" y="803794"/>
            <a:ext cx="6382307" cy="830997"/>
          </a:xfrm>
          <a:prstGeom prst="rect">
            <a:avLst/>
          </a:prstGeom>
          <a:noFill/>
        </p:spPr>
        <p:txBody>
          <a:bodyPr wrap="square" rtlCol="0">
            <a:spAutoFit/>
          </a:bodyPr>
          <a:lstStyle/>
          <a:p>
            <a:r>
              <a:rPr lang="en-US" sz="2400" dirty="0">
                <a:solidFill>
                  <a:srgbClr val="0070C0"/>
                </a:solidFill>
              </a:rPr>
              <a:t>Simplistic but Usable Approximation</a:t>
            </a:r>
          </a:p>
          <a:p>
            <a:r>
              <a:rPr lang="en-US" sz="2400" dirty="0"/>
              <a:t>Achilles force and normal force are both vertical</a:t>
            </a:r>
          </a:p>
        </p:txBody>
      </p:sp>
    </p:spTree>
    <p:extLst>
      <p:ext uri="{BB962C8B-B14F-4D97-AF65-F5344CB8AC3E}">
        <p14:creationId xmlns:p14="http://schemas.microsoft.com/office/powerpoint/2010/main" val="1782819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Up Arrow 14"/>
          <p:cNvSpPr/>
          <p:nvPr/>
        </p:nvSpPr>
        <p:spPr>
          <a:xfrm flipH="1">
            <a:off x="7331280" y="3122777"/>
            <a:ext cx="275433" cy="148928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852851B-E29C-4D5C-8FBA-750EA5265F7B}"/>
              </a:ext>
            </a:extLst>
          </p:cNvPr>
          <p:cNvSpPr/>
          <p:nvPr/>
        </p:nvSpPr>
        <p:spPr>
          <a:xfrm>
            <a:off x="6983626" y="1161050"/>
            <a:ext cx="1640244" cy="488980"/>
          </a:xfrm>
          <a:prstGeom prst="rect">
            <a:avLst/>
          </a:prstGeom>
        </p:spPr>
        <p:txBody>
          <a:bodyPr wrap="square">
            <a:spAutoFit/>
          </a:bodyPr>
          <a:lstStyle/>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F</a:t>
            </a:r>
            <a:r>
              <a:rPr lang="en-US" sz="2400" b="1" dirty="0">
                <a:latin typeface="Calibri" panose="020F0502020204030204" pitchFamily="34" charset="0"/>
                <a:ea typeface="Calibri" panose="020F0502020204030204" pitchFamily="34" charset="0"/>
                <a:cs typeface="Times New Roman" panose="02020603050405020304" pitchFamily="18" charset="0"/>
              </a:rPr>
              <a:t> = </a:t>
            </a:r>
            <a:r>
              <a:rPr lang="en-US" sz="2400" dirty="0">
                <a:latin typeface="Calibri" panose="020F0502020204030204" pitchFamily="34" charset="0"/>
                <a:ea typeface="Calibri" panose="020F0502020204030204" pitchFamily="34" charset="0"/>
                <a:cs typeface="Times New Roman" panose="02020603050405020304" pitchFamily="18" charset="0"/>
              </a:rPr>
              <a:t>0</a:t>
            </a:r>
          </a:p>
        </p:txBody>
      </p:sp>
      <p:sp>
        <p:nvSpPr>
          <p:cNvPr id="32" name="TextBox 31"/>
          <p:cNvSpPr txBox="1"/>
          <p:nvPr/>
        </p:nvSpPr>
        <p:spPr>
          <a:xfrm>
            <a:off x="5589272" y="5362964"/>
            <a:ext cx="1553355" cy="461665"/>
          </a:xfrm>
          <a:prstGeom prst="rect">
            <a:avLst/>
          </a:prstGeom>
          <a:noFill/>
        </p:spPr>
        <p:txBody>
          <a:bodyPr wrap="square" rtlCol="0">
            <a:spAutoFit/>
          </a:bodyPr>
          <a:lstStyle/>
          <a:p>
            <a:r>
              <a:rPr lang="en-US" sz="2400" b="1" dirty="0">
                <a:solidFill>
                  <a:schemeClr val="accent4">
                    <a:lumMod val="75000"/>
                  </a:schemeClr>
                </a:solidFill>
              </a:rPr>
              <a:t>J </a:t>
            </a:r>
            <a:r>
              <a:rPr lang="en-US" sz="2400" b="1" dirty="0"/>
              <a:t>=</a:t>
            </a:r>
            <a:r>
              <a:rPr lang="en-US" sz="2400" b="1" dirty="0">
                <a:solidFill>
                  <a:schemeClr val="accent4">
                    <a:lumMod val="75000"/>
                  </a:schemeClr>
                </a:solidFill>
              </a:rPr>
              <a:t> </a:t>
            </a:r>
            <a:r>
              <a:rPr lang="en-US" sz="2400" b="1" dirty="0">
                <a:solidFill>
                  <a:srgbClr val="C00000"/>
                </a:solidFill>
              </a:rPr>
              <a:t>?</a:t>
            </a:r>
            <a:r>
              <a:rPr lang="en-US" sz="2400" b="1" dirty="0">
                <a:solidFill>
                  <a:schemeClr val="accent4">
                    <a:lumMod val="75000"/>
                  </a:schemeClr>
                </a:solidFill>
              </a:rPr>
              <a:t> </a:t>
            </a:r>
            <a:r>
              <a:rPr lang="en-US" sz="2400" b="1" dirty="0">
                <a:solidFill>
                  <a:srgbClr val="0070C0"/>
                </a:solidFill>
              </a:rPr>
              <a:t>W</a:t>
            </a:r>
            <a:r>
              <a:rPr lang="en-US" sz="2400" b="1" baseline="-25000" dirty="0">
                <a:solidFill>
                  <a:srgbClr val="0070C0"/>
                </a:solidFill>
              </a:rPr>
              <a:t>body</a:t>
            </a:r>
          </a:p>
        </p:txBody>
      </p:sp>
      <p:sp>
        <p:nvSpPr>
          <p:cNvPr id="3" name="TextBox 2">
            <a:extLst>
              <a:ext uri="{FF2B5EF4-FFF2-40B4-BE49-F238E27FC236}">
                <a16:creationId xmlns:a16="http://schemas.microsoft.com/office/drawing/2014/main" id="{73502F0A-18C7-162A-AE33-6C101A5D4F9E}"/>
              </a:ext>
            </a:extLst>
          </p:cNvPr>
          <p:cNvSpPr txBox="1"/>
          <p:nvPr/>
        </p:nvSpPr>
        <p:spPr>
          <a:xfrm>
            <a:off x="5238027" y="2869669"/>
            <a:ext cx="1715945" cy="461665"/>
          </a:xfrm>
          <a:prstGeom prst="rect">
            <a:avLst/>
          </a:prstGeom>
          <a:noFill/>
        </p:spPr>
        <p:txBody>
          <a:bodyPr wrap="square" rtlCol="0">
            <a:spAutoFit/>
          </a:bodyPr>
          <a:lstStyle/>
          <a:p>
            <a:r>
              <a:rPr lang="en-US" sz="2400" b="1" dirty="0">
                <a:solidFill>
                  <a:schemeClr val="accent4">
                    <a:lumMod val="75000"/>
                  </a:schemeClr>
                </a:solidFill>
              </a:rPr>
              <a:t>Joint force</a:t>
            </a:r>
          </a:p>
        </p:txBody>
      </p:sp>
      <p:sp>
        <p:nvSpPr>
          <p:cNvPr id="10" name="TextBox 9">
            <a:extLst>
              <a:ext uri="{FF2B5EF4-FFF2-40B4-BE49-F238E27FC236}">
                <a16:creationId xmlns:a16="http://schemas.microsoft.com/office/drawing/2014/main" id="{6CE9F378-9F9C-ABC8-145A-4DBEA8C28FBD}"/>
              </a:ext>
            </a:extLst>
          </p:cNvPr>
          <p:cNvSpPr txBox="1"/>
          <p:nvPr/>
        </p:nvSpPr>
        <p:spPr>
          <a:xfrm>
            <a:off x="5055121" y="1691409"/>
            <a:ext cx="6739612" cy="1107996"/>
          </a:xfrm>
          <a:prstGeom prst="rect">
            <a:avLst/>
          </a:prstGeom>
          <a:noFill/>
        </p:spPr>
        <p:txBody>
          <a:bodyPr wrap="square" rtlCol="0">
            <a:spAutoFit/>
          </a:bodyPr>
          <a:lstStyle/>
          <a:p>
            <a:r>
              <a:rPr lang="en-US" sz="2400" dirty="0"/>
              <a:t>Then estimate the direction and size of the joint force needed so forces on foot are balanced.  </a:t>
            </a:r>
            <a:r>
              <a:rPr lang="en-US" dirty="0"/>
              <a:t>(neglect weight of foot here, as it is small compared to the other forces)</a:t>
            </a:r>
          </a:p>
        </p:txBody>
      </p:sp>
      <p:sp>
        <p:nvSpPr>
          <p:cNvPr id="13" name="TextBox 12">
            <a:extLst>
              <a:ext uri="{FF2B5EF4-FFF2-40B4-BE49-F238E27FC236}">
                <a16:creationId xmlns:a16="http://schemas.microsoft.com/office/drawing/2014/main" id="{5C1724E1-1387-4139-B225-8D389C344D66}"/>
              </a:ext>
            </a:extLst>
          </p:cNvPr>
          <p:cNvSpPr txBox="1"/>
          <p:nvPr/>
        </p:nvSpPr>
        <p:spPr>
          <a:xfrm>
            <a:off x="4151400" y="4731281"/>
            <a:ext cx="8149073" cy="461665"/>
          </a:xfrm>
          <a:prstGeom prst="rect">
            <a:avLst/>
          </a:prstGeom>
          <a:noFill/>
        </p:spPr>
        <p:txBody>
          <a:bodyPr wrap="square" rtlCol="0">
            <a:spAutoFit/>
          </a:bodyPr>
          <a:lstStyle/>
          <a:p>
            <a:r>
              <a:rPr lang="en-US" sz="2400" dirty="0">
                <a:solidFill>
                  <a:srgbClr val="C00000"/>
                </a:solidFill>
              </a:rPr>
              <a:t>Estimate size of joint force relative to body weight</a:t>
            </a:r>
          </a:p>
        </p:txBody>
      </p:sp>
      <p:sp>
        <p:nvSpPr>
          <p:cNvPr id="8" name="TextBox 7">
            <a:extLst>
              <a:ext uri="{FF2B5EF4-FFF2-40B4-BE49-F238E27FC236}">
                <a16:creationId xmlns:a16="http://schemas.microsoft.com/office/drawing/2014/main" id="{06344755-6605-4B54-856E-F23720E427BF}"/>
              </a:ext>
            </a:extLst>
          </p:cNvPr>
          <p:cNvSpPr txBox="1"/>
          <p:nvPr/>
        </p:nvSpPr>
        <p:spPr>
          <a:xfrm>
            <a:off x="200899" y="365881"/>
            <a:ext cx="2380780" cy="461665"/>
          </a:xfrm>
          <a:prstGeom prst="rect">
            <a:avLst/>
          </a:prstGeom>
          <a:noFill/>
        </p:spPr>
        <p:txBody>
          <a:bodyPr wrap="none" rtlCol="0">
            <a:spAutoFit/>
          </a:bodyPr>
          <a:lstStyle/>
          <a:p>
            <a:r>
              <a:rPr lang="en-US" sz="2400" b="1" dirty="0">
                <a:solidFill>
                  <a:srgbClr val="FF0000"/>
                </a:solidFill>
              </a:rPr>
              <a:t>Achilles </a:t>
            </a:r>
            <a:r>
              <a:rPr lang="en-US" sz="2400" b="1" dirty="0"/>
              <a:t>=</a:t>
            </a:r>
            <a:r>
              <a:rPr lang="en-US" sz="2400" b="1" dirty="0">
                <a:solidFill>
                  <a:srgbClr val="FF0000"/>
                </a:solidFill>
              </a:rPr>
              <a:t> </a:t>
            </a:r>
            <a:r>
              <a:rPr lang="en-US" sz="2400" b="1" dirty="0">
                <a:solidFill>
                  <a:srgbClr val="C00000"/>
                </a:solidFill>
              </a:rPr>
              <a:t>?</a:t>
            </a:r>
            <a:r>
              <a:rPr lang="en-US" sz="2400" b="1" dirty="0">
                <a:solidFill>
                  <a:srgbClr val="FF0000"/>
                </a:solidFill>
              </a:rPr>
              <a:t> </a:t>
            </a:r>
            <a:r>
              <a:rPr lang="en-US" sz="2400" b="1" dirty="0">
                <a:solidFill>
                  <a:srgbClr val="0070C0"/>
                </a:solidFill>
              </a:rPr>
              <a:t>W</a:t>
            </a:r>
            <a:r>
              <a:rPr lang="en-US" sz="2400" b="1" baseline="-25000" dirty="0">
                <a:solidFill>
                  <a:srgbClr val="0070C0"/>
                </a:solidFill>
              </a:rPr>
              <a:t>body</a:t>
            </a:r>
          </a:p>
        </p:txBody>
      </p:sp>
      <p:sp>
        <p:nvSpPr>
          <p:cNvPr id="9" name="TextBox 8">
            <a:extLst>
              <a:ext uri="{FF2B5EF4-FFF2-40B4-BE49-F238E27FC236}">
                <a16:creationId xmlns:a16="http://schemas.microsoft.com/office/drawing/2014/main" id="{C2D3C406-5EA6-56D6-B1F6-5101CEF10571}"/>
              </a:ext>
            </a:extLst>
          </p:cNvPr>
          <p:cNvSpPr txBox="1"/>
          <p:nvPr/>
        </p:nvSpPr>
        <p:spPr>
          <a:xfrm>
            <a:off x="5074362" y="359904"/>
            <a:ext cx="6720371" cy="830997"/>
          </a:xfrm>
          <a:prstGeom prst="rect">
            <a:avLst/>
          </a:prstGeom>
          <a:noFill/>
        </p:spPr>
        <p:txBody>
          <a:bodyPr wrap="square" rtlCol="0">
            <a:spAutoFit/>
          </a:bodyPr>
          <a:lstStyle/>
          <a:p>
            <a:r>
              <a:rPr lang="en-US" sz="2400" dirty="0"/>
              <a:t>Make sure the </a:t>
            </a:r>
            <a:r>
              <a:rPr lang="en-US" sz="2400" dirty="0">
                <a:solidFill>
                  <a:srgbClr val="FF0000"/>
                </a:solidFill>
              </a:rPr>
              <a:t>Achilles</a:t>
            </a:r>
            <a:r>
              <a:rPr lang="en-US" sz="2400" dirty="0"/>
              <a:t> force vectors is resized relative to the </a:t>
            </a:r>
            <a:r>
              <a:rPr lang="en-US" sz="2400" dirty="0">
                <a:solidFill>
                  <a:srgbClr val="00B050"/>
                </a:solidFill>
              </a:rPr>
              <a:t>normal</a:t>
            </a:r>
            <a:r>
              <a:rPr lang="en-US" sz="2400" dirty="0"/>
              <a:t> floor force, first. </a:t>
            </a:r>
          </a:p>
        </p:txBody>
      </p:sp>
      <p:sp>
        <p:nvSpPr>
          <p:cNvPr id="11" name="Callout: Left Arrow 25">
            <a:extLst>
              <a:ext uri="{FF2B5EF4-FFF2-40B4-BE49-F238E27FC236}">
                <a16:creationId xmlns:a16="http://schemas.microsoft.com/office/drawing/2014/main" id="{F5C33AF9-4E52-DB22-EF8D-21DE616C3385}"/>
              </a:ext>
            </a:extLst>
          </p:cNvPr>
          <p:cNvSpPr/>
          <p:nvPr/>
        </p:nvSpPr>
        <p:spPr>
          <a:xfrm>
            <a:off x="8023213" y="3493699"/>
            <a:ext cx="2630853" cy="926179"/>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and </a:t>
            </a:r>
            <a:r>
              <a:rPr lang="en-US" b="1" dirty="0">
                <a:solidFill>
                  <a:srgbClr val="C00000"/>
                </a:solidFill>
              </a:rPr>
              <a:t>resize</a:t>
            </a:r>
            <a:r>
              <a:rPr lang="en-US" dirty="0">
                <a:solidFill>
                  <a:srgbClr val="C00000"/>
                </a:solidFill>
              </a:rPr>
              <a:t> joint force vector</a:t>
            </a:r>
          </a:p>
        </p:txBody>
      </p:sp>
      <p:grpSp>
        <p:nvGrpSpPr>
          <p:cNvPr id="14" name="Group 13">
            <a:extLst>
              <a:ext uri="{FF2B5EF4-FFF2-40B4-BE49-F238E27FC236}">
                <a16:creationId xmlns:a16="http://schemas.microsoft.com/office/drawing/2014/main" id="{55326E29-8B5E-91FA-4CCB-7EDB1615360C}"/>
              </a:ext>
            </a:extLst>
          </p:cNvPr>
          <p:cNvGrpSpPr/>
          <p:nvPr/>
        </p:nvGrpSpPr>
        <p:grpSpPr>
          <a:xfrm>
            <a:off x="282985" y="1031907"/>
            <a:ext cx="4551416" cy="3469126"/>
            <a:chOff x="432670" y="1546364"/>
            <a:chExt cx="4551416" cy="3469126"/>
          </a:xfrm>
        </p:grpSpPr>
        <p:pic>
          <p:nvPicPr>
            <p:cNvPr id="16" name="Picture 15">
              <a:extLst>
                <a:ext uri="{FF2B5EF4-FFF2-40B4-BE49-F238E27FC236}">
                  <a16:creationId xmlns:a16="http://schemas.microsoft.com/office/drawing/2014/main" id="{AD17D164-FDFD-157C-11C3-19DD0A215DDD}"/>
                </a:ext>
              </a:extLst>
            </p:cNvPr>
            <p:cNvPicPr>
              <a:picLocks noChangeAspect="1"/>
            </p:cNvPicPr>
            <p:nvPr/>
          </p:nvPicPr>
          <p:blipFill>
            <a:blip r:embed="rId2"/>
            <a:stretch>
              <a:fillRect/>
            </a:stretch>
          </p:blipFill>
          <p:spPr>
            <a:xfrm>
              <a:off x="432670" y="1546364"/>
              <a:ext cx="4551416" cy="3469126"/>
            </a:xfrm>
            <a:prstGeom prst="rect">
              <a:avLst/>
            </a:prstGeom>
          </p:spPr>
        </p:pic>
        <p:sp>
          <p:nvSpPr>
            <p:cNvPr id="17" name="Up Arrow 16">
              <a:extLst>
                <a:ext uri="{FF2B5EF4-FFF2-40B4-BE49-F238E27FC236}">
                  <a16:creationId xmlns:a16="http://schemas.microsoft.com/office/drawing/2014/main" id="{221E0231-917E-2857-BD3A-F6F3AA98003D}"/>
                </a:ext>
              </a:extLst>
            </p:cNvPr>
            <p:cNvSpPr/>
            <p:nvPr/>
          </p:nvSpPr>
          <p:spPr>
            <a:xfrm>
              <a:off x="887793" y="1726058"/>
              <a:ext cx="282736" cy="2375621"/>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Up Arrow 17">
              <a:extLst>
                <a:ext uri="{FF2B5EF4-FFF2-40B4-BE49-F238E27FC236}">
                  <a16:creationId xmlns:a16="http://schemas.microsoft.com/office/drawing/2014/main" id="{B7C9B4E8-A9C9-210F-EAE4-15C7579C1B65}"/>
                </a:ext>
              </a:extLst>
            </p:cNvPr>
            <p:cNvSpPr/>
            <p:nvPr/>
          </p:nvSpPr>
          <p:spPr>
            <a:xfrm>
              <a:off x="3621482" y="4006921"/>
              <a:ext cx="282736" cy="899330"/>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FA7C3D1A-4D52-CDA2-5145-F2DD5E7FC7A2}"/>
                </a:ext>
              </a:extLst>
            </p:cNvPr>
            <p:cNvSpPr txBox="1"/>
            <p:nvPr/>
          </p:nvSpPr>
          <p:spPr>
            <a:xfrm>
              <a:off x="2919544" y="3057705"/>
              <a:ext cx="1758751" cy="461665"/>
            </a:xfrm>
            <a:prstGeom prst="rect">
              <a:avLst/>
            </a:prstGeom>
            <a:solidFill>
              <a:schemeClr val="bg1">
                <a:alpha val="58488"/>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20" name="Oval 19">
              <a:extLst>
                <a:ext uri="{FF2B5EF4-FFF2-40B4-BE49-F238E27FC236}">
                  <a16:creationId xmlns:a16="http://schemas.microsoft.com/office/drawing/2014/main" id="{F4421CA3-DD24-F13B-F5FD-5A4328D57204}"/>
                </a:ext>
              </a:extLst>
            </p:cNvPr>
            <p:cNvSpPr/>
            <p:nvPr/>
          </p:nvSpPr>
          <p:spPr>
            <a:xfrm>
              <a:off x="1707104" y="3149103"/>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Up Arrow 21">
            <a:extLst>
              <a:ext uri="{FF2B5EF4-FFF2-40B4-BE49-F238E27FC236}">
                <a16:creationId xmlns:a16="http://schemas.microsoft.com/office/drawing/2014/main" id="{061A180E-A1E3-2BFC-8CCE-E5603C47D644}"/>
              </a:ext>
            </a:extLst>
          </p:cNvPr>
          <p:cNvSpPr/>
          <p:nvPr/>
        </p:nvSpPr>
        <p:spPr>
          <a:xfrm rot="10800000" flipH="1">
            <a:off x="6886788" y="3100501"/>
            <a:ext cx="275433" cy="148928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0030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52851B-E29C-4D5C-8FBA-750EA5265F7B}"/>
              </a:ext>
            </a:extLst>
          </p:cNvPr>
          <p:cNvSpPr/>
          <p:nvPr/>
        </p:nvSpPr>
        <p:spPr>
          <a:xfrm>
            <a:off x="4905190" y="89285"/>
            <a:ext cx="2959190" cy="3625864"/>
          </a:xfrm>
          <a:prstGeom prst="rect">
            <a:avLst/>
          </a:prstGeom>
        </p:spPr>
        <p:txBody>
          <a:bodyPr wrap="square">
            <a:spAutoFit/>
          </a:bodyPr>
          <a:lstStyle/>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F</a:t>
            </a:r>
            <a:r>
              <a:rPr lang="en-US" sz="2400" b="1" dirty="0">
                <a:latin typeface="Calibri" panose="020F0502020204030204" pitchFamily="34" charset="0"/>
                <a:ea typeface="Calibri" panose="020F0502020204030204" pitchFamily="34" charset="0"/>
                <a:cs typeface="Times New Roman" panose="02020603050405020304" pitchFamily="18" charset="0"/>
              </a:rPr>
              <a:t> = </a:t>
            </a:r>
            <a:r>
              <a:rPr lang="en-US" sz="2400" dirty="0">
                <a:latin typeface="Calibri" panose="020F0502020204030204" pitchFamily="34" charset="0"/>
                <a:ea typeface="Calibri" panose="020F0502020204030204" pitchFamily="34" charset="0"/>
                <a:cs typeface="Times New Roman" panose="02020603050405020304" pitchFamily="18" charset="0"/>
              </a:rPr>
              <a:t>0</a:t>
            </a: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0852851B-E29C-4D5C-8FBA-750EA5265F7B}"/>
              </a:ext>
            </a:extLst>
          </p:cNvPr>
          <p:cNvSpPr/>
          <p:nvPr/>
        </p:nvSpPr>
        <p:spPr>
          <a:xfrm>
            <a:off x="5676459" y="1426139"/>
            <a:ext cx="3490186" cy="2219390"/>
          </a:xfrm>
          <a:prstGeom prst="rect">
            <a:avLst/>
          </a:prstGeom>
        </p:spPr>
        <p:txBody>
          <a:bodyPr wrap="none">
            <a:spAutoFit/>
          </a:bodyPr>
          <a:lstStyle/>
          <a:p>
            <a:pPr marL="457200" marR="0">
              <a:lnSpc>
                <a:spcPct val="115000"/>
              </a:lnSpc>
              <a:spcBef>
                <a:spcPts val="0"/>
              </a:spcBef>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sym typeface="Symbol" pitchFamily="2" charset="2"/>
              </a:rPr>
              <a:t>F</a:t>
            </a:r>
            <a:r>
              <a:rPr lang="en-US" sz="2400" b="1" dirty="0">
                <a:latin typeface="Calibri" panose="020F0502020204030204" pitchFamily="34" charset="0"/>
                <a:ea typeface="Calibri" panose="020F0502020204030204" pitchFamily="34" charset="0"/>
                <a:cs typeface="Times New Roman" panose="02020603050405020304" pitchFamily="18" charset="0"/>
              </a:rPr>
              <a:t> = </a:t>
            </a:r>
            <a:r>
              <a:rPr lang="en-US" sz="2400" dirty="0">
                <a:latin typeface="Calibri" panose="020F0502020204030204" pitchFamily="34" charset="0"/>
                <a:ea typeface="Calibri" panose="020F0502020204030204" pitchFamily="34" charset="0"/>
                <a:cs typeface="Times New Roman" panose="02020603050405020304" pitchFamily="18" charset="0"/>
              </a:rPr>
              <a:t>0</a:t>
            </a:r>
          </a:p>
          <a:p>
            <a:pPr marL="457200" marR="0">
              <a:lnSpc>
                <a:spcPct val="115000"/>
              </a:lnSpc>
              <a:spcBef>
                <a:spcPts val="0"/>
              </a:spcBef>
              <a:spcAft>
                <a:spcPts val="1000"/>
              </a:spcAft>
            </a:pPr>
            <a:r>
              <a:rPr lang="en-US" sz="2400" dirty="0">
                <a:latin typeface="Calibri" panose="020F0502020204030204" pitchFamily="34" charset="0"/>
                <a:ea typeface="Calibri" panose="020F0502020204030204" pitchFamily="34" charset="0"/>
                <a:cs typeface="Times New Roman" panose="02020603050405020304" pitchFamily="18" charset="0"/>
              </a:rPr>
              <a:t>+</a:t>
            </a:r>
            <a:r>
              <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F</a:t>
            </a:r>
            <a:r>
              <a:rPr lang="en-US" sz="24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800" dirty="0">
                <a:latin typeface="Calibri" panose="020F0502020204030204" pitchFamily="34" charset="0"/>
                <a:ea typeface="Calibri" panose="020F0502020204030204" pitchFamily="34" charset="0"/>
                <a:cs typeface="Times New Roman" panose="02020603050405020304" pitchFamily="18" charset="0"/>
              </a:rPr>
              <a:t>+</a:t>
            </a: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a:solidFill>
                  <a:srgbClr val="00B050"/>
                </a:solidFill>
                <a:latin typeface="Calibri" panose="020F0502020204030204" pitchFamily="34" charset="0"/>
                <a:ea typeface="Calibri" panose="020F0502020204030204" pitchFamily="34" charset="0"/>
                <a:cs typeface="Times New Roman" panose="02020603050405020304" pitchFamily="18" charset="0"/>
              </a:rPr>
              <a:t>n</a:t>
            </a:r>
            <a:r>
              <a:rPr lang="en-US" sz="2400"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r>
              <a:rPr lang="en-US" sz="2400" dirty="0">
                <a:latin typeface="Calibri" panose="020F0502020204030204" pitchFamily="34" charset="0"/>
                <a:ea typeface="Calibri" panose="020F0502020204030204" pitchFamily="34" charset="0"/>
                <a:cs typeface="Times New Roman" panose="02020603050405020304" pitchFamily="18" charset="0"/>
              </a:rPr>
              <a:t> ∓ </a:t>
            </a:r>
            <a:r>
              <a:rPr lang="en-US" sz="2400" b="1" dirty="0">
                <a:solidFill>
                  <a:schemeClr val="accent4">
                    <a:lumMod val="75000"/>
                  </a:schemeClr>
                </a:solidFill>
                <a:latin typeface="Calibri" panose="020F0502020204030204" pitchFamily="34" charset="0"/>
                <a:ea typeface="Calibri" panose="020F0502020204030204" pitchFamily="34" charset="0"/>
                <a:cs typeface="Times New Roman" panose="02020603050405020304" pitchFamily="18" charset="0"/>
              </a:rPr>
              <a:t>J </a:t>
            </a:r>
            <a:r>
              <a:rPr lang="en-US" sz="2400" dirty="0">
                <a:latin typeface="Calibri" panose="020F0502020204030204" pitchFamily="34" charset="0"/>
                <a:ea typeface="Calibri" panose="020F0502020204030204" pitchFamily="34" charset="0"/>
                <a:cs typeface="Times New Roman" panose="02020603050405020304" pitchFamily="18" charset="0"/>
              </a:rPr>
              <a:t>= 0</a:t>
            </a:r>
          </a:p>
          <a:p>
            <a:pPr marL="457200" marR="0">
              <a:lnSpc>
                <a:spcPct val="115000"/>
              </a:lnSpc>
              <a:spcBef>
                <a:spcPts val="0"/>
              </a:spcBef>
              <a:spcAft>
                <a:spcPts val="1000"/>
              </a:spcAft>
            </a:pPr>
            <a:r>
              <a:rPr lang="en-US" sz="2400" b="1" dirty="0">
                <a:solidFill>
                  <a:schemeClr val="accent4">
                    <a:lumMod val="75000"/>
                  </a:schemeClr>
                </a:solidFill>
                <a:latin typeface="Calibri" panose="020F0502020204030204" pitchFamily="34" charset="0"/>
                <a:ea typeface="Calibri" panose="020F0502020204030204" pitchFamily="34" charset="0"/>
                <a:cs typeface="Times New Roman" panose="02020603050405020304" pitchFamily="18" charset="0"/>
              </a:rPr>
              <a:t>J</a:t>
            </a:r>
            <a:r>
              <a:rPr lang="en-US" sz="2400" dirty="0">
                <a:latin typeface="Calibri" panose="020F0502020204030204" pitchFamily="34" charset="0"/>
                <a:ea typeface="Calibri" panose="020F0502020204030204" pitchFamily="34" charset="0"/>
                <a:cs typeface="Times New Roman" panose="02020603050405020304" pitchFamily="18" charset="0"/>
              </a:rPr>
              <a:t> = ∓ </a:t>
            </a:r>
            <a:r>
              <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F</a:t>
            </a:r>
            <a:r>
              <a:rPr lang="en-US" sz="24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Achilles</a:t>
            </a:r>
            <a:r>
              <a:rPr lang="en-US" sz="2400" dirty="0">
                <a:latin typeface="Calibri" panose="020F0502020204030204" pitchFamily="34" charset="0"/>
                <a:ea typeface="Calibri" panose="020F0502020204030204" pitchFamily="34" charset="0"/>
                <a:cs typeface="Times New Roman" panose="02020603050405020304" pitchFamily="18" charset="0"/>
              </a:rPr>
              <a:t> ∓  </a:t>
            </a:r>
            <a:r>
              <a:rPr lang="en-US" sz="2400" dirty="0">
                <a:solidFill>
                  <a:srgbClr val="00B050"/>
                </a:solidFill>
                <a:latin typeface="Calibri" panose="020F0502020204030204" pitchFamily="34" charset="0"/>
                <a:ea typeface="Calibri" panose="020F0502020204030204" pitchFamily="34" charset="0"/>
                <a:cs typeface="Times New Roman" panose="02020603050405020304" pitchFamily="18" charset="0"/>
              </a:rPr>
              <a:t>n</a:t>
            </a:r>
            <a:r>
              <a:rPr lang="en-US" sz="2400" baseline="-25000" dirty="0">
                <a:solidFill>
                  <a:srgbClr val="00B050"/>
                </a:solidFill>
                <a:latin typeface="Calibri" panose="020F0502020204030204" pitchFamily="34" charset="0"/>
                <a:ea typeface="Calibri" panose="020F0502020204030204" pitchFamily="34" charset="0"/>
                <a:cs typeface="Times New Roman" panose="02020603050405020304" pitchFamily="18" charset="0"/>
              </a:rPr>
              <a:t>floor</a:t>
            </a:r>
          </a:p>
          <a:p>
            <a:pPr marL="457200">
              <a:lnSpc>
                <a:spcPct val="115000"/>
              </a:lnSpc>
              <a:spcAft>
                <a:spcPts val="1000"/>
              </a:spcAft>
            </a:pPr>
            <a:r>
              <a:rPr lang="en-US" sz="2400" b="1" dirty="0">
                <a:solidFill>
                  <a:schemeClr val="accent4">
                    <a:lumMod val="75000"/>
                  </a:schemeClr>
                </a:solidFill>
                <a:latin typeface="Calibri" panose="020F0502020204030204" pitchFamily="34" charset="0"/>
                <a:ea typeface="Calibri" panose="020F0502020204030204" pitchFamily="34" charset="0"/>
                <a:cs typeface="Times New Roman" panose="02020603050405020304" pitchFamily="18" charset="0"/>
              </a:rPr>
              <a:t>J</a:t>
            </a:r>
            <a:r>
              <a:rPr lang="en-US" sz="2400" dirty="0">
                <a:solidFill>
                  <a:schemeClr val="accent4">
                    <a:lumMod val="75000"/>
                  </a:schemeClr>
                </a:solidFill>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Calibri" panose="020F0502020204030204" pitchFamily="34" charset="0"/>
                <a:ea typeface="Calibri" panose="020F0502020204030204" pitchFamily="34" charset="0"/>
                <a:cs typeface="Times New Roman" panose="02020603050405020304" pitchFamily="18" charset="0"/>
              </a:rPr>
              <a:t>=</a:t>
            </a:r>
            <a:r>
              <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Calibri" panose="020F0502020204030204" pitchFamily="34" charset="0"/>
                <a:ea typeface="Calibri" panose="020F0502020204030204" pitchFamily="34" charset="0"/>
                <a:cs typeface="Times New Roman" panose="02020603050405020304" pitchFamily="18" charset="0"/>
              </a:rPr>
              <a:t>∓</a:t>
            </a:r>
            <a:r>
              <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en-US" sz="2400" dirty="0">
                <a:solidFill>
                  <a:srgbClr val="FF0000"/>
                </a:solidFill>
              </a:rPr>
              <a:t>? </a:t>
            </a:r>
            <a:r>
              <a:rPr lang="en-US" sz="2400" dirty="0">
                <a:solidFill>
                  <a:srgbClr val="0070C0"/>
                </a:solidFill>
              </a:rPr>
              <a:t>W</a:t>
            </a:r>
            <a:r>
              <a:rPr lang="en-US" sz="2400" baseline="-25000" dirty="0">
                <a:solidFill>
                  <a:srgbClr val="0070C0"/>
                </a:solidFill>
              </a:rPr>
              <a:t>body</a:t>
            </a:r>
            <a:r>
              <a:rPr lang="en-US" sz="2400" baseline="-25000" dirty="0">
                <a:solidFill>
                  <a:srgbClr val="FF0000"/>
                </a:solidFill>
              </a:rPr>
              <a:t> </a:t>
            </a:r>
            <a:r>
              <a:rPr lang="en-US" sz="2400" dirty="0"/>
              <a:t>∓</a:t>
            </a:r>
            <a:r>
              <a:rPr lang="en-US" sz="2400" dirty="0">
                <a:solidFill>
                  <a:srgbClr val="FF0000"/>
                </a:solidFill>
              </a:rPr>
              <a:t> </a:t>
            </a:r>
            <a:r>
              <a:rPr lang="en-US" sz="2400" dirty="0">
                <a:solidFill>
                  <a:srgbClr val="0070C0"/>
                </a:solidFill>
              </a:rPr>
              <a:t>W</a:t>
            </a:r>
            <a:r>
              <a:rPr lang="en-US" sz="2400" baseline="-25000" dirty="0">
                <a:solidFill>
                  <a:srgbClr val="0070C0"/>
                </a:solidFill>
              </a:rPr>
              <a:t>body</a:t>
            </a:r>
          </a:p>
        </p:txBody>
      </p:sp>
      <p:sp>
        <p:nvSpPr>
          <p:cNvPr id="3" name="TextBox 2">
            <a:extLst>
              <a:ext uri="{FF2B5EF4-FFF2-40B4-BE49-F238E27FC236}">
                <a16:creationId xmlns:a16="http://schemas.microsoft.com/office/drawing/2014/main" id="{B6F236B2-427F-44C2-D846-AD2ACA619F3B}"/>
              </a:ext>
            </a:extLst>
          </p:cNvPr>
          <p:cNvSpPr txBox="1"/>
          <p:nvPr/>
        </p:nvSpPr>
        <p:spPr>
          <a:xfrm>
            <a:off x="5296989" y="585067"/>
            <a:ext cx="5706633" cy="461665"/>
          </a:xfrm>
          <a:prstGeom prst="rect">
            <a:avLst/>
          </a:prstGeom>
          <a:noFill/>
        </p:spPr>
        <p:txBody>
          <a:bodyPr wrap="square" rtlCol="0">
            <a:spAutoFit/>
          </a:bodyPr>
          <a:lstStyle/>
          <a:p>
            <a:r>
              <a:rPr lang="en-US" sz="2400" dirty="0">
                <a:solidFill>
                  <a:srgbClr val="C00000"/>
                </a:solidFill>
              </a:rPr>
              <a:t>Calculate estimate for joint  force</a:t>
            </a:r>
          </a:p>
        </p:txBody>
      </p:sp>
      <p:sp>
        <p:nvSpPr>
          <p:cNvPr id="10" name="TextBox 9">
            <a:extLst>
              <a:ext uri="{FF2B5EF4-FFF2-40B4-BE49-F238E27FC236}">
                <a16:creationId xmlns:a16="http://schemas.microsoft.com/office/drawing/2014/main" id="{1C103FF1-4A56-910F-EE63-40E3769AEA15}"/>
              </a:ext>
            </a:extLst>
          </p:cNvPr>
          <p:cNvSpPr txBox="1"/>
          <p:nvPr/>
        </p:nvSpPr>
        <p:spPr>
          <a:xfrm>
            <a:off x="6840702" y="3980098"/>
            <a:ext cx="1553355" cy="461665"/>
          </a:xfrm>
          <a:prstGeom prst="rect">
            <a:avLst/>
          </a:prstGeom>
          <a:noFill/>
        </p:spPr>
        <p:txBody>
          <a:bodyPr wrap="square" rtlCol="0">
            <a:spAutoFit/>
          </a:bodyPr>
          <a:lstStyle/>
          <a:p>
            <a:r>
              <a:rPr lang="en-US" sz="2400" b="1" dirty="0">
                <a:solidFill>
                  <a:schemeClr val="accent4">
                    <a:lumMod val="75000"/>
                  </a:schemeClr>
                </a:solidFill>
              </a:rPr>
              <a:t>J </a:t>
            </a:r>
            <a:r>
              <a:rPr lang="en-US" sz="2400" b="1" dirty="0"/>
              <a:t>=</a:t>
            </a:r>
            <a:r>
              <a:rPr lang="en-US" sz="2400" b="1" dirty="0">
                <a:solidFill>
                  <a:schemeClr val="accent4">
                    <a:lumMod val="75000"/>
                  </a:schemeClr>
                </a:solidFill>
              </a:rPr>
              <a:t> </a:t>
            </a:r>
            <a:r>
              <a:rPr lang="en-US" sz="2400" b="1" dirty="0">
                <a:solidFill>
                  <a:srgbClr val="C00000"/>
                </a:solidFill>
              </a:rPr>
              <a:t>?</a:t>
            </a:r>
            <a:r>
              <a:rPr lang="en-US" sz="2400" b="1" dirty="0">
                <a:solidFill>
                  <a:schemeClr val="accent4">
                    <a:lumMod val="75000"/>
                  </a:schemeClr>
                </a:solidFill>
              </a:rPr>
              <a:t> </a:t>
            </a:r>
            <a:r>
              <a:rPr lang="en-US" sz="2400" b="1" dirty="0">
                <a:solidFill>
                  <a:srgbClr val="0070C0"/>
                </a:solidFill>
              </a:rPr>
              <a:t>W</a:t>
            </a:r>
            <a:r>
              <a:rPr lang="en-US" sz="2400" b="1" baseline="-25000" dirty="0">
                <a:solidFill>
                  <a:srgbClr val="0070C0"/>
                </a:solidFill>
              </a:rPr>
              <a:t>body</a:t>
            </a:r>
          </a:p>
        </p:txBody>
      </p:sp>
      <p:grpSp>
        <p:nvGrpSpPr>
          <p:cNvPr id="7" name="Group 6">
            <a:extLst>
              <a:ext uri="{FF2B5EF4-FFF2-40B4-BE49-F238E27FC236}">
                <a16:creationId xmlns:a16="http://schemas.microsoft.com/office/drawing/2014/main" id="{7291CD8B-CB17-9210-856D-BB433E0E0DEF}"/>
              </a:ext>
            </a:extLst>
          </p:cNvPr>
          <p:cNvGrpSpPr/>
          <p:nvPr/>
        </p:nvGrpSpPr>
        <p:grpSpPr>
          <a:xfrm>
            <a:off x="484684" y="659698"/>
            <a:ext cx="4551416" cy="3469126"/>
            <a:chOff x="432670" y="1546364"/>
            <a:chExt cx="4551416" cy="3469126"/>
          </a:xfrm>
        </p:grpSpPr>
        <p:pic>
          <p:nvPicPr>
            <p:cNvPr id="8" name="Picture 7">
              <a:extLst>
                <a:ext uri="{FF2B5EF4-FFF2-40B4-BE49-F238E27FC236}">
                  <a16:creationId xmlns:a16="http://schemas.microsoft.com/office/drawing/2014/main" id="{852D617B-8964-79E0-EA9F-AEE7FD9770A6}"/>
                </a:ext>
              </a:extLst>
            </p:cNvPr>
            <p:cNvPicPr>
              <a:picLocks noChangeAspect="1"/>
            </p:cNvPicPr>
            <p:nvPr/>
          </p:nvPicPr>
          <p:blipFill>
            <a:blip r:embed="rId2"/>
            <a:stretch>
              <a:fillRect/>
            </a:stretch>
          </p:blipFill>
          <p:spPr>
            <a:xfrm>
              <a:off x="432670" y="1546364"/>
              <a:ext cx="4551416" cy="3469126"/>
            </a:xfrm>
            <a:prstGeom prst="rect">
              <a:avLst/>
            </a:prstGeom>
          </p:spPr>
        </p:pic>
        <p:sp>
          <p:nvSpPr>
            <p:cNvPr id="9" name="Up Arrow 8">
              <a:extLst>
                <a:ext uri="{FF2B5EF4-FFF2-40B4-BE49-F238E27FC236}">
                  <a16:creationId xmlns:a16="http://schemas.microsoft.com/office/drawing/2014/main" id="{7F7F2E84-FEB2-8E70-7771-43B0F7B3A796}"/>
                </a:ext>
              </a:extLst>
            </p:cNvPr>
            <p:cNvSpPr/>
            <p:nvPr/>
          </p:nvSpPr>
          <p:spPr>
            <a:xfrm>
              <a:off x="887793" y="1726058"/>
              <a:ext cx="282736" cy="2375621"/>
            </a:xfrm>
            <a:prstGeom prst="upArrow">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Up Arrow 12">
              <a:extLst>
                <a:ext uri="{FF2B5EF4-FFF2-40B4-BE49-F238E27FC236}">
                  <a16:creationId xmlns:a16="http://schemas.microsoft.com/office/drawing/2014/main" id="{317AB7F7-F11B-E47D-90B1-F29DE68055C7}"/>
                </a:ext>
              </a:extLst>
            </p:cNvPr>
            <p:cNvSpPr/>
            <p:nvPr/>
          </p:nvSpPr>
          <p:spPr>
            <a:xfrm>
              <a:off x="3621482" y="4006921"/>
              <a:ext cx="282736" cy="899330"/>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42D6BAA5-DE90-E29C-B0F9-429910DBA21B}"/>
                </a:ext>
              </a:extLst>
            </p:cNvPr>
            <p:cNvSpPr txBox="1"/>
            <p:nvPr/>
          </p:nvSpPr>
          <p:spPr>
            <a:xfrm>
              <a:off x="2919544" y="3057705"/>
              <a:ext cx="1758751" cy="461665"/>
            </a:xfrm>
            <a:prstGeom prst="rect">
              <a:avLst/>
            </a:prstGeom>
            <a:solidFill>
              <a:schemeClr val="bg1">
                <a:alpha val="58488"/>
              </a:schemeClr>
            </a:solidFill>
          </p:spPr>
          <p:txBody>
            <a:bodyPr wrap="none" rtlCol="0">
              <a:spAutoFit/>
            </a:bodyPr>
            <a:lstStyle/>
            <a:p>
              <a:r>
                <a:rPr lang="en-US" sz="2400" b="1" dirty="0">
                  <a:solidFill>
                    <a:srgbClr val="00B050"/>
                  </a:solidFill>
                </a:rPr>
                <a:t>n</a:t>
              </a:r>
              <a:r>
                <a:rPr lang="en-US" sz="2400" b="1" baseline="-25000" dirty="0">
                  <a:solidFill>
                    <a:srgbClr val="00B050"/>
                  </a:solidFill>
                </a:rPr>
                <a:t>floor</a:t>
              </a:r>
              <a:r>
                <a:rPr lang="en-US" sz="2400" b="1" dirty="0">
                  <a:solidFill>
                    <a:srgbClr val="00B050"/>
                  </a:solidFill>
                </a:rPr>
                <a:t> </a:t>
              </a:r>
              <a:r>
                <a:rPr lang="en-US" sz="2400" b="1" dirty="0"/>
                <a:t>=</a:t>
              </a:r>
              <a:r>
                <a:rPr lang="en-US" sz="2400" b="1" dirty="0">
                  <a:solidFill>
                    <a:srgbClr val="00B050"/>
                  </a:solidFill>
                </a:rPr>
                <a:t> </a:t>
              </a:r>
              <a:r>
                <a:rPr lang="en-US" sz="2400" b="1" dirty="0">
                  <a:solidFill>
                    <a:srgbClr val="0070C0"/>
                  </a:solidFill>
                </a:rPr>
                <a:t>W</a:t>
              </a:r>
              <a:r>
                <a:rPr lang="en-US" sz="2400" b="1" baseline="-25000" dirty="0">
                  <a:solidFill>
                    <a:srgbClr val="0070C0"/>
                  </a:solidFill>
                </a:rPr>
                <a:t>body</a:t>
              </a:r>
            </a:p>
          </p:txBody>
        </p:sp>
        <p:sp>
          <p:nvSpPr>
            <p:cNvPr id="16" name="Oval 15">
              <a:extLst>
                <a:ext uri="{FF2B5EF4-FFF2-40B4-BE49-F238E27FC236}">
                  <a16:creationId xmlns:a16="http://schemas.microsoft.com/office/drawing/2014/main" id="{8162DA17-B021-8156-A6B0-518EF6F145EB}"/>
                </a:ext>
              </a:extLst>
            </p:cNvPr>
            <p:cNvSpPr/>
            <p:nvPr/>
          </p:nvSpPr>
          <p:spPr>
            <a:xfrm>
              <a:off x="1707104" y="3149103"/>
              <a:ext cx="189934" cy="139435"/>
            </a:xfrm>
            <a:prstGeom prst="ellipse">
              <a:avLst/>
            </a:prstGeom>
            <a:solidFill>
              <a:schemeClr val="tx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Up Arrow 16">
            <a:extLst>
              <a:ext uri="{FF2B5EF4-FFF2-40B4-BE49-F238E27FC236}">
                <a16:creationId xmlns:a16="http://schemas.microsoft.com/office/drawing/2014/main" id="{6B492C31-9367-F4C3-B26E-7443DC4A09BB}"/>
              </a:ext>
            </a:extLst>
          </p:cNvPr>
          <p:cNvSpPr/>
          <p:nvPr/>
        </p:nvSpPr>
        <p:spPr>
          <a:xfrm flipH="1">
            <a:off x="5488002" y="5034892"/>
            <a:ext cx="278133" cy="1552070"/>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799D5737-C9C5-CD54-5124-2231D7FB0757}"/>
              </a:ext>
            </a:extLst>
          </p:cNvPr>
          <p:cNvSpPr txBox="1"/>
          <p:nvPr/>
        </p:nvSpPr>
        <p:spPr>
          <a:xfrm>
            <a:off x="4074166" y="4592673"/>
            <a:ext cx="1715945" cy="461665"/>
          </a:xfrm>
          <a:prstGeom prst="rect">
            <a:avLst/>
          </a:prstGeom>
          <a:noFill/>
        </p:spPr>
        <p:txBody>
          <a:bodyPr wrap="square" rtlCol="0">
            <a:spAutoFit/>
          </a:bodyPr>
          <a:lstStyle/>
          <a:p>
            <a:r>
              <a:rPr lang="en-US" sz="2400" b="1" dirty="0">
                <a:solidFill>
                  <a:schemeClr val="accent4">
                    <a:lumMod val="75000"/>
                  </a:schemeClr>
                </a:solidFill>
              </a:rPr>
              <a:t>Joint force</a:t>
            </a:r>
          </a:p>
        </p:txBody>
      </p:sp>
      <p:sp>
        <p:nvSpPr>
          <p:cNvPr id="19" name="Callout: Left Arrow 25">
            <a:extLst>
              <a:ext uri="{FF2B5EF4-FFF2-40B4-BE49-F238E27FC236}">
                <a16:creationId xmlns:a16="http://schemas.microsoft.com/office/drawing/2014/main" id="{ABDA5D38-EBEE-95B7-B693-4383B4C32F86}"/>
              </a:ext>
            </a:extLst>
          </p:cNvPr>
          <p:cNvSpPr/>
          <p:nvPr/>
        </p:nvSpPr>
        <p:spPr>
          <a:xfrm>
            <a:off x="6564932" y="5034892"/>
            <a:ext cx="2630853" cy="926179"/>
          </a:xfrm>
          <a:prstGeom prst="leftArrow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Drag and  resize joint force vector</a:t>
            </a:r>
          </a:p>
        </p:txBody>
      </p:sp>
      <p:sp>
        <p:nvSpPr>
          <p:cNvPr id="31" name="TextBox 30">
            <a:extLst>
              <a:ext uri="{FF2B5EF4-FFF2-40B4-BE49-F238E27FC236}">
                <a16:creationId xmlns:a16="http://schemas.microsoft.com/office/drawing/2014/main" id="{98F76679-82B8-58A8-7B13-98ABF6736688}"/>
              </a:ext>
            </a:extLst>
          </p:cNvPr>
          <p:cNvSpPr txBox="1"/>
          <p:nvPr/>
        </p:nvSpPr>
        <p:spPr>
          <a:xfrm>
            <a:off x="9328935" y="1639861"/>
            <a:ext cx="2378381" cy="461665"/>
          </a:xfrm>
          <a:prstGeom prst="rect">
            <a:avLst/>
          </a:prstGeom>
          <a:noFill/>
        </p:spPr>
        <p:txBody>
          <a:bodyPr wrap="square" rtlCol="0">
            <a:spAutoFit/>
          </a:bodyPr>
          <a:lstStyle/>
          <a:p>
            <a:r>
              <a:rPr lang="en-US" dirty="0">
                <a:solidFill>
                  <a:srgbClr val="C00000"/>
                </a:solidFill>
              </a:rPr>
              <a:t>Replace </a:t>
            </a:r>
            <a:r>
              <a:rPr lang="en-US" b="1" dirty="0"/>
              <a:t>∓</a:t>
            </a:r>
            <a:r>
              <a:rPr lang="en-US" dirty="0">
                <a:solidFill>
                  <a:srgbClr val="C00000"/>
                </a:solidFill>
              </a:rPr>
              <a:t> with </a:t>
            </a:r>
            <a:r>
              <a:rPr lang="en-US" sz="2400" dirty="0"/>
              <a:t>+</a:t>
            </a:r>
            <a:r>
              <a:rPr lang="en-US" dirty="0">
                <a:solidFill>
                  <a:srgbClr val="C00000"/>
                </a:solidFill>
              </a:rPr>
              <a:t> or </a:t>
            </a:r>
            <a:r>
              <a:rPr lang="en-US" sz="2400" dirty="0"/>
              <a:t>-</a:t>
            </a:r>
          </a:p>
        </p:txBody>
      </p:sp>
      <p:sp>
        <p:nvSpPr>
          <p:cNvPr id="2" name="Up Arrow 1">
            <a:extLst>
              <a:ext uri="{FF2B5EF4-FFF2-40B4-BE49-F238E27FC236}">
                <a16:creationId xmlns:a16="http://schemas.microsoft.com/office/drawing/2014/main" id="{64FE9B67-732D-A7AD-AF55-E47C5B74DE50}"/>
              </a:ext>
            </a:extLst>
          </p:cNvPr>
          <p:cNvSpPr/>
          <p:nvPr/>
        </p:nvSpPr>
        <p:spPr>
          <a:xfrm rot="10800000" flipH="1">
            <a:off x="5887400" y="5054338"/>
            <a:ext cx="278133" cy="1552070"/>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37443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1080</TotalTime>
  <Words>961</Words>
  <Application>Microsoft Macintosh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Agency FB</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Beverly, Nancy</dc:creator>
  <cp:lastModifiedBy>Beverly, Nancy</cp:lastModifiedBy>
  <cp:revision>16</cp:revision>
  <dcterms:created xsi:type="dcterms:W3CDTF">2022-10-13T15:34:19Z</dcterms:created>
  <dcterms:modified xsi:type="dcterms:W3CDTF">2025-11-12T17:43:24Z</dcterms:modified>
</cp:coreProperties>
</file>