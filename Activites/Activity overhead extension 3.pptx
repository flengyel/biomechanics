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1" r:id="rId2"/>
    <p:sldId id="332" r:id="rId3"/>
    <p:sldId id="309" r:id="rId4"/>
    <p:sldId id="333" r:id="rId5"/>
    <p:sldId id="328" r:id="rId6"/>
    <p:sldId id="303" r:id="rId7"/>
    <p:sldId id="317" r:id="rId8"/>
    <p:sldId id="311" r:id="rId9"/>
    <p:sldId id="334" r:id="rId10"/>
    <p:sldId id="335" r:id="rId11"/>
    <p:sldId id="298" r:id="rId12"/>
    <p:sldId id="297" r:id="rId13"/>
    <p:sldId id="291" r:id="rId14"/>
    <p:sldId id="29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24"/>
    <p:restoredTop sz="96327"/>
  </p:normalViewPr>
  <p:slideViewPr>
    <p:cSldViewPr snapToGrid="0" showGuides="1">
      <p:cViewPr varScale="1">
        <p:scale>
          <a:sx n="121" d="100"/>
          <a:sy n="121" d="100"/>
        </p:scale>
        <p:origin x="16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D8D2E-150C-B655-CDF5-0CCD72776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3639B-D4C2-3DE7-1CE5-896C63BB8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71D9E-C7B4-AD0E-81B3-0067F4937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1138-6A1D-794C-889D-9DE7FE6FD996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B3B4B-24D9-CBC0-D0F5-074D7643B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86006-6FAF-9075-4BBA-C8FF6F44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9B6C-07D4-1948-9BFC-0373EF8B14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70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8A3EC-CC7A-1334-A6C6-0295EC1E9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D8559-2241-FA87-546A-653DFD629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D46E1-99A7-D9A6-C7B3-D64D47546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1138-6A1D-794C-889D-9DE7FE6FD996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243B2-126F-70F4-7103-43D5F67E1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98A10-EE2D-D3CF-3671-C0BB11D1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9B6C-07D4-1948-9BFC-0373EF8B14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474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4B9EA-7A47-D8C6-78FC-1E19B1F45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5954F-98B7-EFD1-AE83-1ADCE1328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A710A-CCE3-1E87-DD24-71616209C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1138-6A1D-794C-889D-9DE7FE6FD996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30E64-FE4D-7B0D-419D-EB9407E4A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8F96D-4E20-851F-3DC4-A98DA311C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9B6C-07D4-1948-9BFC-0373EF8B14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636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4EDBE-8EC1-DF8C-44CE-D250E4E42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59E1D-33EA-7F60-60C8-51149D3DF4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F355B9-B6FA-AE42-D74C-AFEE67E18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D1E74-484F-4FF2-C6DD-D548D084A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1138-6A1D-794C-889D-9DE7FE6FD996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FB5BC3-1497-4FB7-CBD2-95489CF2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9FCAC-0CE5-6378-4578-4D846713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9B6C-07D4-1948-9BFC-0373EF8B14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068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DB114-326E-E9BC-A35D-A6877F3CE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CD857-79F8-D5D1-C13C-7AC56AC01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A5D3B3-D978-0ED7-08B9-5677924FE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7CA92-ABB8-F830-4E00-15B9848BA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C80B13-60D6-C0D4-5C56-0B5A2133E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0ABF4D-A835-160A-D1DB-B7E04EE83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1138-6A1D-794C-889D-9DE7FE6FD996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E5CD7C-E3AD-C5B5-B1A9-229E733F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BB9D9E-7508-1296-61E3-52536814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9B6C-07D4-1948-9BFC-0373EF8B14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95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579F0-A348-1E71-2172-D89124C5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103CC-08F1-777A-9B6E-4532E31F2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1138-6A1D-794C-889D-9DE7FE6FD996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EACA0-C822-549B-C336-3A4AA6A41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E4FDB-9D98-3157-B498-036C5513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9B6C-07D4-1948-9BFC-0373EF8B14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25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C1668F-7DD0-7D1C-4923-59E1BECCA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1138-6A1D-794C-889D-9DE7FE6FD996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C57BA8-4DE0-2FAB-3AB3-0DDE7EA1D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B4C8C-F69A-760F-CBCE-7D14179F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9B6C-07D4-1948-9BFC-0373EF8B14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033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84D0-FB66-45F4-45EC-93F181261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F4320-107D-5166-6557-17A7D0F56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0A825A-5739-163B-07A9-4138D6195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FFAC5-377B-3B6D-5E31-5C206D980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1138-6A1D-794C-889D-9DE7FE6FD996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F250F-7C9D-8E26-EEF9-F764BAAC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5D2ED-45DC-1337-1CA1-64922E3D8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9B6C-07D4-1948-9BFC-0373EF8B14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787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B495E-A4AC-42F8-A461-43FD4A997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88D2E4-00C7-14F3-AF63-2EFB5CF60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54E41-F5E8-2009-14C3-E7F4998A3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3A77D-5B1E-4C1C-7862-9C21BA52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1138-6A1D-794C-889D-9DE7FE6FD996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291618-51E0-E56C-E1B7-F83627475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C7B3A-2F81-F8BE-55AB-955CC9A1D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9B6C-07D4-1948-9BFC-0373EF8B14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575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6E5B9-E9B0-DF8F-9876-DE5B864EE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630C53-C61A-3AC0-6F07-1803528BC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D7C35-BD84-F7D6-C875-5EE7F8660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1138-6A1D-794C-889D-9DE7FE6FD996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3A816-A1E0-9A9C-CC78-F3E6CDBF2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9C762-A665-23B6-255C-723105D6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9B6C-07D4-1948-9BFC-0373EF8B14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5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92EA94-32BA-0EE5-B7D7-2959427753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FD8324-7435-5CB4-3DA6-A63C60593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4E8DB-5788-A01D-2988-D46BD1E24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A1138-6A1D-794C-889D-9DE7FE6FD996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12E10-36AD-646C-32EB-C3801DC54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DDE7F-CABF-8C06-A1BD-41039DA9D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E9B6C-07D4-1948-9BFC-0373EF8B14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916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514DCF-088C-3848-836D-E267CA1AF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B22DC-25EC-14D4-641D-DADC1108A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569A8-78DC-1A2C-9416-917DFC1ACA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A1138-6A1D-794C-889D-9DE7FE6FD996}" type="datetimeFigureOut">
              <a:rPr lang="en-US" smtClean="0"/>
              <a:t>11/12/25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260F7-DCE9-5890-B7A0-0E1477D890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73B8B-2C30-ADF9-C864-0FAE79CC8A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E9B6C-07D4-1948-9BFC-0373EF8B148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363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liem.com/emrad-ped-elbow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byjus.com/biology/arm-bones-diagram/" TargetMode="Externa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hyperlink" Target="https://strengthlevel.com/strength-standards/dumbbell-tricep-extension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xrx.net/Kinesiology/Segments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159476-4831-032A-FD25-C074F62B9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58" y="979863"/>
            <a:ext cx="6883089" cy="53725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82712E-27FA-EF73-F493-5D74EFB478B6}"/>
              </a:ext>
            </a:extLst>
          </p:cNvPr>
          <p:cNvSpPr txBox="1"/>
          <p:nvPr/>
        </p:nvSpPr>
        <p:spPr>
          <a:xfrm>
            <a:off x="396795" y="51955"/>
            <a:ext cx="48936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Limb system</a:t>
            </a:r>
            <a:r>
              <a:rPr lang="en-US" sz="2400" b="1" dirty="0"/>
              <a:t>: </a:t>
            </a:r>
            <a:r>
              <a:rPr lang="en-US" sz="2400" dirty="0">
                <a:solidFill>
                  <a:srgbClr val="FF0000"/>
                </a:solidFill>
              </a:rPr>
              <a:t>forearm/hand</a:t>
            </a:r>
          </a:p>
          <a:p>
            <a:r>
              <a:rPr lang="en-US" sz="2400" b="1" i="1" dirty="0"/>
              <a:t>Joint:</a:t>
            </a:r>
            <a:r>
              <a:rPr lang="en-US" sz="2400" b="1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elbow</a:t>
            </a:r>
          </a:p>
          <a:p>
            <a:endParaRPr lang="en-US" dirty="0"/>
          </a:p>
        </p:txBody>
      </p:sp>
      <p:pic>
        <p:nvPicPr>
          <p:cNvPr id="1026" name="Picture 2" descr="Single arm overhead dumbbell tricep extensions Vector Image">
            <a:extLst>
              <a:ext uri="{FF2B5EF4-FFF2-40B4-BE49-F238E27FC236}">
                <a16:creationId xmlns:a16="http://schemas.microsoft.com/office/drawing/2014/main" id="{54E760A7-8701-3DAF-94AC-EDFCD8D60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4269" y="863028"/>
            <a:ext cx="3400936" cy="3673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11D189-8833-DB9E-73C8-440B22E9F482}"/>
              </a:ext>
            </a:extLst>
          </p:cNvPr>
          <p:cNvSpPr txBox="1"/>
          <p:nvPr/>
        </p:nvSpPr>
        <p:spPr>
          <a:xfrm>
            <a:off x="6010382" y="168242"/>
            <a:ext cx="3493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Overhead extension</a:t>
            </a:r>
          </a:p>
        </p:txBody>
      </p:sp>
    </p:spTree>
    <p:extLst>
      <p:ext uri="{BB962C8B-B14F-4D97-AF65-F5344CB8AC3E}">
        <p14:creationId xmlns:p14="http://schemas.microsoft.com/office/powerpoint/2010/main" val="1855941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6305D3B-4B47-B69C-0FD6-8E72E0BEE604}"/>
              </a:ext>
            </a:extLst>
          </p:cNvPr>
          <p:cNvSpPr txBox="1"/>
          <p:nvPr/>
        </p:nvSpPr>
        <p:spPr>
          <a:xfrm>
            <a:off x="5308911" y="185960"/>
            <a:ext cx="68830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Drag to show torque directions of the </a:t>
            </a:r>
            <a:r>
              <a:rPr lang="en-US" sz="2400" dirty="0">
                <a:solidFill>
                  <a:srgbClr val="00B0F0"/>
                </a:solidFill>
              </a:rPr>
              <a:t>dumbbell</a:t>
            </a:r>
            <a:r>
              <a:rPr lang="en-US" sz="2400" dirty="0">
                <a:solidFill>
                  <a:srgbClr val="C00000"/>
                </a:solidFill>
              </a:rPr>
              <a:t> and the </a:t>
            </a:r>
            <a:r>
              <a:rPr lang="en-US" sz="2400" dirty="0">
                <a:solidFill>
                  <a:srgbClr val="0070C0"/>
                </a:solidFill>
              </a:rPr>
              <a:t>weight of the forearm/hand </a:t>
            </a:r>
            <a:r>
              <a:rPr lang="en-US" sz="2400" dirty="0">
                <a:solidFill>
                  <a:srgbClr val="C00000"/>
                </a:solidFill>
              </a:rPr>
              <a:t>and their lever arms.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6EBA5D3-8039-AB28-CA29-9D28B7E77F45}"/>
              </a:ext>
            </a:extLst>
          </p:cNvPr>
          <p:cNvGrpSpPr/>
          <p:nvPr/>
        </p:nvGrpSpPr>
        <p:grpSpPr>
          <a:xfrm>
            <a:off x="219957" y="1240345"/>
            <a:ext cx="6883089" cy="5372547"/>
            <a:chOff x="464625" y="1031077"/>
            <a:chExt cx="6883089" cy="537254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8159476-4831-032A-FD25-C074F62B9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625" y="1031077"/>
              <a:ext cx="6883089" cy="537254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191725D-C996-2087-D7C1-E627DF647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057341">
              <a:off x="4303951" y="1558195"/>
              <a:ext cx="194448" cy="158250"/>
            </a:xfrm>
            <a:prstGeom prst="rect">
              <a:avLst/>
            </a:prstGeom>
            <a:solidFill>
              <a:schemeClr val="accent4"/>
            </a:solidFill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6AD0C6D-99C8-43D8-9592-838CCFF8240D}"/>
                </a:ext>
              </a:extLst>
            </p:cNvPr>
            <p:cNvCxnSpPr>
              <a:cxnSpLocks/>
            </p:cNvCxnSpPr>
            <p:nvPr/>
          </p:nvCxnSpPr>
          <p:spPr>
            <a:xfrm>
              <a:off x="1590271" y="1847953"/>
              <a:ext cx="7210" cy="1104485"/>
            </a:xfrm>
            <a:prstGeom prst="straightConnector1">
              <a:avLst/>
            </a:prstGeom>
            <a:ln w="76200">
              <a:solidFill>
                <a:srgbClr val="00B0F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18FF55-C8F7-5C50-95FE-042D8C1B5396}"/>
                </a:ext>
              </a:extLst>
            </p:cNvPr>
            <p:cNvSpPr txBox="1"/>
            <p:nvPr/>
          </p:nvSpPr>
          <p:spPr>
            <a:xfrm>
              <a:off x="1055091" y="3059668"/>
              <a:ext cx="1296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dumbbell</a:t>
              </a:r>
              <a:r>
                <a:rPr lang="en-US" baseline="-25000" dirty="0">
                  <a:solidFill>
                    <a:srgbClr val="00B0F0"/>
                  </a:solidFill>
                </a:rPr>
                <a:t>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C49523-4F4B-47D0-B3AB-021164DB8440}"/>
                </a:ext>
              </a:extLst>
            </p:cNvPr>
            <p:cNvSpPr txBox="1"/>
            <p:nvPr/>
          </p:nvSpPr>
          <p:spPr>
            <a:xfrm>
              <a:off x="1285048" y="2859081"/>
              <a:ext cx="9644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10lb</a:t>
              </a:r>
            </a:p>
          </p:txBody>
        </p:sp>
        <p:sp>
          <p:nvSpPr>
            <p:cNvPr id="11" name="Up Arrow 10">
              <a:extLst>
                <a:ext uri="{FF2B5EF4-FFF2-40B4-BE49-F238E27FC236}">
                  <a16:creationId xmlns:a16="http://schemas.microsoft.com/office/drawing/2014/main" id="{1393A876-4273-FFF1-816F-17E8AF8702A4}"/>
                </a:ext>
              </a:extLst>
            </p:cNvPr>
            <p:cNvSpPr/>
            <p:nvPr/>
          </p:nvSpPr>
          <p:spPr>
            <a:xfrm flipH="1" flipV="1">
              <a:off x="2953151" y="1585334"/>
              <a:ext cx="206634" cy="60144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94E13D-E8FD-8B64-9B57-CF37D47CFCFC}"/>
                </a:ext>
              </a:extLst>
            </p:cNvPr>
            <p:cNvSpPr txBox="1"/>
            <p:nvPr/>
          </p:nvSpPr>
          <p:spPr>
            <a:xfrm>
              <a:off x="2723127" y="2186778"/>
              <a:ext cx="7336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W</a:t>
              </a:r>
              <a:r>
                <a:rPr lang="en-US" sz="2000" baseline="-25000" dirty="0">
                  <a:solidFill>
                    <a:srgbClr val="002060"/>
                  </a:solidFill>
                </a:rPr>
                <a:t>arm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5ACC75A-5AEB-021E-481A-853646086F54}"/>
              </a:ext>
            </a:extLst>
          </p:cNvPr>
          <p:cNvGrpSpPr/>
          <p:nvPr/>
        </p:nvGrpSpPr>
        <p:grpSpPr>
          <a:xfrm>
            <a:off x="9183567" y="1694054"/>
            <a:ext cx="964829" cy="1407315"/>
            <a:chOff x="9960105" y="4298318"/>
            <a:chExt cx="964829" cy="1407315"/>
          </a:xfrm>
        </p:grpSpPr>
        <p:sp>
          <p:nvSpPr>
            <p:cNvPr id="21" name="Curved Right Arrow 20">
              <a:extLst>
                <a:ext uri="{FF2B5EF4-FFF2-40B4-BE49-F238E27FC236}">
                  <a16:creationId xmlns:a16="http://schemas.microsoft.com/office/drawing/2014/main" id="{DA619934-5B17-DEFD-9330-B52C2CDD7EDC}"/>
                </a:ext>
              </a:extLst>
            </p:cNvPr>
            <p:cNvSpPr/>
            <p:nvPr/>
          </p:nvSpPr>
          <p:spPr>
            <a:xfrm>
              <a:off x="9960105" y="4298318"/>
              <a:ext cx="490951" cy="1407315"/>
            </a:xfrm>
            <a:prstGeom prst="curvedRight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B6E42E4-BC2A-4607-54F4-67E265007B40}"/>
                </a:ext>
              </a:extLst>
            </p:cNvPr>
            <p:cNvSpPr txBox="1"/>
            <p:nvPr/>
          </p:nvSpPr>
          <p:spPr>
            <a:xfrm>
              <a:off x="10038749" y="4703293"/>
              <a:ext cx="886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flexion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E420511-24BF-9D0C-4950-04169F868103}"/>
              </a:ext>
            </a:extLst>
          </p:cNvPr>
          <p:cNvGrpSpPr/>
          <p:nvPr/>
        </p:nvGrpSpPr>
        <p:grpSpPr>
          <a:xfrm>
            <a:off x="7716034" y="1538685"/>
            <a:ext cx="986153" cy="1497512"/>
            <a:chOff x="8535777" y="4068554"/>
            <a:chExt cx="986153" cy="1497512"/>
          </a:xfrm>
        </p:grpSpPr>
        <p:sp>
          <p:nvSpPr>
            <p:cNvPr id="19" name="Curved Right Arrow 18">
              <a:extLst>
                <a:ext uri="{FF2B5EF4-FFF2-40B4-BE49-F238E27FC236}">
                  <a16:creationId xmlns:a16="http://schemas.microsoft.com/office/drawing/2014/main" id="{5E65791A-A7A3-9B44-DC74-F5B7A6C9CA20}"/>
                </a:ext>
              </a:extLst>
            </p:cNvPr>
            <p:cNvSpPr/>
            <p:nvPr/>
          </p:nvSpPr>
          <p:spPr>
            <a:xfrm>
              <a:off x="8535777" y="4068554"/>
              <a:ext cx="613117" cy="1497512"/>
            </a:xfrm>
            <a:prstGeom prst="curved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89DCBF-FBAD-4753-11E6-6844B32DCAE3}"/>
                </a:ext>
              </a:extLst>
            </p:cNvPr>
            <p:cNvSpPr txBox="1"/>
            <p:nvPr/>
          </p:nvSpPr>
          <p:spPr>
            <a:xfrm>
              <a:off x="8635745" y="4632644"/>
              <a:ext cx="886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flexion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99222D4-C5F7-6BED-EB2F-7E09E067EB76}"/>
              </a:ext>
            </a:extLst>
          </p:cNvPr>
          <p:cNvGrpSpPr/>
          <p:nvPr/>
        </p:nvGrpSpPr>
        <p:grpSpPr>
          <a:xfrm>
            <a:off x="9615659" y="3156311"/>
            <a:ext cx="1291293" cy="1407315"/>
            <a:chOff x="9656347" y="4484625"/>
            <a:chExt cx="1291293" cy="1407315"/>
          </a:xfrm>
        </p:grpSpPr>
        <p:sp>
          <p:nvSpPr>
            <p:cNvPr id="28" name="Curved Right Arrow 27">
              <a:extLst>
                <a:ext uri="{FF2B5EF4-FFF2-40B4-BE49-F238E27FC236}">
                  <a16:creationId xmlns:a16="http://schemas.microsoft.com/office/drawing/2014/main" id="{F9913318-59C3-5759-E9E7-9089A24AB8D8}"/>
                </a:ext>
              </a:extLst>
            </p:cNvPr>
            <p:cNvSpPr/>
            <p:nvPr/>
          </p:nvSpPr>
          <p:spPr>
            <a:xfrm rot="10800000" flipH="1">
              <a:off x="9656347" y="4484625"/>
              <a:ext cx="490951" cy="1407315"/>
            </a:xfrm>
            <a:prstGeom prst="curvedRight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9D98A14-991D-1AE5-A188-FE0D20065A91}"/>
                </a:ext>
              </a:extLst>
            </p:cNvPr>
            <p:cNvSpPr txBox="1"/>
            <p:nvPr/>
          </p:nvSpPr>
          <p:spPr>
            <a:xfrm>
              <a:off x="9775961" y="5003617"/>
              <a:ext cx="11716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extension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9184818-A228-9EC8-160F-9DA02D6E9961}"/>
              </a:ext>
            </a:extLst>
          </p:cNvPr>
          <p:cNvGrpSpPr/>
          <p:nvPr/>
        </p:nvGrpSpPr>
        <p:grpSpPr>
          <a:xfrm>
            <a:off x="7973264" y="3016676"/>
            <a:ext cx="1391993" cy="1497512"/>
            <a:chOff x="8491676" y="4092033"/>
            <a:chExt cx="1391993" cy="1497512"/>
          </a:xfrm>
        </p:grpSpPr>
        <p:sp>
          <p:nvSpPr>
            <p:cNvPr id="31" name="Curved Right Arrow 30">
              <a:extLst>
                <a:ext uri="{FF2B5EF4-FFF2-40B4-BE49-F238E27FC236}">
                  <a16:creationId xmlns:a16="http://schemas.microsoft.com/office/drawing/2014/main" id="{59AC7FC5-5319-2B1B-94E2-FA8A668F018B}"/>
                </a:ext>
              </a:extLst>
            </p:cNvPr>
            <p:cNvSpPr/>
            <p:nvPr/>
          </p:nvSpPr>
          <p:spPr>
            <a:xfrm rot="10983852" flipH="1">
              <a:off x="8491676" y="4092033"/>
              <a:ext cx="490951" cy="1497512"/>
            </a:xfrm>
            <a:prstGeom prst="curvedRightArrow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3CDE251-7EA9-B3A7-1883-0A201840CA80}"/>
                </a:ext>
              </a:extLst>
            </p:cNvPr>
            <p:cNvSpPr txBox="1"/>
            <p:nvPr/>
          </p:nvSpPr>
          <p:spPr>
            <a:xfrm>
              <a:off x="8635745" y="4632644"/>
              <a:ext cx="1247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extension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52118AE-058A-D536-749D-458CC9D81ED8}"/>
              </a:ext>
            </a:extLst>
          </p:cNvPr>
          <p:cNvSpPr txBox="1"/>
          <p:nvPr/>
        </p:nvSpPr>
        <p:spPr>
          <a:xfrm>
            <a:off x="396795" y="51955"/>
            <a:ext cx="48936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Limb system</a:t>
            </a:r>
            <a:r>
              <a:rPr lang="en-US" sz="2400" b="1" dirty="0"/>
              <a:t>: </a:t>
            </a:r>
            <a:r>
              <a:rPr lang="en-US" sz="2400" dirty="0">
                <a:solidFill>
                  <a:srgbClr val="FF0000"/>
                </a:solidFill>
              </a:rPr>
              <a:t>forearm/hand</a:t>
            </a:r>
          </a:p>
          <a:p>
            <a:r>
              <a:rPr lang="en-US" sz="2400" b="1" i="1" dirty="0"/>
              <a:t>Joint:</a:t>
            </a:r>
            <a:r>
              <a:rPr lang="en-US" sz="2400" b="1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elbow</a:t>
            </a:r>
          </a:p>
          <a:p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4C2E374-4634-1F9E-C0D0-68AE0DE9760C}"/>
              </a:ext>
            </a:extLst>
          </p:cNvPr>
          <p:cNvCxnSpPr>
            <a:cxnSpLocks/>
          </p:cNvCxnSpPr>
          <p:nvPr/>
        </p:nvCxnSpPr>
        <p:spPr>
          <a:xfrm>
            <a:off x="7798005" y="5292357"/>
            <a:ext cx="3450351" cy="28577"/>
          </a:xfrm>
          <a:prstGeom prst="line">
            <a:avLst/>
          </a:prstGeom>
          <a:ln w="5080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B256B0F-12CA-0D82-F5B6-D4A6B37461FF}"/>
              </a:ext>
            </a:extLst>
          </p:cNvPr>
          <p:cNvSpPr txBox="1"/>
          <p:nvPr/>
        </p:nvSpPr>
        <p:spPr>
          <a:xfrm>
            <a:off x="8297883" y="5243423"/>
            <a:ext cx="4777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17CFE41-A2F7-E15C-3DAA-742AF3CFD487}"/>
              </a:ext>
            </a:extLst>
          </p:cNvPr>
          <p:cNvCxnSpPr>
            <a:cxnSpLocks/>
          </p:cNvCxnSpPr>
          <p:nvPr/>
        </p:nvCxnSpPr>
        <p:spPr>
          <a:xfrm>
            <a:off x="7798005" y="5896197"/>
            <a:ext cx="3450351" cy="28577"/>
          </a:xfrm>
          <a:prstGeom prst="line">
            <a:avLst/>
          </a:prstGeom>
          <a:ln w="5080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A4E87C3-05F8-8042-7AD6-2E86340F9002}"/>
              </a:ext>
            </a:extLst>
          </p:cNvPr>
          <p:cNvSpPr txBox="1"/>
          <p:nvPr/>
        </p:nvSpPr>
        <p:spPr>
          <a:xfrm>
            <a:off x="8297883" y="5847263"/>
            <a:ext cx="4777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D3DD74-489B-D330-5633-772A04774557}"/>
              </a:ext>
            </a:extLst>
          </p:cNvPr>
          <p:cNvSpPr txBox="1"/>
          <p:nvPr/>
        </p:nvSpPr>
        <p:spPr>
          <a:xfrm>
            <a:off x="11248356" y="1006062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4pts.</a:t>
            </a:r>
          </a:p>
        </p:txBody>
      </p:sp>
    </p:spTree>
    <p:extLst>
      <p:ext uri="{BB962C8B-B14F-4D97-AF65-F5344CB8AC3E}">
        <p14:creationId xmlns:p14="http://schemas.microsoft.com/office/powerpoint/2010/main" val="3439889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A14CA7E6-30AB-0478-B69D-C8037484D4A6}"/>
              </a:ext>
            </a:extLst>
          </p:cNvPr>
          <p:cNvGrpSpPr/>
          <p:nvPr/>
        </p:nvGrpSpPr>
        <p:grpSpPr>
          <a:xfrm>
            <a:off x="250279" y="827002"/>
            <a:ext cx="6883089" cy="5372547"/>
            <a:chOff x="313921" y="827002"/>
            <a:chExt cx="6883089" cy="537254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8159476-4831-032A-FD25-C074F62B9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921" y="827002"/>
              <a:ext cx="6883089" cy="537254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191725D-C996-2087-D7C1-E627DF6474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057341" flipH="1">
              <a:off x="4097970" y="1299670"/>
              <a:ext cx="206560" cy="168107"/>
            </a:xfrm>
            <a:prstGeom prst="rect">
              <a:avLst/>
            </a:prstGeom>
            <a:solidFill>
              <a:schemeClr val="accent4"/>
            </a:solidFill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6AD0C6D-99C8-43D8-9592-838CCFF8240D}"/>
                </a:ext>
              </a:extLst>
            </p:cNvPr>
            <p:cNvCxnSpPr>
              <a:cxnSpLocks/>
            </p:cNvCxnSpPr>
            <p:nvPr/>
          </p:nvCxnSpPr>
          <p:spPr>
            <a:xfrm>
              <a:off x="1436845" y="1575698"/>
              <a:ext cx="7210" cy="1104485"/>
            </a:xfrm>
            <a:prstGeom prst="straightConnector1">
              <a:avLst/>
            </a:prstGeom>
            <a:ln w="76200">
              <a:solidFill>
                <a:srgbClr val="00B0F0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218FF55-C8F7-5C50-95FE-042D8C1B5396}"/>
                </a:ext>
              </a:extLst>
            </p:cNvPr>
            <p:cNvSpPr txBox="1"/>
            <p:nvPr/>
          </p:nvSpPr>
          <p:spPr>
            <a:xfrm>
              <a:off x="835466" y="2971780"/>
              <a:ext cx="12961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dumbbell</a:t>
              </a:r>
              <a:r>
                <a:rPr lang="en-US" baseline="-25000" dirty="0">
                  <a:solidFill>
                    <a:srgbClr val="00B0F0"/>
                  </a:solidFill>
                </a:rPr>
                <a:t>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C49523-4F4B-47D0-B3AB-021164DB8440}"/>
                </a:ext>
              </a:extLst>
            </p:cNvPr>
            <p:cNvSpPr txBox="1"/>
            <p:nvPr/>
          </p:nvSpPr>
          <p:spPr>
            <a:xfrm>
              <a:off x="1060032" y="2711108"/>
              <a:ext cx="9644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10lb</a:t>
              </a:r>
            </a:p>
          </p:txBody>
        </p:sp>
        <p:sp>
          <p:nvSpPr>
            <p:cNvPr id="11" name="Up Arrow 10">
              <a:extLst>
                <a:ext uri="{FF2B5EF4-FFF2-40B4-BE49-F238E27FC236}">
                  <a16:creationId xmlns:a16="http://schemas.microsoft.com/office/drawing/2014/main" id="{1393A876-4273-FFF1-816F-17E8AF8702A4}"/>
                </a:ext>
              </a:extLst>
            </p:cNvPr>
            <p:cNvSpPr/>
            <p:nvPr/>
          </p:nvSpPr>
          <p:spPr>
            <a:xfrm flipH="1" flipV="1">
              <a:off x="2730469" y="1411228"/>
              <a:ext cx="206634" cy="60144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C94E13D-E8FD-8B64-9B57-CF37D47CFCFC}"/>
                </a:ext>
              </a:extLst>
            </p:cNvPr>
            <p:cNvSpPr txBox="1"/>
            <p:nvPr/>
          </p:nvSpPr>
          <p:spPr>
            <a:xfrm>
              <a:off x="2493860" y="2113791"/>
              <a:ext cx="7336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2060"/>
                  </a:solidFill>
                </a:rPr>
                <a:t>W</a:t>
              </a:r>
              <a:r>
                <a:rPr lang="en-US" sz="2000" baseline="-25000" dirty="0">
                  <a:solidFill>
                    <a:srgbClr val="002060"/>
                  </a:solidFill>
                </a:rPr>
                <a:t>arm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6305D3B-4B47-B69C-0FD6-8E72E0BEE604}"/>
              </a:ext>
            </a:extLst>
          </p:cNvPr>
          <p:cNvSpPr txBox="1"/>
          <p:nvPr/>
        </p:nvSpPr>
        <p:spPr>
          <a:xfrm>
            <a:off x="6020460" y="134584"/>
            <a:ext cx="6061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Which muscle provides the counter-torque?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05F14CF-8517-092F-35F5-DA5000A2590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3000"/>
          </a:blip>
          <a:stretch>
            <a:fillRect/>
          </a:stretch>
        </p:blipFill>
        <p:spPr>
          <a:xfrm rot="10800000" flipH="1">
            <a:off x="1334235" y="426745"/>
            <a:ext cx="3815149" cy="37045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1FBB066-589C-FFEB-F213-5E05BC8AF680}"/>
              </a:ext>
            </a:extLst>
          </p:cNvPr>
          <p:cNvSpPr txBox="1"/>
          <p:nvPr/>
        </p:nvSpPr>
        <p:spPr>
          <a:xfrm>
            <a:off x="7606048" y="3839716"/>
            <a:ext cx="1033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</a:t>
            </a:r>
            <a:r>
              <a:rPr lang="en-US" sz="2400" baseline="-25000" dirty="0">
                <a:solidFill>
                  <a:srgbClr val="FF0000"/>
                </a:solidFill>
              </a:rPr>
              <a:t>triceps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7E81D838-C54C-1527-7F0D-3FCF1E3BF099}"/>
              </a:ext>
            </a:extLst>
          </p:cNvPr>
          <p:cNvSpPr/>
          <p:nvPr/>
        </p:nvSpPr>
        <p:spPr>
          <a:xfrm flipV="1">
            <a:off x="7398340" y="3242856"/>
            <a:ext cx="230418" cy="1104298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2735E5-74FE-1757-0CB8-5571530AA928}"/>
              </a:ext>
            </a:extLst>
          </p:cNvPr>
          <p:cNvSpPr txBox="1"/>
          <p:nvPr/>
        </p:nvSpPr>
        <p:spPr>
          <a:xfrm>
            <a:off x="7675847" y="3242856"/>
            <a:ext cx="1033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</a:t>
            </a:r>
            <a:r>
              <a:rPr lang="en-US" sz="2400" baseline="-25000" dirty="0">
                <a:solidFill>
                  <a:srgbClr val="FF0000"/>
                </a:solidFill>
              </a:rPr>
              <a:t>biceps</a:t>
            </a:r>
            <a:endParaRPr lang="en-US" sz="2400" dirty="0">
              <a:solidFill>
                <a:srgbClr val="FF0000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114EF3-9EAD-66A7-0CB0-B23FBF67B8CD}"/>
              </a:ext>
            </a:extLst>
          </p:cNvPr>
          <p:cNvGrpSpPr/>
          <p:nvPr/>
        </p:nvGrpSpPr>
        <p:grpSpPr>
          <a:xfrm>
            <a:off x="8560341" y="3464685"/>
            <a:ext cx="1014428" cy="1407315"/>
            <a:chOff x="8560341" y="3464685"/>
            <a:chExt cx="1014428" cy="1407315"/>
          </a:xfrm>
        </p:grpSpPr>
        <p:sp>
          <p:nvSpPr>
            <p:cNvPr id="18" name="Curved Right Arrow 17">
              <a:extLst>
                <a:ext uri="{FF2B5EF4-FFF2-40B4-BE49-F238E27FC236}">
                  <a16:creationId xmlns:a16="http://schemas.microsoft.com/office/drawing/2014/main" id="{52D7B580-CD75-7784-9AAE-962D985B3008}"/>
                </a:ext>
              </a:extLst>
            </p:cNvPr>
            <p:cNvSpPr/>
            <p:nvPr/>
          </p:nvSpPr>
          <p:spPr>
            <a:xfrm>
              <a:off x="8560341" y="3464685"/>
              <a:ext cx="490951" cy="1407315"/>
            </a:xfrm>
            <a:prstGeom prst="curved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BA79B00-FA1F-9CB7-AC71-B537AF77A9BE}"/>
                </a:ext>
              </a:extLst>
            </p:cNvPr>
            <p:cNvSpPr txBox="1"/>
            <p:nvPr/>
          </p:nvSpPr>
          <p:spPr>
            <a:xfrm>
              <a:off x="8688584" y="3946651"/>
              <a:ext cx="886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flexion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DC97537-2A89-8D09-0163-407784E85F58}"/>
              </a:ext>
            </a:extLst>
          </p:cNvPr>
          <p:cNvGrpSpPr/>
          <p:nvPr/>
        </p:nvGrpSpPr>
        <p:grpSpPr>
          <a:xfrm>
            <a:off x="10286164" y="3253875"/>
            <a:ext cx="1618482" cy="1653688"/>
            <a:chOff x="10286164" y="3253875"/>
            <a:chExt cx="1618482" cy="1653688"/>
          </a:xfrm>
        </p:grpSpPr>
        <p:sp>
          <p:nvSpPr>
            <p:cNvPr id="20" name="Curved Left Arrow 19">
              <a:extLst>
                <a:ext uri="{FF2B5EF4-FFF2-40B4-BE49-F238E27FC236}">
                  <a16:creationId xmlns:a16="http://schemas.microsoft.com/office/drawing/2014/main" id="{7F1A9E34-36FF-3CEE-50FC-731FD42AFCDD}"/>
                </a:ext>
              </a:extLst>
            </p:cNvPr>
            <p:cNvSpPr/>
            <p:nvPr/>
          </p:nvSpPr>
          <p:spPr>
            <a:xfrm rot="10972835">
              <a:off x="10286164" y="3253875"/>
              <a:ext cx="480073" cy="1653688"/>
            </a:xfrm>
            <a:prstGeom prst="curvedLef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77D59AA-D8CD-D30D-9775-329A0DBAB436}"/>
                </a:ext>
              </a:extLst>
            </p:cNvPr>
            <p:cNvSpPr txBox="1"/>
            <p:nvPr/>
          </p:nvSpPr>
          <p:spPr>
            <a:xfrm>
              <a:off x="10366835" y="3946651"/>
              <a:ext cx="15378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extension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F35911C-8066-AF71-1D9C-2A70FE7DA87E}"/>
              </a:ext>
            </a:extLst>
          </p:cNvPr>
          <p:cNvSpPr txBox="1"/>
          <p:nvPr/>
        </p:nvSpPr>
        <p:spPr>
          <a:xfrm>
            <a:off x="7270016" y="2183533"/>
            <a:ext cx="4887647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Drag</a:t>
            </a:r>
            <a:r>
              <a:rPr lang="en-US" sz="2400" dirty="0"/>
              <a:t> to show </a:t>
            </a:r>
            <a:r>
              <a:rPr lang="en-US" sz="2400" dirty="0">
                <a:solidFill>
                  <a:srgbClr val="FF0000"/>
                </a:solidFill>
              </a:rPr>
              <a:t>muscle</a:t>
            </a:r>
            <a:r>
              <a:rPr lang="en-US" sz="2400" dirty="0"/>
              <a:t> force, its torque rotation direction, and lever arm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25DE6F-0FFE-D798-51C4-55BE4A5EC44E}"/>
              </a:ext>
            </a:extLst>
          </p:cNvPr>
          <p:cNvSpPr txBox="1"/>
          <p:nvPr/>
        </p:nvSpPr>
        <p:spPr>
          <a:xfrm>
            <a:off x="7870442" y="994228"/>
            <a:ext cx="1193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Biceps</a:t>
            </a:r>
            <a:endParaRPr lang="en-US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5FD461-3D2B-B42A-A51A-29BDBFADA7AA}"/>
              </a:ext>
            </a:extLst>
          </p:cNvPr>
          <p:cNvSpPr txBox="1"/>
          <p:nvPr/>
        </p:nvSpPr>
        <p:spPr>
          <a:xfrm>
            <a:off x="9546057" y="1099813"/>
            <a:ext cx="11741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Triceps</a:t>
            </a:r>
            <a:endParaRPr lang="en-US" sz="2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4257EB-02FB-1DAF-9C36-84C679EB5351}"/>
              </a:ext>
            </a:extLst>
          </p:cNvPr>
          <p:cNvSpPr/>
          <p:nvPr/>
        </p:nvSpPr>
        <p:spPr>
          <a:xfrm>
            <a:off x="8794937" y="609776"/>
            <a:ext cx="1215456" cy="4715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D2E231B-194E-3715-DA10-8324E6D481D7}"/>
              </a:ext>
            </a:extLst>
          </p:cNvPr>
          <p:cNvCxnSpPr>
            <a:cxnSpLocks/>
          </p:cNvCxnSpPr>
          <p:nvPr/>
        </p:nvCxnSpPr>
        <p:spPr>
          <a:xfrm>
            <a:off x="7640037" y="5236795"/>
            <a:ext cx="798619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B8568D4-7415-798E-C876-D0A8025D2EBB}"/>
              </a:ext>
            </a:extLst>
          </p:cNvPr>
          <p:cNvSpPr txBox="1"/>
          <p:nvPr/>
        </p:nvSpPr>
        <p:spPr>
          <a:xfrm>
            <a:off x="7870442" y="5218549"/>
            <a:ext cx="514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659196-4683-C36E-6A1A-52A678D66366}"/>
              </a:ext>
            </a:extLst>
          </p:cNvPr>
          <p:cNvSpPr txBox="1"/>
          <p:nvPr/>
        </p:nvSpPr>
        <p:spPr>
          <a:xfrm>
            <a:off x="10934888" y="701064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4pts.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98473-1194-1211-02F9-9A15D42A41EC}"/>
              </a:ext>
            </a:extLst>
          </p:cNvPr>
          <p:cNvSpPr txBox="1"/>
          <p:nvPr/>
        </p:nvSpPr>
        <p:spPr>
          <a:xfrm>
            <a:off x="11231122" y="3088967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3pts.</a:t>
            </a:r>
          </a:p>
        </p:txBody>
      </p:sp>
    </p:spTree>
    <p:extLst>
      <p:ext uri="{BB962C8B-B14F-4D97-AF65-F5344CB8AC3E}">
        <p14:creationId xmlns:p14="http://schemas.microsoft.com/office/powerpoint/2010/main" val="297017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A202D8-81FF-D03A-64ED-0A9612F66190}"/>
              </a:ext>
            </a:extLst>
          </p:cNvPr>
          <p:cNvSpPr txBox="1"/>
          <p:nvPr/>
        </p:nvSpPr>
        <p:spPr>
          <a:xfrm>
            <a:off x="843552" y="502791"/>
            <a:ext cx="5598344" cy="107721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3200" dirty="0">
                <a:sym typeface="Symbol" panose="05050102010706020507" pitchFamily="18" charset="2"/>
              </a:rPr>
              <a:t></a:t>
            </a:r>
            <a:r>
              <a:rPr lang="en-US" sz="3200" baseline="-25000" dirty="0">
                <a:sym typeface="Symbol" panose="05050102010706020507" pitchFamily="18" charset="2"/>
              </a:rPr>
              <a:t>forearm/hand </a:t>
            </a:r>
            <a:r>
              <a:rPr lang="en-US" sz="3200" dirty="0">
                <a:sym typeface="Symbol" panose="05050102010706020507" pitchFamily="18" charset="2"/>
              </a:rPr>
              <a:t>= 0</a:t>
            </a:r>
          </a:p>
          <a:p>
            <a:endParaRPr lang="en-US" sz="3200" dirty="0">
              <a:sym typeface="Symbol" panose="05050102010706020507" pitchFamily="18" charset="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7AEFF2-2345-3B81-AB95-0519082FCB9B}"/>
              </a:ext>
            </a:extLst>
          </p:cNvPr>
          <p:cNvSpPr txBox="1"/>
          <p:nvPr/>
        </p:nvSpPr>
        <p:spPr>
          <a:xfrm>
            <a:off x="737170" y="2472561"/>
            <a:ext cx="5941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+ 𝝉</a:t>
            </a:r>
            <a:r>
              <a:rPr lang="en-US" sz="2400" baseline="-25000" dirty="0">
                <a:solidFill>
                  <a:srgbClr val="00B0F0"/>
                </a:solidFill>
              </a:rPr>
              <a:t>dumbbell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/>
              <a:t>-  </a:t>
            </a:r>
            <a:r>
              <a:rPr lang="en-US" sz="2400" dirty="0">
                <a:solidFill>
                  <a:srgbClr val="0070C0"/>
                </a:solidFill>
              </a:rPr>
              <a:t>𝝉</a:t>
            </a:r>
            <a:r>
              <a:rPr lang="en-US" sz="2400" baseline="-25000" dirty="0">
                <a:solidFill>
                  <a:srgbClr val="0070C0"/>
                </a:solidFill>
              </a:rPr>
              <a:t>weight arm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+  </a:t>
            </a:r>
            <a:r>
              <a:rPr lang="en-US" sz="2400" dirty="0">
                <a:solidFill>
                  <a:srgbClr val="FF0000"/>
                </a:solidFill>
              </a:rPr>
              <a:t>𝝉</a:t>
            </a:r>
            <a:r>
              <a:rPr lang="en-US" sz="2400" baseline="-25000" dirty="0">
                <a:solidFill>
                  <a:srgbClr val="FF0000"/>
                </a:solidFill>
              </a:rPr>
              <a:t>muscle </a:t>
            </a:r>
            <a:r>
              <a:rPr lang="en-US" sz="2400" dirty="0"/>
              <a:t>= 0</a:t>
            </a:r>
            <a:r>
              <a:rPr lang="en-US" sz="2400" baseline="-25000" dirty="0">
                <a:solidFill>
                  <a:srgbClr val="FF0000"/>
                </a:solidFill>
              </a:rPr>
              <a:t>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2BC5C-F26E-8EA2-C9AB-D15E233DDFE3}"/>
              </a:ext>
            </a:extLst>
          </p:cNvPr>
          <p:cNvSpPr txBox="1"/>
          <p:nvPr/>
        </p:nvSpPr>
        <p:spPr>
          <a:xfrm>
            <a:off x="595901" y="1263721"/>
            <a:ext cx="4900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Choose which torque balance equation is correct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B29081-E3DE-302C-471C-464F6069FE2E}"/>
              </a:ext>
            </a:extLst>
          </p:cNvPr>
          <p:cNvSpPr/>
          <p:nvPr/>
        </p:nvSpPr>
        <p:spPr>
          <a:xfrm>
            <a:off x="595901" y="1803230"/>
            <a:ext cx="3742362" cy="4715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172745-9BCA-A29C-67E2-D0B9A14B42C9}"/>
              </a:ext>
            </a:extLst>
          </p:cNvPr>
          <p:cNvSpPr txBox="1"/>
          <p:nvPr/>
        </p:nvSpPr>
        <p:spPr>
          <a:xfrm>
            <a:off x="961246" y="4919008"/>
            <a:ext cx="10422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For simplicity...</a:t>
            </a:r>
          </a:p>
          <a:p>
            <a:r>
              <a:rPr lang="en-US" sz="2400" dirty="0">
                <a:solidFill>
                  <a:srgbClr val="0070C0"/>
                </a:solidFill>
              </a:rPr>
              <a:t>In the next part, we are going to look at the two largest torques ...thus neglect the weight of the forearm-hand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3B17AE-AADE-DAC7-601E-631B88B831B8}"/>
              </a:ext>
            </a:extLst>
          </p:cNvPr>
          <p:cNvSpPr txBox="1"/>
          <p:nvPr/>
        </p:nvSpPr>
        <p:spPr>
          <a:xfrm>
            <a:off x="11414001" y="547175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4pts.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C174D-B721-38FB-36A3-F59E7FD0962E}"/>
              </a:ext>
            </a:extLst>
          </p:cNvPr>
          <p:cNvSpPr txBox="1"/>
          <p:nvPr/>
        </p:nvSpPr>
        <p:spPr>
          <a:xfrm>
            <a:off x="5691398" y="70525"/>
            <a:ext cx="6348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extension torque direction to be positive and flexion negative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FEBD7E2-B55C-35CD-AA1D-DA6062F74027}"/>
              </a:ext>
            </a:extLst>
          </p:cNvPr>
          <p:cNvGrpSpPr/>
          <p:nvPr/>
        </p:nvGrpSpPr>
        <p:grpSpPr>
          <a:xfrm>
            <a:off x="9122700" y="428558"/>
            <a:ext cx="1469232" cy="1497512"/>
            <a:chOff x="9122700" y="428558"/>
            <a:chExt cx="1469232" cy="1497512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03D9BEDE-FEA3-C694-C2E4-7973ADE7DB38}"/>
                </a:ext>
              </a:extLst>
            </p:cNvPr>
            <p:cNvGrpSpPr/>
            <p:nvPr/>
          </p:nvGrpSpPr>
          <p:grpSpPr>
            <a:xfrm>
              <a:off x="9122700" y="428558"/>
              <a:ext cx="1469232" cy="1497512"/>
              <a:chOff x="8491676" y="4092033"/>
              <a:chExt cx="1469232" cy="1497512"/>
            </a:xfrm>
          </p:grpSpPr>
          <p:sp>
            <p:nvSpPr>
              <p:cNvPr id="15" name="Curved Right Arrow 14">
                <a:extLst>
                  <a:ext uri="{FF2B5EF4-FFF2-40B4-BE49-F238E27FC236}">
                    <a16:creationId xmlns:a16="http://schemas.microsoft.com/office/drawing/2014/main" id="{760B3CC4-04F2-2E19-05BD-403C28AD9DFF}"/>
                  </a:ext>
                </a:extLst>
              </p:cNvPr>
              <p:cNvSpPr/>
              <p:nvPr/>
            </p:nvSpPr>
            <p:spPr>
              <a:xfrm rot="10983852" flipH="1">
                <a:off x="8491676" y="4092033"/>
                <a:ext cx="490951" cy="1497512"/>
              </a:xfrm>
              <a:prstGeom prst="curvedRight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1C9E42-F0D3-535C-6216-A4BDD121908C}"/>
                  </a:ext>
                </a:extLst>
              </p:cNvPr>
              <p:cNvSpPr txBox="1"/>
              <p:nvPr/>
            </p:nvSpPr>
            <p:spPr>
              <a:xfrm>
                <a:off x="8712984" y="4903821"/>
                <a:ext cx="12479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extension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E75B62A-E66A-BA31-318C-C8EAEB17DF32}"/>
                </a:ext>
              </a:extLst>
            </p:cNvPr>
            <p:cNvSpPr txBox="1"/>
            <p:nvPr/>
          </p:nvSpPr>
          <p:spPr>
            <a:xfrm>
              <a:off x="9447104" y="768301"/>
              <a:ext cx="505471" cy="464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+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7493164-8C15-78B9-D938-FA97B7344EE5}"/>
              </a:ext>
            </a:extLst>
          </p:cNvPr>
          <p:cNvGrpSpPr/>
          <p:nvPr/>
        </p:nvGrpSpPr>
        <p:grpSpPr>
          <a:xfrm>
            <a:off x="7864337" y="547175"/>
            <a:ext cx="986153" cy="1497512"/>
            <a:chOff x="7864337" y="547175"/>
            <a:chExt cx="986153" cy="149751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15759BC-2006-9DC7-00EC-B5329A1D7065}"/>
                </a:ext>
              </a:extLst>
            </p:cNvPr>
            <p:cNvGrpSpPr/>
            <p:nvPr/>
          </p:nvGrpSpPr>
          <p:grpSpPr>
            <a:xfrm>
              <a:off x="7864337" y="547175"/>
              <a:ext cx="986153" cy="1497512"/>
              <a:chOff x="8535777" y="4068554"/>
              <a:chExt cx="986153" cy="1497512"/>
            </a:xfrm>
          </p:grpSpPr>
          <p:sp>
            <p:nvSpPr>
              <p:cNvPr id="12" name="Curved Right Arrow 11">
                <a:extLst>
                  <a:ext uri="{FF2B5EF4-FFF2-40B4-BE49-F238E27FC236}">
                    <a16:creationId xmlns:a16="http://schemas.microsoft.com/office/drawing/2014/main" id="{99F0EFF0-98AF-1C25-946E-ADD58B868037}"/>
                  </a:ext>
                </a:extLst>
              </p:cNvPr>
              <p:cNvSpPr/>
              <p:nvPr/>
            </p:nvSpPr>
            <p:spPr>
              <a:xfrm>
                <a:off x="8535777" y="4068554"/>
                <a:ext cx="613117" cy="1497512"/>
              </a:xfrm>
              <a:prstGeom prst="curvedRightArrow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441F6D-E66B-3B9E-0CB1-49BA91CAD48D}"/>
                  </a:ext>
                </a:extLst>
              </p:cNvPr>
              <p:cNvSpPr txBox="1"/>
              <p:nvPr/>
            </p:nvSpPr>
            <p:spPr>
              <a:xfrm>
                <a:off x="8635745" y="4632644"/>
                <a:ext cx="8861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flexion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D88CE1E-A68A-46B0-6963-85F845D8F919}"/>
                </a:ext>
              </a:extLst>
            </p:cNvPr>
            <p:cNvSpPr txBox="1"/>
            <p:nvPr/>
          </p:nvSpPr>
          <p:spPr>
            <a:xfrm>
              <a:off x="8146818" y="798992"/>
              <a:ext cx="505471" cy="4647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-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EF96CCF-008F-142A-3F1C-A0E3D0B2862D}"/>
              </a:ext>
            </a:extLst>
          </p:cNvPr>
          <p:cNvSpPr txBox="1"/>
          <p:nvPr/>
        </p:nvSpPr>
        <p:spPr>
          <a:xfrm>
            <a:off x="737170" y="2999865"/>
            <a:ext cx="5941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- 𝝉</a:t>
            </a:r>
            <a:r>
              <a:rPr lang="en-US" sz="2400" baseline="-25000" dirty="0">
                <a:solidFill>
                  <a:srgbClr val="00B0F0"/>
                </a:solidFill>
              </a:rPr>
              <a:t>dumbbell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/>
              <a:t>-  </a:t>
            </a:r>
            <a:r>
              <a:rPr lang="en-US" sz="2400" dirty="0">
                <a:solidFill>
                  <a:srgbClr val="0070C0"/>
                </a:solidFill>
              </a:rPr>
              <a:t>𝝉</a:t>
            </a:r>
            <a:r>
              <a:rPr lang="en-US" sz="2400" baseline="-25000" dirty="0">
                <a:solidFill>
                  <a:srgbClr val="0070C0"/>
                </a:solidFill>
              </a:rPr>
              <a:t>weight arm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+  </a:t>
            </a:r>
            <a:r>
              <a:rPr lang="en-US" sz="2400" dirty="0">
                <a:solidFill>
                  <a:srgbClr val="FF0000"/>
                </a:solidFill>
              </a:rPr>
              <a:t>𝝉</a:t>
            </a:r>
            <a:r>
              <a:rPr lang="en-US" sz="2400" baseline="-25000" dirty="0">
                <a:solidFill>
                  <a:srgbClr val="FF0000"/>
                </a:solidFill>
              </a:rPr>
              <a:t>muscle </a:t>
            </a:r>
            <a:r>
              <a:rPr lang="en-US" sz="2400" dirty="0"/>
              <a:t>= 0</a:t>
            </a:r>
            <a:r>
              <a:rPr lang="en-US" sz="2400" baseline="-25000" dirty="0">
                <a:solidFill>
                  <a:srgbClr val="FF0000"/>
                </a:solidFill>
              </a:rPr>
              <a:t>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3F52CA-54EA-D927-B522-952D0E2ED1FE}"/>
              </a:ext>
            </a:extLst>
          </p:cNvPr>
          <p:cNvSpPr txBox="1"/>
          <p:nvPr/>
        </p:nvSpPr>
        <p:spPr>
          <a:xfrm>
            <a:off x="843552" y="3612713"/>
            <a:ext cx="5941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- 𝝉</a:t>
            </a:r>
            <a:r>
              <a:rPr lang="en-US" sz="2400" baseline="-25000" dirty="0">
                <a:solidFill>
                  <a:srgbClr val="00B0F0"/>
                </a:solidFill>
              </a:rPr>
              <a:t>dumbbell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/>
              <a:t>+  </a:t>
            </a:r>
            <a:r>
              <a:rPr lang="en-US" sz="2400" dirty="0">
                <a:solidFill>
                  <a:srgbClr val="0070C0"/>
                </a:solidFill>
              </a:rPr>
              <a:t>𝝉</a:t>
            </a:r>
            <a:r>
              <a:rPr lang="en-US" sz="2400" baseline="-25000" dirty="0">
                <a:solidFill>
                  <a:srgbClr val="0070C0"/>
                </a:solidFill>
              </a:rPr>
              <a:t>weight arm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-  </a:t>
            </a:r>
            <a:r>
              <a:rPr lang="en-US" sz="2400" dirty="0">
                <a:solidFill>
                  <a:srgbClr val="FF0000"/>
                </a:solidFill>
              </a:rPr>
              <a:t>𝝉</a:t>
            </a:r>
            <a:r>
              <a:rPr lang="en-US" sz="2400" baseline="-25000" dirty="0">
                <a:solidFill>
                  <a:srgbClr val="FF0000"/>
                </a:solidFill>
              </a:rPr>
              <a:t>muscle </a:t>
            </a:r>
            <a:r>
              <a:rPr lang="en-US" sz="2400" dirty="0"/>
              <a:t>= 0</a:t>
            </a:r>
            <a:r>
              <a:rPr lang="en-US" sz="2400" baseline="-25000" dirty="0">
                <a:solidFill>
                  <a:srgbClr val="FF0000"/>
                </a:solidFill>
              </a:rPr>
              <a:t> 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FD492B-27FF-1DFE-AC33-058479F5E8E2}"/>
              </a:ext>
            </a:extLst>
          </p:cNvPr>
          <p:cNvSpPr txBox="1"/>
          <p:nvPr/>
        </p:nvSpPr>
        <p:spPr>
          <a:xfrm>
            <a:off x="737170" y="4225561"/>
            <a:ext cx="59419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+ 𝝉</a:t>
            </a:r>
            <a:r>
              <a:rPr lang="en-US" sz="2400" baseline="-25000" dirty="0">
                <a:solidFill>
                  <a:srgbClr val="00B0F0"/>
                </a:solidFill>
              </a:rPr>
              <a:t>dumbbell</a:t>
            </a:r>
            <a:r>
              <a:rPr lang="en-US" sz="2400" dirty="0">
                <a:solidFill>
                  <a:srgbClr val="00B0F0"/>
                </a:solidFill>
              </a:rPr>
              <a:t> </a:t>
            </a:r>
            <a:r>
              <a:rPr lang="en-US" sz="2400" dirty="0"/>
              <a:t>+  </a:t>
            </a:r>
            <a:r>
              <a:rPr lang="en-US" sz="2400" dirty="0">
                <a:solidFill>
                  <a:srgbClr val="0070C0"/>
                </a:solidFill>
              </a:rPr>
              <a:t>𝝉</a:t>
            </a:r>
            <a:r>
              <a:rPr lang="en-US" sz="2400" baseline="-25000" dirty="0">
                <a:solidFill>
                  <a:srgbClr val="0070C0"/>
                </a:solidFill>
              </a:rPr>
              <a:t>weight arm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+  </a:t>
            </a:r>
            <a:r>
              <a:rPr lang="en-US" sz="2400" dirty="0">
                <a:solidFill>
                  <a:srgbClr val="FF0000"/>
                </a:solidFill>
              </a:rPr>
              <a:t>𝝉</a:t>
            </a:r>
            <a:r>
              <a:rPr lang="en-US" sz="2400" baseline="-25000" dirty="0">
                <a:solidFill>
                  <a:srgbClr val="FF0000"/>
                </a:solidFill>
              </a:rPr>
              <a:t>muscle </a:t>
            </a:r>
            <a:r>
              <a:rPr lang="en-US" sz="2400" dirty="0"/>
              <a:t>= 0</a:t>
            </a:r>
            <a:r>
              <a:rPr lang="en-US" sz="2400" baseline="-25000" dirty="0">
                <a:solidFill>
                  <a:srgbClr val="FF0000"/>
                </a:solidFill>
              </a:rPr>
              <a:t> 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395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63C119-9778-4591-AA47-9C5D8BC61ECF}"/>
              </a:ext>
            </a:extLst>
          </p:cNvPr>
          <p:cNvSpPr txBox="1"/>
          <p:nvPr/>
        </p:nvSpPr>
        <p:spPr>
          <a:xfrm>
            <a:off x="89912" y="270128"/>
            <a:ext cx="31746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Torque Equilibrium condition</a:t>
            </a:r>
          </a:p>
          <a:p>
            <a:r>
              <a:rPr lang="en-US" sz="2400" dirty="0">
                <a:sym typeface="Symbol" panose="05050102010706020507" pitchFamily="18" charset="2"/>
              </a:rPr>
              <a:t>                = 0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7ED25C-E56A-4579-A4A3-D94F77E3C475}"/>
              </a:ext>
            </a:extLst>
          </p:cNvPr>
          <p:cNvSpPr txBox="1"/>
          <p:nvPr/>
        </p:nvSpPr>
        <p:spPr>
          <a:xfrm>
            <a:off x="245084" y="4466299"/>
            <a:ext cx="89297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Show </a:t>
            </a:r>
            <a:r>
              <a:rPr lang="en-US" b="1" i="1" dirty="0"/>
              <a:t>algebraically</a:t>
            </a:r>
            <a:r>
              <a:rPr lang="en-US" b="1" dirty="0">
                <a:solidFill>
                  <a:srgbClr val="C00000"/>
                </a:solidFill>
              </a:rPr>
              <a:t> how muscle force relates to ratio of lever arms in simple cases like this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BED6E2-5D1F-48F4-8725-26A0D4FEAA1A}"/>
              </a:ext>
            </a:extLst>
          </p:cNvPr>
          <p:cNvSpPr txBox="1"/>
          <p:nvPr/>
        </p:nvSpPr>
        <p:spPr>
          <a:xfrm>
            <a:off x="11527545" y="1149178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2pts.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935598-64BA-48CB-B01B-B66156E44D4A}"/>
              </a:ext>
            </a:extLst>
          </p:cNvPr>
          <p:cNvSpPr txBox="1"/>
          <p:nvPr/>
        </p:nvSpPr>
        <p:spPr>
          <a:xfrm>
            <a:off x="11360718" y="6081501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1pt.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9B7C4D-8140-1918-6249-4CD8DD5FDCC6}"/>
              </a:ext>
            </a:extLst>
          </p:cNvPr>
          <p:cNvSpPr txBox="1"/>
          <p:nvPr/>
        </p:nvSpPr>
        <p:spPr>
          <a:xfrm>
            <a:off x="825953" y="1456955"/>
            <a:ext cx="1272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0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muscle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421947-939D-D11F-47DC-D21E5673B5E8}"/>
              </a:ext>
            </a:extLst>
          </p:cNvPr>
          <p:cNvSpPr txBox="1"/>
          <p:nvPr/>
        </p:nvSpPr>
        <p:spPr>
          <a:xfrm>
            <a:off x="2114671" y="1501733"/>
            <a:ext cx="10338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0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dumbbell</a:t>
            </a:r>
            <a:r>
              <a:rPr lang="en-US" sz="20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DC3D59-288D-C3A0-DF2C-26C6CEB074AC}"/>
              </a:ext>
            </a:extLst>
          </p:cNvPr>
          <p:cNvSpPr txBox="1"/>
          <p:nvPr/>
        </p:nvSpPr>
        <p:spPr>
          <a:xfrm>
            <a:off x="1301212" y="5406703"/>
            <a:ext cx="11753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24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muscle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33F603-D20C-9C79-A96E-BF0F150B366B}"/>
              </a:ext>
            </a:extLst>
          </p:cNvPr>
          <p:cNvSpPr txBox="1"/>
          <p:nvPr/>
        </p:nvSpPr>
        <p:spPr>
          <a:xfrm>
            <a:off x="3774475" y="2146490"/>
            <a:ext cx="97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</a:rPr>
              <a:t>F</a:t>
            </a:r>
            <a:r>
              <a:rPr lang="en-US" sz="2000" baseline="-25000" dirty="0">
                <a:solidFill>
                  <a:srgbClr val="00B0F0"/>
                </a:solidFill>
              </a:rPr>
              <a:t>dumbbell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FDA2E4-CCBF-62CE-2591-3DBB136D60AD}"/>
              </a:ext>
            </a:extLst>
          </p:cNvPr>
          <p:cNvSpPr txBox="1"/>
          <p:nvPr/>
        </p:nvSpPr>
        <p:spPr>
          <a:xfrm>
            <a:off x="3882865" y="2719120"/>
            <a:ext cx="1406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0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lang="en-US" sz="20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dumbbell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54820B-25F4-8E95-C97A-5BB58753A02E}"/>
              </a:ext>
            </a:extLst>
          </p:cNvPr>
          <p:cNvSpPr txBox="1"/>
          <p:nvPr/>
        </p:nvSpPr>
        <p:spPr>
          <a:xfrm>
            <a:off x="2476537" y="2728585"/>
            <a:ext cx="11653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0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lang="en-US" sz="20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muscle </a:t>
            </a:r>
            <a:endParaRPr lang="en-US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BDA894-C25E-48BF-179B-F85F41065CFF}"/>
              </a:ext>
            </a:extLst>
          </p:cNvPr>
          <p:cNvSpPr txBox="1"/>
          <p:nvPr/>
        </p:nvSpPr>
        <p:spPr>
          <a:xfrm>
            <a:off x="2274043" y="5404970"/>
            <a:ext cx="620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ym typeface="Symbol" panose="05050102010706020507" pitchFamily="18" charset="2"/>
              </a:rPr>
              <a:t>=</a:t>
            </a:r>
            <a:endParaRPr lang="en-US" sz="24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976FA1-CE02-C9CB-D332-6DFF8BC96445}"/>
              </a:ext>
            </a:extLst>
          </p:cNvPr>
          <p:cNvSpPr txBox="1"/>
          <p:nvPr/>
        </p:nvSpPr>
        <p:spPr>
          <a:xfrm>
            <a:off x="1677219" y="1509766"/>
            <a:ext cx="6200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ym typeface="Symbol" panose="05050102010706020507" pitchFamily="18" charset="2"/>
              </a:rPr>
              <a:t>=</a:t>
            </a:r>
            <a:endParaRPr lang="en-US" sz="24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A7EE3F-C678-9711-DD15-4474761204FF}"/>
              </a:ext>
            </a:extLst>
          </p:cNvPr>
          <p:cNvSpPr txBox="1"/>
          <p:nvPr/>
        </p:nvSpPr>
        <p:spPr>
          <a:xfrm>
            <a:off x="109729" y="1092217"/>
            <a:ext cx="4328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Rearrange symbols below to show algebra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2D441C-3058-DF77-0F76-C4C1A2525F62}"/>
              </a:ext>
            </a:extLst>
          </p:cNvPr>
          <p:cNvSpPr txBox="1"/>
          <p:nvPr/>
        </p:nvSpPr>
        <p:spPr>
          <a:xfrm>
            <a:off x="7606067" y="5481336"/>
            <a:ext cx="12721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0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muscle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4B711B-C3D8-092E-335E-9EA546CB1491}"/>
              </a:ext>
            </a:extLst>
          </p:cNvPr>
          <p:cNvSpPr txBox="1"/>
          <p:nvPr/>
        </p:nvSpPr>
        <p:spPr>
          <a:xfrm>
            <a:off x="7028165" y="5095358"/>
            <a:ext cx="10338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0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dumbbell</a:t>
            </a:r>
            <a:r>
              <a:rPr lang="en-US" sz="20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752EA-E5CF-1FF9-AB02-5E1D5F8EF0BE}"/>
              </a:ext>
            </a:extLst>
          </p:cNvPr>
          <p:cNvSpPr txBox="1"/>
          <p:nvPr/>
        </p:nvSpPr>
        <p:spPr>
          <a:xfrm>
            <a:off x="6569893" y="5597488"/>
            <a:ext cx="97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B0F0"/>
                </a:solidFill>
              </a:rPr>
              <a:t>F</a:t>
            </a:r>
            <a:r>
              <a:rPr lang="en-US" sz="2000" baseline="-25000" dirty="0">
                <a:solidFill>
                  <a:srgbClr val="00B0F0"/>
                </a:solidFill>
              </a:rPr>
              <a:t>dumbbell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D052AC-3453-9B97-A404-8F472F793A01}"/>
              </a:ext>
            </a:extLst>
          </p:cNvPr>
          <p:cNvSpPr txBox="1"/>
          <p:nvPr/>
        </p:nvSpPr>
        <p:spPr>
          <a:xfrm>
            <a:off x="6456999" y="5980892"/>
            <a:ext cx="1406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0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lang="en-US" sz="20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dumbbell</a:t>
            </a:r>
            <a:endParaRPr lang="en-US" sz="2000" dirty="0">
              <a:solidFill>
                <a:srgbClr val="00B0F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78C3C6-109C-2F84-3D58-FB4966CB7255}"/>
              </a:ext>
            </a:extLst>
          </p:cNvPr>
          <p:cNvSpPr txBox="1"/>
          <p:nvPr/>
        </p:nvSpPr>
        <p:spPr>
          <a:xfrm>
            <a:off x="7773768" y="5881446"/>
            <a:ext cx="11653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0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lang="en-US" sz="20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muscle 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B961A4-F942-47BC-0A03-45B7B5F82D17}"/>
                  </a:ext>
                </a:extLst>
              </p:cNvPr>
              <p:cNvSpPr txBox="1"/>
              <p:nvPr/>
            </p:nvSpPr>
            <p:spPr>
              <a:xfrm>
                <a:off x="9031141" y="5288814"/>
                <a:ext cx="1029984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𝒎𝒖𝒔𝒄𝒍𝒆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𝒅𝒖𝒎𝒃𝒃𝒆𝒍𝒍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B961A4-F942-47BC-0A03-45B7B5F82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141" y="5288814"/>
                <a:ext cx="1029984" cy="617348"/>
              </a:xfrm>
              <a:prstGeom prst="rect">
                <a:avLst/>
              </a:prstGeom>
              <a:blipFill>
                <a:blip r:embed="rId2"/>
                <a:stretch>
                  <a:fillRect r="-3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2F816A-E700-6E36-5EB8-882ADD533FB3}"/>
                  </a:ext>
                </a:extLst>
              </p:cNvPr>
              <p:cNvSpPr txBox="1"/>
              <p:nvPr/>
            </p:nvSpPr>
            <p:spPr>
              <a:xfrm>
                <a:off x="10684361" y="5380778"/>
                <a:ext cx="1272122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1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𝒅𝒖𝒎𝒃𝒃𝒆𝒍𝒍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𝒓</m:t>
                              </m:r>
                            </m:e>
                            <m:sub>
                              <m:r>
                                <a:rPr lang="en-US" sz="1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𝒎𝒖𝒔𝒄𝒍𝒆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2F816A-E700-6E36-5EB8-882ADD533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4361" y="5380778"/>
                <a:ext cx="1272122" cy="6173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2BFFA3DE-43A9-241E-B1AA-58EE58D542C0}"/>
              </a:ext>
            </a:extLst>
          </p:cNvPr>
          <p:cNvSpPr txBox="1"/>
          <p:nvPr/>
        </p:nvSpPr>
        <p:spPr>
          <a:xfrm>
            <a:off x="2502353" y="2209346"/>
            <a:ext cx="9752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F</a:t>
            </a:r>
            <a:r>
              <a:rPr lang="en-US" sz="2000" baseline="-25000" dirty="0">
                <a:solidFill>
                  <a:srgbClr val="FF0000"/>
                </a:solidFill>
              </a:rPr>
              <a:t>muscle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3100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p Arrow 3">
            <a:extLst>
              <a:ext uri="{FF2B5EF4-FFF2-40B4-BE49-F238E27FC236}">
                <a16:creationId xmlns:a16="http://schemas.microsoft.com/office/drawing/2014/main" id="{DB43EE94-D133-56B9-1574-B59B4E03D02A}"/>
              </a:ext>
            </a:extLst>
          </p:cNvPr>
          <p:cNvSpPr/>
          <p:nvPr/>
        </p:nvSpPr>
        <p:spPr>
          <a:xfrm flipV="1">
            <a:off x="8410900" y="247056"/>
            <a:ext cx="230418" cy="1104298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B9DA0BB-B579-1470-E109-1E672FBAF79F}"/>
              </a:ext>
            </a:extLst>
          </p:cNvPr>
          <p:cNvGrpSpPr/>
          <p:nvPr/>
        </p:nvGrpSpPr>
        <p:grpSpPr>
          <a:xfrm>
            <a:off x="48099" y="-233471"/>
            <a:ext cx="8291222" cy="6940401"/>
            <a:chOff x="48099" y="-233471"/>
            <a:chExt cx="8291222" cy="694040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D441ADD-46F1-1AAA-0913-A0A98146EC8C}"/>
                </a:ext>
              </a:extLst>
            </p:cNvPr>
            <p:cNvGrpSpPr/>
            <p:nvPr/>
          </p:nvGrpSpPr>
          <p:grpSpPr>
            <a:xfrm>
              <a:off x="48099" y="-233471"/>
              <a:ext cx="8291222" cy="6940401"/>
              <a:chOff x="101664" y="-216312"/>
              <a:chExt cx="8291222" cy="6940401"/>
            </a:xfrm>
          </p:grpSpPr>
          <p:pic>
            <p:nvPicPr>
              <p:cNvPr id="2" name="Picture 1">
                <a:extLst>
                  <a:ext uri="{FF2B5EF4-FFF2-40B4-BE49-F238E27FC236}">
                    <a16:creationId xmlns:a16="http://schemas.microsoft.com/office/drawing/2014/main" id="{A2ED1823-3D98-1604-6E1C-436215F979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01664" y="252434"/>
                <a:ext cx="8291222" cy="6471655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C2C4AB8-C965-3E6C-AE62-62AD959508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43000"/>
              </a:blip>
              <a:stretch>
                <a:fillRect/>
              </a:stretch>
            </p:blipFill>
            <p:spPr>
              <a:xfrm rot="10800000" flipH="1">
                <a:off x="2043801" y="-216312"/>
                <a:ext cx="3815149" cy="3704572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F0E66F4-A6A0-57D4-BBBB-12E877176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057341" flipH="1">
              <a:off x="4907019" y="715153"/>
              <a:ext cx="206560" cy="168107"/>
            </a:xfrm>
            <a:prstGeom prst="rect">
              <a:avLst/>
            </a:prstGeom>
            <a:solidFill>
              <a:schemeClr val="accent4"/>
            </a:solidFill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2D5443D-3098-8ACC-C121-D5821B776DC2}"/>
              </a:ext>
            </a:extLst>
          </p:cNvPr>
          <p:cNvSpPr txBox="1"/>
          <p:nvPr/>
        </p:nvSpPr>
        <p:spPr>
          <a:xfrm>
            <a:off x="8552332" y="414857"/>
            <a:ext cx="606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29E30F4-F259-5E23-EC02-EC0B57A6ECAD}"/>
              </a:ext>
            </a:extLst>
          </p:cNvPr>
          <p:cNvCxnSpPr>
            <a:cxnSpLocks/>
          </p:cNvCxnSpPr>
          <p:nvPr/>
        </p:nvCxnSpPr>
        <p:spPr>
          <a:xfrm>
            <a:off x="1452221" y="1041599"/>
            <a:ext cx="0" cy="596478"/>
          </a:xfrm>
          <a:prstGeom prst="straightConnector1">
            <a:avLst/>
          </a:prstGeom>
          <a:ln w="7620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63A8F38-00BD-2DB9-348D-9FACE6577B15}"/>
              </a:ext>
            </a:extLst>
          </p:cNvPr>
          <p:cNvSpPr txBox="1"/>
          <p:nvPr/>
        </p:nvSpPr>
        <p:spPr>
          <a:xfrm>
            <a:off x="820017" y="1993430"/>
            <a:ext cx="1296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dumbbell</a:t>
            </a:r>
            <a:r>
              <a:rPr lang="en-US" baseline="-25000" dirty="0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16C96B-E3A5-53F9-FCDC-DDB8EDE83255}"/>
              </a:ext>
            </a:extLst>
          </p:cNvPr>
          <p:cNvSpPr txBox="1"/>
          <p:nvPr/>
        </p:nvSpPr>
        <p:spPr>
          <a:xfrm>
            <a:off x="865452" y="2256558"/>
            <a:ext cx="96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10lb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3463DD-CCD0-69F2-3139-D662E007FD1A}"/>
              </a:ext>
            </a:extLst>
          </p:cNvPr>
          <p:cNvSpPr txBox="1"/>
          <p:nvPr/>
        </p:nvSpPr>
        <p:spPr>
          <a:xfrm>
            <a:off x="9252832" y="61772"/>
            <a:ext cx="27540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Redraw muscle force and lever arms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6B5BF49-DF16-8E34-94DC-A14BEB0964EC}"/>
              </a:ext>
            </a:extLst>
          </p:cNvPr>
          <p:cNvCxnSpPr>
            <a:cxnSpLocks/>
          </p:cNvCxnSpPr>
          <p:nvPr/>
        </p:nvCxnSpPr>
        <p:spPr>
          <a:xfrm>
            <a:off x="8814125" y="972915"/>
            <a:ext cx="3450351" cy="28577"/>
          </a:xfrm>
          <a:prstGeom prst="line">
            <a:avLst/>
          </a:prstGeom>
          <a:ln w="5080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A939D3-620B-1A35-16EC-322290C6D9EA}"/>
              </a:ext>
            </a:extLst>
          </p:cNvPr>
          <p:cNvCxnSpPr>
            <a:cxnSpLocks/>
          </p:cNvCxnSpPr>
          <p:nvPr/>
        </p:nvCxnSpPr>
        <p:spPr>
          <a:xfrm>
            <a:off x="10073084" y="1193588"/>
            <a:ext cx="340756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992ADF9-5BBB-9E16-BF42-5F61B9DAA314}"/>
              </a:ext>
            </a:extLst>
          </p:cNvPr>
          <p:cNvSpPr txBox="1"/>
          <p:nvPr/>
        </p:nvSpPr>
        <p:spPr>
          <a:xfrm>
            <a:off x="10156655" y="1166882"/>
            <a:ext cx="5143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4E25D1-5C9B-3CE9-1BEE-E4D3855A9B27}"/>
              </a:ext>
            </a:extLst>
          </p:cNvPr>
          <p:cNvSpPr txBox="1"/>
          <p:nvPr/>
        </p:nvSpPr>
        <p:spPr>
          <a:xfrm>
            <a:off x="8984503" y="916595"/>
            <a:ext cx="4777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1EFF5C-D294-96F7-7970-650801A5B350}"/>
              </a:ext>
            </a:extLst>
          </p:cNvPr>
          <p:cNvSpPr txBox="1"/>
          <p:nvPr/>
        </p:nvSpPr>
        <p:spPr>
          <a:xfrm>
            <a:off x="8653711" y="3245493"/>
            <a:ext cx="2110342" cy="58405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7FAE2E-F78F-ADBA-A551-48479B2A1981}"/>
              </a:ext>
            </a:extLst>
          </p:cNvPr>
          <p:cNvSpPr txBox="1"/>
          <p:nvPr/>
        </p:nvSpPr>
        <p:spPr>
          <a:xfrm>
            <a:off x="5842195" y="5446553"/>
            <a:ext cx="637376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Approximate muscle force, if </a:t>
            </a:r>
            <a:r>
              <a:rPr lang="en-US" sz="2400" dirty="0">
                <a:solidFill>
                  <a:srgbClr val="00B0F0"/>
                </a:solidFill>
              </a:rPr>
              <a:t>dumbbell </a:t>
            </a:r>
            <a:r>
              <a:rPr lang="en-US" sz="2400" dirty="0">
                <a:solidFill>
                  <a:srgbClr val="C00000"/>
                </a:solidFill>
              </a:rPr>
              <a:t>is</a:t>
            </a:r>
            <a:r>
              <a:rPr lang="en-US" sz="2400" dirty="0">
                <a:solidFill>
                  <a:srgbClr val="00B0F0"/>
                </a:solidFill>
              </a:rPr>
              <a:t> 10lbs.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417EB9-5E2F-1EB8-2415-6E54166AFE7F}"/>
              </a:ext>
            </a:extLst>
          </p:cNvPr>
          <p:cNvSpPr txBox="1"/>
          <p:nvPr/>
        </p:nvSpPr>
        <p:spPr>
          <a:xfrm>
            <a:off x="362307" y="5754518"/>
            <a:ext cx="495080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Resize </a:t>
            </a:r>
            <a:r>
              <a:rPr lang="en-US" sz="2400" b="1" dirty="0">
                <a:solidFill>
                  <a:srgbClr val="FF0000"/>
                </a:solidFill>
              </a:rPr>
              <a:t>muscle force vector </a:t>
            </a:r>
            <a:r>
              <a:rPr lang="en-US" sz="2400" dirty="0">
                <a:solidFill>
                  <a:srgbClr val="C00000"/>
                </a:solidFill>
              </a:rPr>
              <a:t>to display relative size to dumbbell vector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66690E2-1B4A-BFAB-2584-D4CC01883B9F}"/>
              </a:ext>
            </a:extLst>
          </p:cNvPr>
          <p:cNvSpPr txBox="1"/>
          <p:nvPr/>
        </p:nvSpPr>
        <p:spPr>
          <a:xfrm>
            <a:off x="8745803" y="6087800"/>
            <a:ext cx="201825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</a:t>
            </a:r>
            <a:r>
              <a:rPr lang="en-US" sz="2400" baseline="-250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=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lbs.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D566AC-D550-5628-6440-192301F0BB05}"/>
              </a:ext>
            </a:extLst>
          </p:cNvPr>
          <p:cNvSpPr txBox="1"/>
          <p:nvPr/>
        </p:nvSpPr>
        <p:spPr>
          <a:xfrm>
            <a:off x="6349806" y="2459906"/>
            <a:ext cx="5842193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Same question asked differently: How much larger is the dumbbell lever arm than the muscle lever arm?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1D80DC-6D97-94F9-410F-DC537B0DA146}"/>
              </a:ext>
            </a:extLst>
          </p:cNvPr>
          <p:cNvSpPr txBox="1"/>
          <p:nvPr/>
        </p:nvSpPr>
        <p:spPr>
          <a:xfrm>
            <a:off x="6326567" y="3978279"/>
            <a:ext cx="5664503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How much larger must the muscle force be than the dumbbell </a:t>
            </a:r>
            <a:r>
              <a:rPr lang="en-US" dirty="0"/>
              <a:t>(to balance out the torque of the dumbbell?)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B35EF14-609B-359F-21A7-63A7FC34F19A}"/>
                  </a:ext>
                </a:extLst>
              </p:cNvPr>
              <p:cNvSpPr txBox="1"/>
              <p:nvPr/>
            </p:nvSpPr>
            <p:spPr>
              <a:xfrm>
                <a:off x="7315200" y="1532499"/>
                <a:ext cx="2212674" cy="71115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𝒅𝒖𝒎𝒃𝒃𝒆𝒍𝒍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𝒎𝒖𝒔𝒄𝒍𝒆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B35EF14-609B-359F-21A7-63A7FC34F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1532499"/>
                <a:ext cx="2212674" cy="711157"/>
              </a:xfrm>
              <a:prstGeom prst="rect">
                <a:avLst/>
              </a:prstGeom>
              <a:blipFill>
                <a:blip r:embed="rId5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CD6C0E6-B7FA-9427-30EB-1B1626120B95}"/>
              </a:ext>
            </a:extLst>
          </p:cNvPr>
          <p:cNvSpPr txBox="1"/>
          <p:nvPr/>
        </p:nvSpPr>
        <p:spPr>
          <a:xfrm>
            <a:off x="11565761" y="1436901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2pts.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9CE06E-1784-26B6-EB09-EB0FD8DC876A}"/>
              </a:ext>
            </a:extLst>
          </p:cNvPr>
          <p:cNvSpPr txBox="1"/>
          <p:nvPr/>
        </p:nvSpPr>
        <p:spPr>
          <a:xfrm>
            <a:off x="11609782" y="2928953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2pts.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68D975-F626-4911-6640-0144B7E6C1A2}"/>
              </a:ext>
            </a:extLst>
          </p:cNvPr>
          <p:cNvSpPr txBox="1"/>
          <p:nvPr/>
        </p:nvSpPr>
        <p:spPr>
          <a:xfrm>
            <a:off x="11693798" y="4900863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2pts.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740652-EBD4-8E39-B57D-C44C512562A1}"/>
              </a:ext>
            </a:extLst>
          </p:cNvPr>
          <p:cNvSpPr txBox="1"/>
          <p:nvPr/>
        </p:nvSpPr>
        <p:spPr>
          <a:xfrm>
            <a:off x="3265791" y="5275678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2pts.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AD360A-A599-BFA9-23BE-CD0BDB2B8706}"/>
              </a:ext>
            </a:extLst>
          </p:cNvPr>
          <p:cNvSpPr txBox="1"/>
          <p:nvPr/>
        </p:nvSpPr>
        <p:spPr>
          <a:xfrm>
            <a:off x="4697180" y="6247841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2pts.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55928F7-2F42-E30A-1FE1-B0D7BF31099A}"/>
              </a:ext>
            </a:extLst>
          </p:cNvPr>
          <p:cNvSpPr txBox="1"/>
          <p:nvPr/>
        </p:nvSpPr>
        <p:spPr>
          <a:xfrm>
            <a:off x="6035098" y="1638077"/>
            <a:ext cx="162804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Estimate ratio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7AE849-601A-6672-975E-18973EB2257B}"/>
              </a:ext>
            </a:extLst>
          </p:cNvPr>
          <p:cNvSpPr txBox="1"/>
          <p:nvPr/>
        </p:nvSpPr>
        <p:spPr>
          <a:xfrm>
            <a:off x="8653711" y="4762721"/>
            <a:ext cx="2110342" cy="58405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406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5EE6EC-8B67-89DB-4965-325BEA860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84" y="1875178"/>
            <a:ext cx="5340350" cy="4046305"/>
          </a:xfrm>
          <a:prstGeom prst="rect">
            <a:avLst/>
          </a:prstGeom>
        </p:spPr>
      </p:pic>
      <p:sp>
        <p:nvSpPr>
          <p:cNvPr id="3" name="Down Arrow 6">
            <a:extLst>
              <a:ext uri="{FF2B5EF4-FFF2-40B4-BE49-F238E27FC236}">
                <a16:creationId xmlns:a16="http://schemas.microsoft.com/office/drawing/2014/main" id="{E1288DF2-7964-5953-A266-E0958A01652D}"/>
              </a:ext>
            </a:extLst>
          </p:cNvPr>
          <p:cNvSpPr/>
          <p:nvPr/>
        </p:nvSpPr>
        <p:spPr>
          <a:xfrm rot="10800000">
            <a:off x="5038758" y="1302229"/>
            <a:ext cx="265709" cy="1810303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own Arrow 6">
            <a:extLst>
              <a:ext uri="{FF2B5EF4-FFF2-40B4-BE49-F238E27FC236}">
                <a16:creationId xmlns:a16="http://schemas.microsoft.com/office/drawing/2014/main" id="{57B1ED4B-6859-868B-2016-0503B34C9903}"/>
              </a:ext>
            </a:extLst>
          </p:cNvPr>
          <p:cNvSpPr/>
          <p:nvPr/>
        </p:nvSpPr>
        <p:spPr>
          <a:xfrm>
            <a:off x="5038758" y="3146290"/>
            <a:ext cx="288226" cy="1791553"/>
          </a:xfrm>
          <a:prstGeom prst="downArrow">
            <a:avLst/>
          </a:prstGeom>
          <a:pattFill prst="smGrid">
            <a:fgClr>
              <a:schemeClr val="accent4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BA8CDE-4E75-444D-71D1-3DC12832DA0D}"/>
              </a:ext>
            </a:extLst>
          </p:cNvPr>
          <p:cNvSpPr txBox="1"/>
          <p:nvPr/>
        </p:nvSpPr>
        <p:spPr>
          <a:xfrm>
            <a:off x="970787" y="1976548"/>
            <a:ext cx="4617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Joint force (humerus on radius)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250206-5AC8-5718-0BB4-7EFB5E52047F}"/>
              </a:ext>
            </a:extLst>
          </p:cNvPr>
          <p:cNvSpPr txBox="1"/>
          <p:nvPr/>
        </p:nvSpPr>
        <p:spPr>
          <a:xfrm>
            <a:off x="970787" y="3855238"/>
            <a:ext cx="45306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/>
                </a:solidFill>
              </a:rPr>
              <a:t>Joint force (radius on humerus)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E42E45-C787-576A-B7A5-EBB3B44CF1B9}"/>
              </a:ext>
            </a:extLst>
          </p:cNvPr>
          <p:cNvSpPr txBox="1"/>
          <p:nvPr/>
        </p:nvSpPr>
        <p:spPr>
          <a:xfrm>
            <a:off x="326058" y="206643"/>
            <a:ext cx="115398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force of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dirty="0"/>
              <a:t>the</a:t>
            </a:r>
            <a:r>
              <a:rPr lang="en-US" sz="24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humerus on the radius </a:t>
            </a:r>
            <a:r>
              <a:rPr lang="en-US" sz="2400" dirty="0"/>
              <a:t>and the force of the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radius on the humerus </a:t>
            </a:r>
            <a:r>
              <a:rPr lang="en-US" sz="2400" dirty="0"/>
              <a:t>are </a:t>
            </a:r>
            <a:r>
              <a:rPr lang="en-US" sz="2400" b="1" dirty="0">
                <a:solidFill>
                  <a:srgbClr val="0070C0"/>
                </a:solidFill>
              </a:rPr>
              <a:t>interaction force pairs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437971-359E-9496-5F0E-5C53A01B2332}"/>
              </a:ext>
            </a:extLst>
          </p:cNvPr>
          <p:cNvSpPr txBox="1"/>
          <p:nvPr/>
        </p:nvSpPr>
        <p:spPr>
          <a:xfrm>
            <a:off x="7129849" y="2743200"/>
            <a:ext cx="690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tibia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E154DC-3837-45B5-4C0B-32F64629C845}"/>
              </a:ext>
            </a:extLst>
          </p:cNvPr>
          <p:cNvSpPr txBox="1"/>
          <p:nvPr/>
        </p:nvSpPr>
        <p:spPr>
          <a:xfrm>
            <a:off x="8202456" y="4132237"/>
            <a:ext cx="690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talus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862FE1-FA5C-7054-7EB4-9787713F6B66}"/>
              </a:ext>
            </a:extLst>
          </p:cNvPr>
          <p:cNvSpPr txBox="1"/>
          <p:nvPr/>
        </p:nvSpPr>
        <p:spPr>
          <a:xfrm>
            <a:off x="970787" y="6121180"/>
            <a:ext cx="37588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https://www.aliem.com/emrad-ped-elbow/</a:t>
            </a:r>
            <a:endParaRPr lang="en-US" sz="1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C1B5259-DE1B-B578-F86C-38ED1421C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955" y="1155158"/>
            <a:ext cx="4648000" cy="45476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6945F2A-926E-137C-7D24-8F047C3FFA36}"/>
              </a:ext>
            </a:extLst>
          </p:cNvPr>
          <p:cNvSpPr txBox="1"/>
          <p:nvPr/>
        </p:nvSpPr>
        <p:spPr>
          <a:xfrm rot="10800000" flipV="1">
            <a:off x="8391479" y="5702841"/>
            <a:ext cx="33274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5"/>
              </a:rPr>
              <a:t>https://byjus.com/biology/arm-bones-diagram/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74030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D4E58A2-95BA-66D8-648C-DF6405A162B9}"/>
              </a:ext>
            </a:extLst>
          </p:cNvPr>
          <p:cNvGrpSpPr/>
          <p:nvPr/>
        </p:nvGrpSpPr>
        <p:grpSpPr>
          <a:xfrm>
            <a:off x="339238" y="1981802"/>
            <a:ext cx="6044292" cy="4596558"/>
            <a:chOff x="339238" y="1981802"/>
            <a:chExt cx="6044292" cy="459655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3F055A2-07D9-4DD7-4C4B-F43C1EFEE835}"/>
                </a:ext>
              </a:extLst>
            </p:cNvPr>
            <p:cNvGrpSpPr/>
            <p:nvPr/>
          </p:nvGrpSpPr>
          <p:grpSpPr>
            <a:xfrm>
              <a:off x="339238" y="2432670"/>
              <a:ext cx="6044292" cy="4145690"/>
              <a:chOff x="313921" y="827002"/>
              <a:chExt cx="6883089" cy="537254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8C6D60D8-D9EA-3E22-2B92-2DAB618758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3921" y="827002"/>
                <a:ext cx="6883089" cy="5372547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4FEC8BD7-F442-3CC6-2241-C583FE1FC9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21057341" flipH="1">
                <a:off x="4097970" y="1299670"/>
                <a:ext cx="206560" cy="168107"/>
              </a:xfrm>
              <a:prstGeom prst="rect">
                <a:avLst/>
              </a:prstGeom>
              <a:solidFill>
                <a:schemeClr val="accent4"/>
              </a:solidFill>
            </p:spPr>
          </p:pic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7F355F90-F848-B607-7E34-4BB22A210F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36845" y="1575698"/>
                <a:ext cx="0" cy="552242"/>
              </a:xfrm>
              <a:prstGeom prst="straightConnector1">
                <a:avLst/>
              </a:prstGeom>
              <a:ln w="76200">
                <a:solidFill>
                  <a:srgbClr val="00B0F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DC2C13-6B9A-7604-AF28-E1A97112CF47}"/>
                  </a:ext>
                </a:extLst>
              </p:cNvPr>
              <p:cNvSpPr txBox="1"/>
              <p:nvPr/>
            </p:nvSpPr>
            <p:spPr>
              <a:xfrm>
                <a:off x="835466" y="2971780"/>
                <a:ext cx="12961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</a:rPr>
                  <a:t>dumbbell</a:t>
                </a:r>
                <a:r>
                  <a:rPr lang="en-US" baseline="-25000" dirty="0">
                    <a:solidFill>
                      <a:srgbClr val="00B0F0"/>
                    </a:solidFill>
                  </a:rPr>
                  <a:t> 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1038D8-9439-68D2-8ED5-638EC693800B}"/>
                  </a:ext>
                </a:extLst>
              </p:cNvPr>
              <p:cNvSpPr txBox="1"/>
              <p:nvPr/>
            </p:nvSpPr>
            <p:spPr>
              <a:xfrm>
                <a:off x="1060032" y="2711108"/>
                <a:ext cx="9644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</a:rPr>
                  <a:t>10lb</a:t>
                </a: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97A4A1D-7F20-C313-ACF0-A4BB53AADE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43000"/>
            </a:blip>
            <a:stretch>
              <a:fillRect/>
            </a:stretch>
          </p:blipFill>
          <p:spPr>
            <a:xfrm rot="10800000" flipH="1">
              <a:off x="1417871" y="1981802"/>
              <a:ext cx="3371882" cy="3274153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6CBC2070-DBAC-4233-A34C-546E0CFC6806}"/>
              </a:ext>
            </a:extLst>
          </p:cNvPr>
          <p:cNvSpPr/>
          <p:nvPr/>
        </p:nvSpPr>
        <p:spPr>
          <a:xfrm>
            <a:off x="7694243" y="2029709"/>
            <a:ext cx="4247478" cy="24758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F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Choose whether each term is positive or negative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muscle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2400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dumbbell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3C8511-047B-42C2-B844-58B504C9C205}"/>
              </a:ext>
            </a:extLst>
          </p:cNvPr>
          <p:cNvSpPr txBox="1"/>
          <p:nvPr/>
        </p:nvSpPr>
        <p:spPr>
          <a:xfrm>
            <a:off x="8230675" y="1758608"/>
            <a:ext cx="317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Force Equilibrium condition</a:t>
            </a:r>
            <a:endParaRPr lang="en-US" sz="24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E954B03-9B79-430F-929D-0927BE18CBAC}"/>
              </a:ext>
            </a:extLst>
          </p:cNvPr>
          <p:cNvCxnSpPr>
            <a:cxnSpLocks/>
          </p:cNvCxnSpPr>
          <p:nvPr/>
        </p:nvCxnSpPr>
        <p:spPr>
          <a:xfrm>
            <a:off x="3232622" y="685330"/>
            <a:ext cx="0" cy="1318697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Up Arrow 8">
            <a:extLst>
              <a:ext uri="{FF2B5EF4-FFF2-40B4-BE49-F238E27FC236}">
                <a16:creationId xmlns:a16="http://schemas.microsoft.com/office/drawing/2014/main" id="{478DDB8E-F124-40DF-8C4E-564ECE2423DA}"/>
              </a:ext>
            </a:extLst>
          </p:cNvPr>
          <p:cNvSpPr/>
          <p:nvPr/>
        </p:nvSpPr>
        <p:spPr>
          <a:xfrm rot="10800000" flipH="1">
            <a:off x="6677057" y="654411"/>
            <a:ext cx="204258" cy="1614652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201A67-F31C-485F-9516-5641C9DBA846}"/>
              </a:ext>
            </a:extLst>
          </p:cNvPr>
          <p:cNvSpPr txBox="1"/>
          <p:nvPr/>
        </p:nvSpPr>
        <p:spPr>
          <a:xfrm>
            <a:off x="8328066" y="5725309"/>
            <a:ext cx="1553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J </a:t>
            </a:r>
            <a:r>
              <a:rPr lang="en-US" sz="2400" b="1" dirty="0"/>
              <a:t>= </a:t>
            </a:r>
            <a:r>
              <a:rPr lang="en-US" sz="2400" b="1" dirty="0">
                <a:solidFill>
                  <a:srgbClr val="FF0000"/>
                </a:solidFill>
              </a:rPr>
              <a:t>?</a:t>
            </a:r>
            <a:r>
              <a:rPr lang="en-US" sz="2400" b="1" dirty="0"/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lbs.</a:t>
            </a:r>
            <a:endParaRPr lang="en-US" sz="24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1E943D-2FED-4366-B473-56F5B4B80EE2}"/>
              </a:ext>
            </a:extLst>
          </p:cNvPr>
          <p:cNvSpPr txBox="1"/>
          <p:nvPr/>
        </p:nvSpPr>
        <p:spPr>
          <a:xfrm>
            <a:off x="7885885" y="183028"/>
            <a:ext cx="405583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Drag and resize </a:t>
            </a:r>
            <a:r>
              <a:rPr lang="en-US" sz="2400" b="1" dirty="0">
                <a:solidFill>
                  <a:srgbClr val="FFC000"/>
                </a:solidFill>
              </a:rPr>
              <a:t>joint force </a:t>
            </a:r>
            <a:r>
              <a:rPr lang="en-US" sz="2400" dirty="0"/>
              <a:t>vector  Relative size matters</a:t>
            </a:r>
          </a:p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D457DB-85E0-4317-A7D8-9006D1899F3A}"/>
              </a:ext>
            </a:extLst>
          </p:cNvPr>
          <p:cNvSpPr txBox="1"/>
          <p:nvPr/>
        </p:nvSpPr>
        <p:spPr>
          <a:xfrm>
            <a:off x="155655" y="29140"/>
            <a:ext cx="8308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Drag </a:t>
            </a:r>
            <a:r>
              <a:rPr lang="en-US" sz="2400" dirty="0"/>
              <a:t>and</a:t>
            </a:r>
            <a:r>
              <a:rPr lang="en-US" sz="2400" b="1" dirty="0"/>
              <a:t> resize </a:t>
            </a:r>
            <a:r>
              <a:rPr lang="en-US" sz="2400" b="1" dirty="0">
                <a:solidFill>
                  <a:srgbClr val="FF0000"/>
                </a:solidFill>
              </a:rPr>
              <a:t>muscle</a:t>
            </a:r>
            <a:r>
              <a:rPr lang="en-US" sz="2400" b="1" dirty="0"/>
              <a:t> </a:t>
            </a:r>
            <a:r>
              <a:rPr lang="en-US" sz="2400" dirty="0"/>
              <a:t>force vector, relative to </a:t>
            </a:r>
            <a:r>
              <a:rPr lang="en-US" sz="2400" b="1" dirty="0">
                <a:solidFill>
                  <a:srgbClr val="0070C0"/>
                </a:solidFill>
              </a:rPr>
              <a:t>F</a:t>
            </a:r>
            <a:r>
              <a:rPr lang="en-US" sz="2400" b="1" baseline="-25000" dirty="0">
                <a:solidFill>
                  <a:srgbClr val="0070C0"/>
                </a:solidFill>
              </a:rPr>
              <a:t>dumbbell 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dirty="0"/>
              <a:t>vector</a:t>
            </a:r>
            <a:endParaRPr lang="en-US" sz="2400" baseline="-25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D21F19-21C0-C46B-324C-F1B3249037F0}"/>
              </a:ext>
            </a:extLst>
          </p:cNvPr>
          <p:cNvSpPr txBox="1"/>
          <p:nvPr/>
        </p:nvSpPr>
        <p:spPr>
          <a:xfrm>
            <a:off x="6985574" y="4549839"/>
            <a:ext cx="4956147" cy="916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estimate for joint force and put answer in </a:t>
            </a: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(Show work)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F06471-6F50-5CA4-2D21-CEFE855EE195}"/>
              </a:ext>
            </a:extLst>
          </p:cNvPr>
          <p:cNvSpPr txBox="1"/>
          <p:nvPr/>
        </p:nvSpPr>
        <p:spPr>
          <a:xfrm>
            <a:off x="11505909" y="29140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2pts.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3E83E-E636-679F-A5D1-FA9BA00C9F72}"/>
              </a:ext>
            </a:extLst>
          </p:cNvPr>
          <p:cNvSpPr txBox="1"/>
          <p:nvPr/>
        </p:nvSpPr>
        <p:spPr>
          <a:xfrm>
            <a:off x="11539642" y="3692389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4pts.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322A0C-4A4D-E14C-8B82-89445FE6FD85}"/>
              </a:ext>
            </a:extLst>
          </p:cNvPr>
          <p:cNvSpPr txBox="1"/>
          <p:nvPr/>
        </p:nvSpPr>
        <p:spPr>
          <a:xfrm>
            <a:off x="11315482" y="5725309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2pts.</a:t>
            </a:r>
          </a:p>
        </p:txBody>
      </p:sp>
      <p:sp>
        <p:nvSpPr>
          <p:cNvPr id="15" name="Up Arrow 8">
            <a:extLst>
              <a:ext uri="{FF2B5EF4-FFF2-40B4-BE49-F238E27FC236}">
                <a16:creationId xmlns:a16="http://schemas.microsoft.com/office/drawing/2014/main" id="{7FEF0094-A780-9578-BC6A-0A69474B5A0E}"/>
              </a:ext>
            </a:extLst>
          </p:cNvPr>
          <p:cNvSpPr/>
          <p:nvPr/>
        </p:nvSpPr>
        <p:spPr>
          <a:xfrm flipH="1">
            <a:off x="7006947" y="685330"/>
            <a:ext cx="204258" cy="1614652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714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D98B16-BFDC-BC07-E3C8-48B5DA76C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62" y="1162728"/>
            <a:ext cx="6096000" cy="4064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6B47EE-26F1-BCC6-34BE-50EC8B608EF6}"/>
              </a:ext>
            </a:extLst>
          </p:cNvPr>
          <p:cNvSpPr txBox="1"/>
          <p:nvPr/>
        </p:nvSpPr>
        <p:spPr>
          <a:xfrm>
            <a:off x="588579" y="43004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n-US" b="1" i="0" u="none" strike="noStrike" dirty="0">
                <a:solidFill>
                  <a:srgbClr val="363636"/>
                </a:solidFill>
                <a:effectLst/>
                <a:latin typeface="Arial" panose="020B0604020202020204" pitchFamily="34" charset="0"/>
              </a:rPr>
              <a:t>Female Dumbbell Triceps Extension Standards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3FD50-AC76-6EF8-089C-5CDF0CCFA89E}"/>
              </a:ext>
            </a:extLst>
          </p:cNvPr>
          <p:cNvSpPr txBox="1"/>
          <p:nvPr/>
        </p:nvSpPr>
        <p:spPr>
          <a:xfrm>
            <a:off x="7492508" y="290277"/>
            <a:ext cx="3964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If  she was at the Elite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9552F0-9F10-68A1-0A2F-170C9632DED6}"/>
              </a:ext>
            </a:extLst>
          </p:cNvPr>
          <p:cNvSpPr txBox="1"/>
          <p:nvPr/>
        </p:nvSpPr>
        <p:spPr>
          <a:xfrm>
            <a:off x="6731147" y="3237585"/>
            <a:ext cx="4726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What would her triceps muscle force be, in terms of body weight?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412E58-DAFA-50EF-6220-914544990355}"/>
                  </a:ext>
                </a:extLst>
              </p:cNvPr>
              <p:cNvSpPr txBox="1"/>
              <p:nvPr/>
            </p:nvSpPr>
            <p:spPr>
              <a:xfrm>
                <a:off x="7180024" y="4607563"/>
                <a:ext cx="4589718" cy="1646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dirty="0"/>
                  <a:t>Use the lever arm ratio that you had before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</a:rPr>
                  <a:t>M</a:t>
                </a:r>
                <a:r>
                  <a:rPr lang="en-US" sz="2400" baseline="-25000" dirty="0">
                    <a:solidFill>
                      <a:srgbClr val="FF0000"/>
                    </a:solidFill>
                  </a:rPr>
                  <a:t>triceps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/>
                  <a:t>= </a:t>
                </a:r>
                <a:r>
                  <a:rPr lang="en-US" sz="2400" dirty="0">
                    <a:solidFill>
                      <a:srgbClr val="00B0F0"/>
                    </a:solidFill>
                  </a:rPr>
                  <a:t>F</a:t>
                </a:r>
                <a:r>
                  <a:rPr lang="en-US" sz="2400" baseline="-25000" dirty="0">
                    <a:solidFill>
                      <a:srgbClr val="00B0F0"/>
                    </a:solidFill>
                  </a:rPr>
                  <a:t>dumbell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𝒅𝒖𝒎𝒃𝒃𝒆𝒍𝒍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𝒎𝒖𝒔𝒄𝒍𝒆</m:t>
                            </m:r>
                          </m:sub>
                        </m:sSub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             =   ? w</a:t>
                </a:r>
                <a:r>
                  <a:rPr lang="en-US" sz="2400" baseline="-25000" dirty="0"/>
                  <a:t>body</a:t>
                </a:r>
                <a:r>
                  <a:rPr lang="en-US" sz="2400" dirty="0"/>
                  <a:t>* ?</a:t>
                </a:r>
              </a:p>
              <a:p>
                <a:r>
                  <a:rPr lang="en-US" sz="2400" dirty="0"/>
                  <a:t>             =  ? w</a:t>
                </a:r>
                <a:r>
                  <a:rPr lang="en-US" sz="2400" baseline="-25000" dirty="0"/>
                  <a:t>body</a:t>
                </a:r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412E58-DAFA-50EF-6220-914544990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0024" y="4607563"/>
                <a:ext cx="4589718" cy="1646092"/>
              </a:xfrm>
              <a:prstGeom prst="rect">
                <a:avLst/>
              </a:prstGeom>
              <a:blipFill>
                <a:blip r:embed="rId3"/>
                <a:stretch>
                  <a:fillRect l="-2210" t="-1527" b="-7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6AE8615-B299-7BF1-AA57-B24279608DE3}"/>
              </a:ext>
            </a:extLst>
          </p:cNvPr>
          <p:cNvSpPr txBox="1"/>
          <p:nvPr/>
        </p:nvSpPr>
        <p:spPr>
          <a:xfrm>
            <a:off x="588579" y="6253655"/>
            <a:ext cx="49713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4"/>
              </a:rPr>
              <a:t>https://strengthlevel.com/strength-standards/dumbbell-tricep-extension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DD4C49-C2EE-D055-7DFF-FD7474144070}"/>
              </a:ext>
            </a:extLst>
          </p:cNvPr>
          <p:cNvSpPr txBox="1"/>
          <p:nvPr/>
        </p:nvSpPr>
        <p:spPr>
          <a:xfrm>
            <a:off x="1513490" y="5461000"/>
            <a:ext cx="2588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</a:rPr>
              <a:t>dumbell </a:t>
            </a:r>
            <a:r>
              <a:rPr lang="en-US" sz="2400" dirty="0"/>
              <a:t>= 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  <a:r>
              <a:rPr lang="en-US" sz="2400" dirty="0"/>
              <a:t> w</a:t>
            </a:r>
            <a:r>
              <a:rPr lang="en-US" sz="2400" baseline="-25000" dirty="0"/>
              <a:t>body</a:t>
            </a:r>
          </a:p>
        </p:txBody>
      </p:sp>
      <p:pic>
        <p:nvPicPr>
          <p:cNvPr id="1026" name="Picture 2" descr="Dumbbell Tricep Extension">
            <a:extLst>
              <a:ext uri="{FF2B5EF4-FFF2-40B4-BE49-F238E27FC236}">
                <a16:creationId xmlns:a16="http://schemas.microsoft.com/office/drawing/2014/main" id="{B85388B8-F422-3087-C186-F0392904C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223" y="886381"/>
            <a:ext cx="2243959" cy="2243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6000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AEDF7-C3B3-7E91-7499-93555A59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B900E7C2-E4CD-DCDF-6455-D54B390C82D5}"/>
              </a:ext>
            </a:extLst>
          </p:cNvPr>
          <p:cNvGrpSpPr/>
          <p:nvPr/>
        </p:nvGrpSpPr>
        <p:grpSpPr>
          <a:xfrm>
            <a:off x="338622" y="1492143"/>
            <a:ext cx="6829699" cy="5238794"/>
            <a:chOff x="186008" y="2091323"/>
            <a:chExt cx="6829699" cy="523879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D27CDC1-135F-F1D0-7D26-6D5825E9A87C}"/>
                </a:ext>
              </a:extLst>
            </p:cNvPr>
            <p:cNvGrpSpPr/>
            <p:nvPr/>
          </p:nvGrpSpPr>
          <p:grpSpPr>
            <a:xfrm>
              <a:off x="186008" y="2645728"/>
              <a:ext cx="6829699" cy="4684389"/>
              <a:chOff x="139427" y="1103112"/>
              <a:chExt cx="7777491" cy="607066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DFED1728-63FD-B3F6-56DD-CD07CE237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9427" y="1103112"/>
                <a:ext cx="7777491" cy="6070666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84216879-5AEC-33A3-3C52-0D3FE9A464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21057341" flipH="1">
                <a:off x="4580345" y="1478341"/>
                <a:ext cx="206560" cy="168107"/>
              </a:xfrm>
              <a:prstGeom prst="rect">
                <a:avLst/>
              </a:prstGeom>
              <a:solidFill>
                <a:schemeClr val="accent4"/>
              </a:solidFill>
            </p:spPr>
          </p:pic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3C4AA155-94CC-AEEE-503E-FAA9400B50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83521" y="1953943"/>
                <a:ext cx="0" cy="406124"/>
              </a:xfrm>
              <a:prstGeom prst="straightConnector1">
                <a:avLst/>
              </a:prstGeom>
              <a:ln w="76200">
                <a:solidFill>
                  <a:srgbClr val="00B0F0"/>
                </a:solidFill>
                <a:prstDash val="solid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6E7470-EAC7-91FF-E391-04C3C8CC5D84}"/>
                  </a:ext>
                </a:extLst>
              </p:cNvPr>
              <p:cNvSpPr txBox="1"/>
              <p:nvPr/>
            </p:nvSpPr>
            <p:spPr>
              <a:xfrm>
                <a:off x="835466" y="2971780"/>
                <a:ext cx="12961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</a:rPr>
                  <a:t>dumbbell</a:t>
                </a:r>
                <a:r>
                  <a:rPr lang="en-US" baseline="-25000" dirty="0">
                    <a:solidFill>
                      <a:srgbClr val="00B0F0"/>
                    </a:solidFill>
                  </a:rPr>
                  <a:t> 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3AB0A1-532F-9185-88B3-ED4C043A3692}"/>
                  </a:ext>
                </a:extLst>
              </p:cNvPr>
              <p:cNvSpPr txBox="1"/>
              <p:nvPr/>
            </p:nvSpPr>
            <p:spPr>
              <a:xfrm>
                <a:off x="856648" y="2506185"/>
                <a:ext cx="1621616" cy="4786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</a:rPr>
                  <a:t>0.45W</a:t>
                </a:r>
                <a:r>
                  <a:rPr lang="en-US" baseline="-25000" dirty="0">
                    <a:solidFill>
                      <a:srgbClr val="00B0F0"/>
                    </a:solidFill>
                  </a:rPr>
                  <a:t>body</a:t>
                </a: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AE63C2F-1CA3-3F3A-61A4-D7FAA401F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43000"/>
            </a:blip>
            <a:stretch>
              <a:fillRect/>
            </a:stretch>
          </p:blipFill>
          <p:spPr>
            <a:xfrm rot="10800000" flipH="1">
              <a:off x="1742455" y="2091323"/>
              <a:ext cx="3371882" cy="3274153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6C67FA4C-DBC5-39FA-5021-3274B5C3809E}"/>
              </a:ext>
            </a:extLst>
          </p:cNvPr>
          <p:cNvSpPr/>
          <p:nvPr/>
        </p:nvSpPr>
        <p:spPr>
          <a:xfrm>
            <a:off x="949839" y="995319"/>
            <a:ext cx="1702999" cy="488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F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B268F6-0E27-BFEB-3E2A-8E14526642F9}"/>
              </a:ext>
            </a:extLst>
          </p:cNvPr>
          <p:cNvSpPr txBox="1"/>
          <p:nvPr/>
        </p:nvSpPr>
        <p:spPr>
          <a:xfrm>
            <a:off x="181983" y="324928"/>
            <a:ext cx="4420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Force Equilibrium condition</a:t>
            </a:r>
            <a:endParaRPr lang="en-US" sz="2400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C4DF2F7-3715-D6BB-6433-FA85A53B3B01}"/>
              </a:ext>
            </a:extLst>
          </p:cNvPr>
          <p:cNvCxnSpPr>
            <a:cxnSpLocks/>
          </p:cNvCxnSpPr>
          <p:nvPr/>
        </p:nvCxnSpPr>
        <p:spPr>
          <a:xfrm flipH="1">
            <a:off x="4621361" y="2212733"/>
            <a:ext cx="48968" cy="268508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F9CC2BE-4524-ED9F-116B-D7033230CBCB}"/>
              </a:ext>
            </a:extLst>
          </p:cNvPr>
          <p:cNvSpPr txBox="1"/>
          <p:nvPr/>
        </p:nvSpPr>
        <p:spPr>
          <a:xfrm>
            <a:off x="11505909" y="29140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2pts.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C89494-506F-75A9-EA5D-496FF9311997}"/>
              </a:ext>
            </a:extLst>
          </p:cNvPr>
          <p:cNvSpPr txBox="1"/>
          <p:nvPr/>
        </p:nvSpPr>
        <p:spPr>
          <a:xfrm>
            <a:off x="11539642" y="6423160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4pts.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D49C05-FFBF-C800-051D-E8841A117F2D}"/>
              </a:ext>
            </a:extLst>
          </p:cNvPr>
          <p:cNvSpPr txBox="1"/>
          <p:nvPr/>
        </p:nvSpPr>
        <p:spPr>
          <a:xfrm>
            <a:off x="11315482" y="5725309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2pts.</a:t>
            </a:r>
          </a:p>
        </p:txBody>
      </p:sp>
      <p:sp>
        <p:nvSpPr>
          <p:cNvPr id="15" name="Up Arrow 8">
            <a:extLst>
              <a:ext uri="{FF2B5EF4-FFF2-40B4-BE49-F238E27FC236}">
                <a16:creationId xmlns:a16="http://schemas.microsoft.com/office/drawing/2014/main" id="{655C31AA-1645-EEEE-5426-DAB146EED48A}"/>
              </a:ext>
            </a:extLst>
          </p:cNvPr>
          <p:cNvSpPr/>
          <p:nvPr/>
        </p:nvSpPr>
        <p:spPr>
          <a:xfrm flipH="1">
            <a:off x="4243877" y="127063"/>
            <a:ext cx="164564" cy="2273887"/>
          </a:xfrm>
          <a:prstGeom prst="up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CEE582-0114-EC30-04BD-472BADD2F33A}"/>
              </a:ext>
            </a:extLst>
          </p:cNvPr>
          <p:cNvSpPr txBox="1"/>
          <p:nvPr/>
        </p:nvSpPr>
        <p:spPr>
          <a:xfrm>
            <a:off x="4670329" y="3323057"/>
            <a:ext cx="22109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muscle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body</a:t>
            </a:r>
            <a:endParaRPr lang="en-US" sz="2400" baseline="-25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97F1DA8-4A0B-8D72-D070-44ABD7FE96D6}"/>
              </a:ext>
            </a:extLst>
          </p:cNvPr>
          <p:cNvSpPr txBox="1"/>
          <p:nvPr/>
        </p:nvSpPr>
        <p:spPr>
          <a:xfrm>
            <a:off x="4423033" y="899344"/>
            <a:ext cx="19670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sz="24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body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3AE7978-C6AB-C3BC-B7F0-8652EDE0370B}"/>
              </a:ext>
            </a:extLst>
          </p:cNvPr>
          <p:cNvSpPr txBox="1"/>
          <p:nvPr/>
        </p:nvSpPr>
        <p:spPr>
          <a:xfrm>
            <a:off x="6881315" y="163070"/>
            <a:ext cx="44209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What would her elbow joint force be, in terms of body weight?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BAB3A8-1858-811E-4FF4-ADD7F839F296}"/>
              </a:ext>
            </a:extLst>
          </p:cNvPr>
          <p:cNvSpPr txBox="1"/>
          <p:nvPr/>
        </p:nvSpPr>
        <p:spPr>
          <a:xfrm>
            <a:off x="7325991" y="1171823"/>
            <a:ext cx="258866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J</a:t>
            </a:r>
            <a:r>
              <a:rPr lang="en-US" sz="2400" b="1" baseline="-25000" dirty="0">
                <a:solidFill>
                  <a:schemeClr val="accent4">
                    <a:lumMod val="75000"/>
                  </a:schemeClr>
                </a:solidFill>
              </a:rPr>
              <a:t>elbow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  <a:r>
              <a:rPr lang="en-US" sz="2400" dirty="0"/>
              <a:t> w</a:t>
            </a:r>
            <a:r>
              <a:rPr lang="en-US" sz="2400" baseline="-25000" dirty="0"/>
              <a:t>body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EC47BA1-7FB8-1D08-75D0-1B7799F3526C}"/>
              </a:ext>
            </a:extLst>
          </p:cNvPr>
          <p:cNvSpPr txBox="1"/>
          <p:nvPr/>
        </p:nvSpPr>
        <p:spPr>
          <a:xfrm>
            <a:off x="7396622" y="2514659"/>
            <a:ext cx="4143020" cy="488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muscle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2400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dumbbell</a:t>
            </a:r>
            <a:r>
              <a:rPr lang="en-US" sz="2400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0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2A858B8-EBE5-8197-94F8-D3B3144E7B01}"/>
              </a:ext>
            </a:extLst>
          </p:cNvPr>
          <p:cNvSpPr txBox="1"/>
          <p:nvPr/>
        </p:nvSpPr>
        <p:spPr>
          <a:xfrm>
            <a:off x="7478180" y="3433920"/>
            <a:ext cx="4143020" cy="488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= 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2400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muscle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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2400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dumbbell</a:t>
            </a:r>
            <a:endParaRPr lang="en-US" sz="24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716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4F248E6-9A0F-E86D-9AA3-E921D0264705}"/>
              </a:ext>
            </a:extLst>
          </p:cNvPr>
          <p:cNvGrpSpPr/>
          <p:nvPr/>
        </p:nvGrpSpPr>
        <p:grpSpPr>
          <a:xfrm>
            <a:off x="682499" y="879764"/>
            <a:ext cx="7841390" cy="5553392"/>
            <a:chOff x="339238" y="1842136"/>
            <a:chExt cx="6044292" cy="4736224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DB1E7B9-497E-A76E-7DD6-70BAA78EFE60}"/>
                </a:ext>
              </a:extLst>
            </p:cNvPr>
            <p:cNvGrpSpPr/>
            <p:nvPr/>
          </p:nvGrpSpPr>
          <p:grpSpPr>
            <a:xfrm>
              <a:off x="339238" y="2432670"/>
              <a:ext cx="6044292" cy="4145690"/>
              <a:chOff x="313921" y="827002"/>
              <a:chExt cx="6883089" cy="5372547"/>
            </a:xfrm>
          </p:grpSpPr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95E6AC31-FEBB-7693-5AFA-3B48310988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13921" y="827002"/>
                <a:ext cx="6883089" cy="5372547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A5EDC438-DBD6-C088-C23D-801456E19F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rot="21057341" flipH="1">
                <a:off x="4311416" y="1260497"/>
                <a:ext cx="206560" cy="168107"/>
              </a:xfrm>
              <a:prstGeom prst="rect">
                <a:avLst/>
              </a:prstGeom>
              <a:solidFill>
                <a:schemeClr val="accent4"/>
              </a:solidFill>
            </p:spPr>
          </p:pic>
        </p:grp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6BD4318-F875-312C-9E6C-C58BFC95C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43000"/>
            </a:blip>
            <a:stretch>
              <a:fillRect/>
            </a:stretch>
          </p:blipFill>
          <p:spPr>
            <a:xfrm rot="10800000" flipH="1">
              <a:off x="1336039" y="1842136"/>
              <a:ext cx="3443043" cy="3343252"/>
            </a:xfrm>
            <a:prstGeom prst="rect">
              <a:avLst/>
            </a:prstGeom>
          </p:spPr>
        </p:pic>
      </p:grpSp>
      <p:sp>
        <p:nvSpPr>
          <p:cNvPr id="11" name="Down Arrow 6">
            <a:extLst>
              <a:ext uri="{FF2B5EF4-FFF2-40B4-BE49-F238E27FC236}">
                <a16:creationId xmlns:a16="http://schemas.microsoft.com/office/drawing/2014/main" id="{EECF0B99-DFE5-4F87-B622-B34FEFDC5350}"/>
              </a:ext>
            </a:extLst>
          </p:cNvPr>
          <p:cNvSpPr/>
          <p:nvPr/>
        </p:nvSpPr>
        <p:spPr>
          <a:xfrm>
            <a:off x="10839094" y="2274905"/>
            <a:ext cx="223256" cy="3262721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DD246-D22F-4B00-93DB-F647D2D61FB8}"/>
              </a:ext>
            </a:extLst>
          </p:cNvPr>
          <p:cNvSpPr txBox="1"/>
          <p:nvPr/>
        </p:nvSpPr>
        <p:spPr>
          <a:xfrm>
            <a:off x="781853" y="210465"/>
            <a:ext cx="113211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If we included the torque due the weight of the arm, would the muscle force result be bigger or smaller?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49E8203-9171-8617-E316-3BF7CDA9B9C1}"/>
              </a:ext>
            </a:extLst>
          </p:cNvPr>
          <p:cNvCxnSpPr>
            <a:cxnSpLocks/>
          </p:cNvCxnSpPr>
          <p:nvPr/>
        </p:nvCxnSpPr>
        <p:spPr>
          <a:xfrm>
            <a:off x="1879373" y="2403091"/>
            <a:ext cx="7210" cy="1104485"/>
          </a:xfrm>
          <a:prstGeom prst="straightConnector1">
            <a:avLst/>
          </a:prstGeom>
          <a:ln w="76200">
            <a:solidFill>
              <a:srgbClr val="00B0F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0F7D9DB-6190-B0EF-F79C-2A4AF612477E}"/>
              </a:ext>
            </a:extLst>
          </p:cNvPr>
          <p:cNvSpPr txBox="1"/>
          <p:nvPr/>
        </p:nvSpPr>
        <p:spPr>
          <a:xfrm>
            <a:off x="1147881" y="2696955"/>
            <a:ext cx="964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10lb</a:t>
            </a:r>
          </a:p>
        </p:txBody>
      </p:sp>
      <p:sp>
        <p:nvSpPr>
          <p:cNvPr id="50" name="Up Arrow 49">
            <a:extLst>
              <a:ext uri="{FF2B5EF4-FFF2-40B4-BE49-F238E27FC236}">
                <a16:creationId xmlns:a16="http://schemas.microsoft.com/office/drawing/2014/main" id="{87E1526D-4F55-EB30-E54B-9F931FECE890}"/>
              </a:ext>
            </a:extLst>
          </p:cNvPr>
          <p:cNvSpPr/>
          <p:nvPr/>
        </p:nvSpPr>
        <p:spPr>
          <a:xfrm flipH="1" flipV="1">
            <a:off x="3522491" y="2349035"/>
            <a:ext cx="206634" cy="60144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81BCEE-0F9B-FB71-096C-F60DE17AE396}"/>
              </a:ext>
            </a:extLst>
          </p:cNvPr>
          <p:cNvSpPr txBox="1"/>
          <p:nvPr/>
        </p:nvSpPr>
        <p:spPr>
          <a:xfrm>
            <a:off x="3044185" y="2945516"/>
            <a:ext cx="733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2060"/>
                </a:solidFill>
              </a:rPr>
              <a:t>W</a:t>
            </a:r>
            <a:r>
              <a:rPr lang="en-US" sz="2000" baseline="-25000" dirty="0">
                <a:solidFill>
                  <a:srgbClr val="002060"/>
                </a:solidFill>
              </a:rPr>
              <a:t>arm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DD6750-8E50-DC41-A63B-D0C8236EA0EB}"/>
              </a:ext>
            </a:extLst>
          </p:cNvPr>
          <p:cNvSpPr txBox="1"/>
          <p:nvPr/>
        </p:nvSpPr>
        <p:spPr>
          <a:xfrm>
            <a:off x="601033" y="710778"/>
            <a:ext cx="5619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Then using simple ratio is not possible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C86125-234D-CD53-50E6-29532A75CDE4}"/>
              </a:ext>
            </a:extLst>
          </p:cNvPr>
          <p:cNvSpPr txBox="1"/>
          <p:nvPr/>
        </p:nvSpPr>
        <p:spPr>
          <a:xfrm>
            <a:off x="8406063" y="778042"/>
            <a:ext cx="3184904" cy="113338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C1887AF-FFAF-3593-9157-4AB77E88E591}"/>
              </a:ext>
            </a:extLst>
          </p:cNvPr>
          <p:cNvCxnSpPr>
            <a:cxnSpLocks/>
          </p:cNvCxnSpPr>
          <p:nvPr/>
        </p:nvCxnSpPr>
        <p:spPr>
          <a:xfrm>
            <a:off x="8140616" y="5800739"/>
            <a:ext cx="3450351" cy="28577"/>
          </a:xfrm>
          <a:prstGeom prst="line">
            <a:avLst/>
          </a:prstGeom>
          <a:ln w="5080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D398243-6ECD-DECA-D09E-890EA62ED467}"/>
              </a:ext>
            </a:extLst>
          </p:cNvPr>
          <p:cNvCxnSpPr>
            <a:cxnSpLocks/>
          </p:cNvCxnSpPr>
          <p:nvPr/>
        </p:nvCxnSpPr>
        <p:spPr>
          <a:xfrm>
            <a:off x="8140616" y="6404579"/>
            <a:ext cx="3450351" cy="28577"/>
          </a:xfrm>
          <a:prstGeom prst="line">
            <a:avLst/>
          </a:prstGeom>
          <a:ln w="5080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5AF416D-7083-05DF-D0B7-E4FC075A3B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0197" y="1302997"/>
            <a:ext cx="3491221" cy="369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EBECEC-0F48-A0E8-143C-6CB0158EA16F}"/>
              </a:ext>
            </a:extLst>
          </p:cNvPr>
          <p:cNvSpPr txBox="1"/>
          <p:nvPr/>
        </p:nvSpPr>
        <p:spPr>
          <a:xfrm>
            <a:off x="9162727" y="5300239"/>
            <a:ext cx="14061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0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lang="en-US" sz="20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dumbbell</a:t>
            </a:r>
            <a:endParaRPr lang="en-US" sz="2000" dirty="0">
              <a:solidFill>
                <a:srgbClr val="00B0F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8C692D-7FEF-9A7C-5D87-CF2F83852C05}"/>
                  </a:ext>
                </a:extLst>
              </p:cNvPr>
              <p:cNvSpPr txBox="1"/>
              <p:nvPr/>
            </p:nvSpPr>
            <p:spPr>
              <a:xfrm>
                <a:off x="9162727" y="6049535"/>
                <a:ext cx="10349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b="1" smtClean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r</m:t>
                      </m:r>
                      <m:r>
                        <m:rPr>
                          <m:nor/>
                        </m:rPr>
                        <a:rPr lang="en-US" sz="1800" b="1" baseline="-25000" smtClean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Warm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8C692D-7FEF-9A7C-5D87-CF2F83852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2727" y="6049535"/>
                <a:ext cx="10349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6718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5D7D78-D086-DD4D-ABAD-63EFAAEB2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72" y="123290"/>
            <a:ext cx="10338393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57CCF77-4C3B-F44B-A0DE-02ACD98DA3F8}"/>
              </a:ext>
            </a:extLst>
          </p:cNvPr>
          <p:cNvSpPr/>
          <p:nvPr/>
        </p:nvSpPr>
        <p:spPr>
          <a:xfrm>
            <a:off x="8368389" y="6331818"/>
            <a:ext cx="26079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hlinkClick r:id="rId3"/>
              </a:rPr>
              <a:t>https://exrx.net/Kinesiology/Segments</a:t>
            </a:r>
            <a:endParaRPr lang="en-US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B4EFE9-07B8-F9A4-32F2-4E81A63DA9AD}"/>
              </a:ext>
            </a:extLst>
          </p:cNvPr>
          <p:cNvSpPr/>
          <p:nvPr/>
        </p:nvSpPr>
        <p:spPr>
          <a:xfrm>
            <a:off x="493927" y="4171308"/>
            <a:ext cx="3913685" cy="3745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9879D-DD9D-3120-B66A-CE65FC388163}"/>
              </a:ext>
            </a:extLst>
          </p:cNvPr>
          <p:cNvSpPr txBox="1"/>
          <p:nvPr/>
        </p:nvSpPr>
        <p:spPr>
          <a:xfrm>
            <a:off x="7894214" y="1716965"/>
            <a:ext cx="33493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W</a:t>
            </a:r>
            <a:r>
              <a:rPr lang="en-US" sz="2400" baseline="-25000" dirty="0">
                <a:solidFill>
                  <a:srgbClr val="0070C0"/>
                </a:solidFill>
              </a:rPr>
              <a:t>arm</a:t>
            </a:r>
            <a:r>
              <a:rPr lang="en-US" sz="2400" dirty="0"/>
              <a:t> = 0.02* 115lbs</a:t>
            </a:r>
          </a:p>
          <a:p>
            <a:r>
              <a:rPr lang="en-US" sz="2400" dirty="0"/>
              <a:t>          =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8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780BD09-970E-C747-8F05-B755CA0C2F0F}"/>
                  </a:ext>
                </a:extLst>
              </p:cNvPr>
              <p:cNvSpPr/>
              <p:nvPr/>
            </p:nvSpPr>
            <p:spPr>
              <a:xfrm>
                <a:off x="246429" y="647416"/>
                <a:ext cx="7115449" cy="30044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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</a:p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</a:t>
                </a:r>
                <a:r>
                  <a:rPr lang="en-US" sz="24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US" sz="2400" b="1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</a:t>
                </a:r>
                <a:r>
                  <a:rPr lang="en-US" sz="2400" b="1" baseline="-25000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Warm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 </a:t>
                </a:r>
                <a:r>
                  <a:rPr lang="en-US" sz="2400" b="1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</a:t>
                </a:r>
                <a:r>
                  <a:rPr lang="en-US" sz="2400" b="1" baseline="-25000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Fdumbell </a:t>
                </a:r>
                <a:endParaRPr lang="en-US" sz="2400" dirty="0">
                  <a:solidFill>
                    <a:srgbClr val="00B0F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</a:t>
                </a:r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sz="24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(</a:t>
                </a:r>
                <a:r>
                  <a:rPr lang="en-US" sz="2400" b="1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</a:t>
                </a:r>
                <a:r>
                  <a:rPr lang="en-US" sz="2400" b="1" baseline="-25000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arm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sz="2400" b="1" baseline="-25000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Warm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)+ (</a:t>
                </a:r>
                <a:r>
                  <a:rPr lang="en-US" sz="2400" b="1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b="1" baseline="-25000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dumbell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sz="2400" b="1" baseline="-25000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dumbell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b="1" dirty="0">
                    <a:solidFill>
                      <a:srgbClr val="00B05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baseline="-25000" dirty="0">
                    <a:solidFill>
                      <a:srgbClr val="00B05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457200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 </a:t>
                </a:r>
                <a:r>
                  <a:rPr lang="en-US" sz="24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b="1" dirty="0" smtClean="0">
                            <a:solidFill>
                              <a:srgbClr val="0070C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W</m:t>
                        </m:r>
                        <m:r>
                          <m:rPr>
                            <m:nor/>
                          </m:rPr>
                          <a:rPr lang="en-US" sz="2400" b="1" baseline="-25000" dirty="0" smtClean="0">
                            <a:solidFill>
                              <a:srgbClr val="0070C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arm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 smtClean="0">
                            <a:solidFill>
                              <a:srgbClr val="0070C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="1" baseline="-25000" smtClean="0">
                            <a:solidFill>
                              <a:srgbClr val="0070C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Warm</m:t>
                        </m:r>
                        <m:r>
                          <m:rPr>
                            <m:nor/>
                          </m:rPr>
                          <a:rPr lang="en-US" sz="2400" b="1" baseline="-250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 </m:t>
                        </m:r>
                        <m:r>
                          <m:rPr>
                            <m:nor/>
                          </m:rPr>
                          <a:rPr lang="en-US" sz="2400" b="1" smtClean="0">
                            <a:solidFill>
                              <a:srgbClr val="00B0F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2400" b="1" baseline="-25000" smtClean="0">
                            <a:solidFill>
                              <a:srgbClr val="00B0F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dumbell</m:t>
                        </m:r>
                        <m:r>
                          <m:rPr>
                            <m:nor/>
                          </m:rPr>
                          <a:rPr lang="en-US" sz="2400" b="1" dirty="0" smtClean="0">
                            <a:solidFill>
                              <a:srgbClr val="00B0F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 smtClean="0">
                            <a:solidFill>
                              <a:srgbClr val="00B0F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="1" baseline="-25000" smtClean="0">
                            <a:solidFill>
                              <a:srgbClr val="00B0F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dumbell</m:t>
                        </m:r>
                        <m:r>
                          <m:rPr>
                            <m:nor/>
                          </m:rPr>
                          <a:rPr lang="en-US" sz="2400" b="1" dirty="0" smtClean="0">
                            <a:solidFill>
                              <a:srgbClr val="00B0F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chemeClr val="tx1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1" smtClean="0">
                            <a:solidFill>
                              <a:srgbClr val="FF000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="1" i="0" baseline="-25000" smtClean="0">
                            <a:solidFill>
                              <a:srgbClr val="FF000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M</m:t>
                        </m:r>
                      </m:den>
                    </m:f>
                  </m:oMath>
                </a14:m>
                <a:endParaRPr lang="en-US" sz="2400" b="1" baseline="-250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15000"/>
                  </a:lnSpc>
                  <a:spcAft>
                    <a:spcPts val="1000"/>
                  </a:spcAft>
                </a:pP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780BD09-970E-C747-8F05-B755CA0C2F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29" y="647416"/>
                <a:ext cx="7115449" cy="3004477"/>
              </a:xfrm>
              <a:prstGeom prst="rect">
                <a:avLst/>
              </a:prstGeom>
              <a:blipFill>
                <a:blip r:embed="rId2"/>
                <a:stretch>
                  <a:fillRect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D949771-F1E4-4BD6-A0A0-96CBECE5DCED}"/>
                  </a:ext>
                </a:extLst>
              </p:cNvPr>
              <p:cNvSpPr/>
              <p:nvPr/>
            </p:nvSpPr>
            <p:spPr>
              <a:xfrm>
                <a:off x="6982933" y="647416"/>
                <a:ext cx="4996081" cy="49246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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=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0</a:t>
                </a:r>
              </a:p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</a:t>
                </a:r>
                <a:r>
                  <a:rPr lang="en-US" sz="24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US" sz="2400" b="1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</a:t>
                </a:r>
                <a:r>
                  <a:rPr lang="en-US" sz="2400" b="1" baseline="-25000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Warm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+ </a:t>
                </a:r>
                <a:r>
                  <a:rPr lang="en-US" sz="2400" b="1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</a:t>
                </a:r>
                <a:r>
                  <a:rPr lang="en-US" sz="2400" b="1" baseline="-25000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Fdumbell </a:t>
                </a:r>
                <a:endParaRPr lang="en-US" sz="2400" dirty="0">
                  <a:solidFill>
                    <a:srgbClr val="00B0F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        </a:t>
                </a:r>
                <a:r>
                  <a:rPr lang="en-US" sz="2400" b="1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</a:t>
                </a:r>
                <a:r>
                  <a:rPr lang="en-US" sz="2400" b="1" baseline="-25000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Warm 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</a:t>
                </a:r>
                <a:r>
                  <a:rPr lang="en-US" sz="2400" b="1" baseline="-25000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arm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sz="2400" b="1" baseline="-25000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Warm 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 ?</a:t>
                </a:r>
              </a:p>
              <a:p>
                <a:pPr marL="45720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2400" b="1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        </a:t>
                </a:r>
                <a:r>
                  <a:rPr lang="en-US" sz="2400" b="1" baseline="-25000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Fbarbell 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</a:t>
                </a:r>
                <a:r>
                  <a:rPr lang="en-US" sz="2400" b="1" baseline="-25000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dumbell</a:t>
                </a:r>
                <a:r>
                  <a:rPr lang="en-US" sz="2400" b="1" dirty="0">
                    <a:solidFill>
                      <a:srgbClr val="00B05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sz="2400" b="1" baseline="-25000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dumbell</a:t>
                </a:r>
                <a:r>
                  <a:rPr lang="en-US" sz="2400" b="1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?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2400" b="1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(M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sz="24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 </a:t>
                </a:r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US" sz="2400" b="1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</a:t>
                </a:r>
                <a:r>
                  <a:rPr lang="en-US" sz="2400" b="1" baseline="-25000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Warm 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 + </a:t>
                </a:r>
                <a:r>
                  <a:rPr lang="en-US" sz="2400" b="1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  <a:sym typeface="Symbol" pitchFamily="2" charset="2"/>
                  </a:rPr>
                  <a:t></a:t>
                </a:r>
                <a:r>
                  <a:rPr lang="en-US" sz="2400" b="1" baseline="-25000" dirty="0">
                    <a:solidFill>
                      <a:srgbClr val="00B0F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Fdumbell </a:t>
                </a:r>
                <a:endParaRPr lang="en-US" sz="2400" b="1" dirty="0">
                  <a:solidFill>
                    <a:srgbClr val="00B0F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rgbClr val="0070C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  <a:sym typeface="Symbol" pitchFamily="2" charset="2"/>
                          </a:rPr>
                          <m:t></m:t>
                        </m:r>
                        <m:r>
                          <m:rPr>
                            <m:nor/>
                          </m:rPr>
                          <a:rPr lang="en-US" sz="2400" b="1" baseline="-25000" dirty="0">
                            <a:solidFill>
                              <a:srgbClr val="0070C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Warm</m:t>
                        </m:r>
                        <m:r>
                          <m:rPr>
                            <m:nor/>
                          </m:rPr>
                          <a:rPr lang="en-US" sz="2400" b="1" baseline="-25000" dirty="0">
                            <a:solidFill>
                              <a:srgbClr val="0070C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  + </m:t>
                        </m:r>
                        <m:r>
                          <m:rPr>
                            <m:nor/>
                          </m:rPr>
                          <a:rPr lang="en-US" sz="2400" b="1" baseline="-25000" dirty="0">
                            <a:solidFill>
                              <a:srgbClr val="00B0F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Fdumbell</m:t>
                        </m:r>
                        <m:r>
                          <m:rPr>
                            <m:nor/>
                          </m:rPr>
                          <a: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="1" i="0" baseline="-25000" smtClean="0">
                            <a:solidFill>
                              <a:srgbClr val="FF000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M</m:t>
                        </m:r>
                      </m:den>
                    </m:f>
                  </m:oMath>
                </a14:m>
                <a:endParaRPr lang="en-US" sz="24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rgbClr val="0070C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?</m:t>
                        </m:r>
                        <m:r>
                          <m:rPr>
                            <m:nor/>
                          </m:rPr>
                          <a: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 +  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rgbClr val="00B0F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?</m:t>
                        </m:r>
                        <m:r>
                          <m:rPr>
                            <m:nor/>
                          </m:rPr>
                          <a: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rgbClr val="FF000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?</m:t>
                        </m:r>
                      </m:den>
                    </m:f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baseline="-25000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2400" b="1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:r>
                  <a:rPr lang="en-US" sz="2400" b="1" dirty="0">
                    <a:solidFill>
                      <a:srgbClr val="C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D949771-F1E4-4BD6-A0A0-96CBECE5DC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2933" y="647416"/>
                <a:ext cx="4996081" cy="4924618"/>
              </a:xfrm>
              <a:prstGeom prst="rect">
                <a:avLst/>
              </a:prstGeom>
              <a:blipFill>
                <a:blip r:embed="rId3"/>
                <a:stretch>
                  <a:fillRect t="-514" b="-1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93D2F91-6D96-48C3-9AEC-BBD03A91C431}"/>
              </a:ext>
            </a:extLst>
          </p:cNvPr>
          <p:cNvSpPr txBox="1"/>
          <p:nvPr/>
        </p:nvSpPr>
        <p:spPr>
          <a:xfrm>
            <a:off x="651297" y="121538"/>
            <a:ext cx="1593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Method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B3A8AA-4285-4762-96A5-6FD08211487F}"/>
              </a:ext>
            </a:extLst>
          </p:cNvPr>
          <p:cNvSpPr txBox="1"/>
          <p:nvPr/>
        </p:nvSpPr>
        <p:spPr>
          <a:xfrm>
            <a:off x="7327533" y="83674"/>
            <a:ext cx="15939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Method 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C34A8E-E1F2-5E00-B17C-903E577A09CB}"/>
                  </a:ext>
                </a:extLst>
              </p:cNvPr>
              <p:cNvSpPr txBox="1"/>
              <p:nvPr/>
            </p:nvSpPr>
            <p:spPr>
              <a:xfrm>
                <a:off x="325586" y="3245365"/>
                <a:ext cx="5770414" cy="7559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>
                  <a:lnSpc>
                    <a:spcPct val="115000"/>
                  </a:lnSpc>
                  <a:spcAft>
                    <a:spcPts val="1000"/>
                  </a:spcAft>
                </a:pPr>
                <a:r>
                  <a:rPr lang="en-US" sz="2400" b="1" dirty="0">
                    <a:solidFill>
                      <a:srgbClr val="FF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</a:t>
                </a:r>
                <a:r>
                  <a:rPr lang="en-US" sz="2400" b="1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rgbClr val="0070C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?</m:t>
                        </m:r>
                        <m:r>
                          <m:rPr>
                            <m:nor/>
                          </m:rPr>
                          <a: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rgbClr val="0070C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?</m:t>
                        </m:r>
                        <m:r>
                          <m:rPr>
                            <m:nor/>
                          </m:rPr>
                          <a:rPr lang="en-US" sz="2400" b="1" baseline="-25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 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rgbClr val="00B0F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?</m:t>
                        </m:r>
                        <m:r>
                          <m:rPr>
                            <m:nor/>
                          </m:rPr>
                          <a: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rgbClr val="00B0F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?</m:t>
                        </m:r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rgbClr val="00B05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1" dirty="0">
                            <a:solidFill>
                              <a:srgbClr val="FF0000"/>
                            </a:solidFill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?</m:t>
                        </m:r>
                      </m:den>
                    </m:f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?</m:t>
                    </m:r>
                  </m:oMath>
                </a14:m>
                <a:endParaRPr lang="en-US" sz="2400" baseline="-25000" dirty="0">
                  <a:solidFill>
                    <a:srgbClr val="FF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C34A8E-E1F2-5E00-B17C-903E577A0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86" y="3245365"/>
                <a:ext cx="5770414" cy="755976"/>
              </a:xfrm>
              <a:prstGeom prst="rect">
                <a:avLst/>
              </a:prstGeom>
              <a:blipFill>
                <a:blip r:embed="rId4"/>
                <a:stretch>
                  <a:fillRect b="-7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9BEF5D9-4EDF-0E63-84B9-A77270EABF34}"/>
              </a:ext>
            </a:extLst>
          </p:cNvPr>
          <p:cNvSpPr txBox="1"/>
          <p:nvPr/>
        </p:nvSpPr>
        <p:spPr>
          <a:xfrm>
            <a:off x="475915" y="4619695"/>
            <a:ext cx="6463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Need to know lever arm values for both methods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590AC2-D7E4-91F2-C127-C203A4D9B8A2}"/>
              </a:ext>
            </a:extLst>
          </p:cNvPr>
          <p:cNvSpPr txBox="1"/>
          <p:nvPr/>
        </p:nvSpPr>
        <p:spPr>
          <a:xfrm>
            <a:off x="651297" y="5218563"/>
            <a:ext cx="12596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000" b="1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Warm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4FCBA-A6BD-B133-78C6-CE2320C7BB90}"/>
              </a:ext>
            </a:extLst>
          </p:cNvPr>
          <p:cNvSpPr txBox="1"/>
          <p:nvPr/>
        </p:nvSpPr>
        <p:spPr>
          <a:xfrm>
            <a:off x="651297" y="5720750"/>
            <a:ext cx="12596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000" b="1" baseline="-250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dbell </a:t>
            </a:r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 </a:t>
            </a: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8F2952-5BDC-9CFF-F618-BE458FDF3A36}"/>
              </a:ext>
            </a:extLst>
          </p:cNvPr>
          <p:cNvSpPr txBox="1"/>
          <p:nvPr/>
        </p:nvSpPr>
        <p:spPr>
          <a:xfrm>
            <a:off x="651297" y="6222937"/>
            <a:ext cx="12596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0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1A511A-2F63-EBCF-B2AC-5F61405DB6CD}"/>
              </a:ext>
            </a:extLst>
          </p:cNvPr>
          <p:cNvSpPr/>
          <p:nvPr/>
        </p:nvSpPr>
        <p:spPr>
          <a:xfrm>
            <a:off x="296779" y="4588042"/>
            <a:ext cx="6697579" cy="219776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DFDF8B-5C50-8E19-33C2-06824EF7994E}"/>
              </a:ext>
            </a:extLst>
          </p:cNvPr>
          <p:cNvSpPr txBox="1"/>
          <p:nvPr/>
        </p:nvSpPr>
        <p:spPr>
          <a:xfrm>
            <a:off x="7327533" y="5823284"/>
            <a:ext cx="33003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Are the results the same?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32B49D-F54E-4F6E-AE16-6501081FB030}"/>
              </a:ext>
            </a:extLst>
          </p:cNvPr>
          <p:cNvSpPr txBox="1"/>
          <p:nvPr/>
        </p:nvSpPr>
        <p:spPr>
          <a:xfrm>
            <a:off x="10475494" y="5720750"/>
            <a:ext cx="1275348" cy="713874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279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5D80AD-4338-4052-B537-3CD56EDD8F9F}"/>
              </a:ext>
            </a:extLst>
          </p:cNvPr>
          <p:cNvSpPr txBox="1"/>
          <p:nvPr/>
        </p:nvSpPr>
        <p:spPr>
          <a:xfrm>
            <a:off x="1000839" y="853010"/>
            <a:ext cx="533963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ym typeface="Symbol" panose="05050102010706020507" pitchFamily="18" charset="2"/>
              </a:rPr>
              <a:t>F</a:t>
            </a:r>
            <a:r>
              <a:rPr lang="en-US" sz="2400" baseline="-25000" dirty="0">
                <a:sym typeface="Symbol" panose="05050102010706020507" pitchFamily="18" charset="2"/>
              </a:rPr>
              <a:t>forearm/hand </a:t>
            </a:r>
            <a:r>
              <a:rPr lang="en-US" sz="2400" dirty="0">
                <a:sym typeface="Symbol" panose="05050102010706020507" pitchFamily="18" charset="2"/>
              </a:rPr>
              <a:t>= 0</a:t>
            </a:r>
          </a:p>
          <a:p>
            <a:r>
              <a:rPr lang="en-US" sz="2400" dirty="0">
                <a:sym typeface="Symbol" panose="05050102010706020507" pitchFamily="18" charset="2"/>
              </a:rPr>
              <a:t>-</a:t>
            </a:r>
            <a:r>
              <a:rPr 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W</a:t>
            </a:r>
            <a:r>
              <a:rPr lang="en-US" sz="2400" baseline="-25000" dirty="0">
                <a:solidFill>
                  <a:srgbClr val="0070C0"/>
                </a:solidFill>
                <a:sym typeface="Symbol" panose="05050102010706020507" pitchFamily="18" charset="2"/>
              </a:rPr>
              <a:t>arm</a:t>
            </a:r>
            <a:r>
              <a:rPr lang="en-US" sz="2400" dirty="0">
                <a:sym typeface="Symbol" panose="05050102010706020507" pitchFamily="18" charset="2"/>
              </a:rPr>
              <a:t> - </a:t>
            </a: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M</a:t>
            </a:r>
            <a:r>
              <a:rPr lang="en-US" sz="24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triceps</a:t>
            </a:r>
            <a:r>
              <a:rPr lang="en-US" sz="2400" dirty="0">
                <a:sym typeface="Symbol" panose="05050102010706020507" pitchFamily="18" charset="2"/>
              </a:rPr>
              <a:t> – </a:t>
            </a:r>
            <a:r>
              <a:rPr lang="en-US" sz="2400" dirty="0">
                <a:solidFill>
                  <a:srgbClr val="00B0F0"/>
                </a:solidFill>
                <a:sym typeface="Symbol" panose="05050102010706020507" pitchFamily="18" charset="2"/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  <a:sym typeface="Symbol" panose="05050102010706020507" pitchFamily="18" charset="2"/>
              </a:rPr>
              <a:t>dumbell</a:t>
            </a:r>
            <a:r>
              <a:rPr lang="en-US" sz="2400" dirty="0">
                <a:sym typeface="Symbol" panose="05050102010706020507" pitchFamily="18" charset="2"/>
              </a:rPr>
              <a:t> +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sym typeface="Symbol" panose="05050102010706020507" pitchFamily="18" charset="2"/>
              </a:rPr>
              <a:t>J</a:t>
            </a:r>
            <a:r>
              <a:rPr lang="en-US" sz="2400" dirty="0">
                <a:sym typeface="Symbol" panose="05050102010706020507" pitchFamily="18" charset="2"/>
              </a:rPr>
              <a:t> = 0</a:t>
            </a:r>
          </a:p>
          <a:p>
            <a:r>
              <a:rPr lang="en-US" sz="2400" dirty="0">
                <a:sym typeface="Symbol" panose="05050102010706020507" pitchFamily="18" charset="2"/>
              </a:rPr>
              <a:t>     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sym typeface="Symbol" panose="05050102010706020507" pitchFamily="18" charset="2"/>
              </a:rPr>
              <a:t>J</a:t>
            </a:r>
            <a:r>
              <a:rPr lang="en-US" sz="2400" dirty="0">
                <a:sym typeface="Symbol" panose="05050102010706020507" pitchFamily="18" charset="2"/>
              </a:rPr>
              <a:t> = </a:t>
            </a:r>
            <a:r>
              <a:rPr 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W</a:t>
            </a:r>
            <a:r>
              <a:rPr lang="en-US" sz="2400" baseline="-25000" dirty="0">
                <a:solidFill>
                  <a:srgbClr val="0070C0"/>
                </a:solidFill>
                <a:sym typeface="Symbol" panose="05050102010706020507" pitchFamily="18" charset="2"/>
              </a:rPr>
              <a:t>arm</a:t>
            </a:r>
            <a:r>
              <a:rPr lang="en-US" sz="2400" dirty="0">
                <a:sym typeface="Symbol" panose="05050102010706020507" pitchFamily="18" charset="2"/>
              </a:rPr>
              <a:t> + </a:t>
            </a:r>
            <a:r>
              <a:rPr 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M</a:t>
            </a:r>
            <a:r>
              <a:rPr lang="en-US" sz="2400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triceps</a:t>
            </a:r>
            <a:r>
              <a:rPr lang="en-US" sz="2400" dirty="0">
                <a:sym typeface="Symbol" panose="05050102010706020507" pitchFamily="18" charset="2"/>
              </a:rPr>
              <a:t> + </a:t>
            </a:r>
            <a:r>
              <a:rPr lang="en-US" sz="2400" dirty="0">
                <a:solidFill>
                  <a:srgbClr val="00B0F0"/>
                </a:solidFill>
                <a:sym typeface="Symbol" panose="05050102010706020507" pitchFamily="18" charset="2"/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  <a:sym typeface="Symbol" panose="05050102010706020507" pitchFamily="18" charset="2"/>
              </a:rPr>
              <a:t>dumbell</a:t>
            </a:r>
            <a:r>
              <a:rPr lang="en-US" sz="2400" dirty="0">
                <a:solidFill>
                  <a:srgbClr val="00B0F0"/>
                </a:solidFill>
                <a:sym typeface="Symbol" panose="05050102010706020507" pitchFamily="18" charset="2"/>
              </a:rPr>
              <a:t> </a:t>
            </a:r>
          </a:p>
          <a:p>
            <a:r>
              <a:rPr lang="en-US" sz="2400" b="1" dirty="0">
                <a:solidFill>
                  <a:schemeClr val="accent4">
                    <a:lumMod val="75000"/>
                  </a:schemeClr>
                </a:solidFill>
                <a:sym typeface="Symbol" panose="05050102010706020507" pitchFamily="18" charset="2"/>
              </a:rPr>
              <a:t>J</a:t>
            </a:r>
            <a:r>
              <a:rPr lang="en-US" sz="2400" dirty="0">
                <a:sym typeface="Symbol" panose="05050102010706020507" pitchFamily="18" charset="2"/>
              </a:rPr>
              <a:t> =  ?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A21142-E68E-0A44-1590-F616E1F0D6D5}"/>
              </a:ext>
            </a:extLst>
          </p:cNvPr>
          <p:cNvSpPr txBox="1"/>
          <p:nvPr/>
        </p:nvSpPr>
        <p:spPr>
          <a:xfrm>
            <a:off x="336471" y="5024283"/>
            <a:ext cx="7478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Were we justified in neglecting the weight of the arm?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24C2A-CFA8-65AB-7376-5772A12CE754}"/>
              </a:ext>
            </a:extLst>
          </p:cNvPr>
          <p:cNvSpPr/>
          <p:nvPr/>
        </p:nvSpPr>
        <p:spPr>
          <a:xfrm>
            <a:off x="7814630" y="4928187"/>
            <a:ext cx="2393879" cy="65385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589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785</Words>
  <Application>Microsoft Macintosh PowerPoint</Application>
  <PresentationFormat>Widescreen</PresentationFormat>
  <Paragraphs>160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Beverly, Nancy</dc:creator>
  <cp:lastModifiedBy>Beverly, Nancy</cp:lastModifiedBy>
  <cp:revision>12</cp:revision>
  <dcterms:created xsi:type="dcterms:W3CDTF">2023-10-22T16:50:38Z</dcterms:created>
  <dcterms:modified xsi:type="dcterms:W3CDTF">2025-11-12T18:57:22Z</dcterms:modified>
</cp:coreProperties>
</file>