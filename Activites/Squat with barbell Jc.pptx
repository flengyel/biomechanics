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316" r:id="rId3"/>
    <p:sldId id="321" r:id="rId4"/>
    <p:sldId id="317" r:id="rId5"/>
    <p:sldId id="311" r:id="rId6"/>
    <p:sldId id="319" r:id="rId7"/>
    <p:sldId id="310" r:id="rId8"/>
    <p:sldId id="320" r:id="rId9"/>
    <p:sldId id="318" r:id="rId10"/>
    <p:sldId id="28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00C4"/>
    <a:srgbClr val="490B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68" autoAdjust="0"/>
    <p:restoredTop sz="94660"/>
  </p:normalViewPr>
  <p:slideViewPr>
    <p:cSldViewPr snapToGrid="0">
      <p:cViewPr varScale="1">
        <p:scale>
          <a:sx n="179" d="100"/>
          <a:sy n="179" d="100"/>
        </p:scale>
        <p:origin x="23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3CCAB-4EE3-45B2-95D7-5806E8014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556BF-C927-410F-B728-7989294A2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46C83-D380-4CEC-9A86-7800A6787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3F06-E08C-4300-A481-E06692D4BF2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3EB62-8596-4A61-968D-B686638F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81390-398F-488F-8CEB-6BD2B71B9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965D-1708-4764-A349-29D4B0563D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1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ECC21-47A7-4B72-B1F4-E122D684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65F1C-5809-4200-8182-EB563E23F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BE55F-5EB2-4905-95EC-EB99AA0B7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3F06-E08C-4300-A481-E06692D4BF2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E299B-4761-4DE1-9D33-44E973A54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482CB-2150-45EA-A653-7C5D89234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965D-1708-4764-A349-29D4B0563D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37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5835-DD7D-4E19-97A7-47A41BC75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20AF8-1061-4E9D-82F8-B73BFB693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B2A9C-69AE-4C6E-8869-31B61D49B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3F06-E08C-4300-A481-E06692D4BF2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9C386-D457-42D8-8982-8F14D1511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99BCB-C755-4920-82C0-6D0D2F8C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965D-1708-4764-A349-29D4B0563D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225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E324-62FE-4BFF-B57B-087A2409C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814DF-4FC2-4273-B5E2-96E099E897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34A3C-B77E-47B5-BFEA-F0A7614E9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4A03B-4ABB-40B8-8ABD-488D7DCCF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3F06-E08C-4300-A481-E06692D4BF2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EF8CC-D483-48F9-8BD1-4589F44E8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71501-80AB-4AE5-BDC8-53E9E3FD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965D-1708-4764-A349-29D4B0563D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860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D0588-E427-4CEB-BEB1-6799162D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36F7F-9793-4F12-844E-0427C6DA7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4AE9D-5F69-4EBD-BCD9-8CA1ED89D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62664D-D571-4F23-85CC-80925D21A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23A99F-7CCF-475D-80B8-051F383CC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99EA0C-117A-41E4-9D81-EAA129CFB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3F06-E08C-4300-A481-E06692D4BF2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2942FD-6CEB-448F-B72A-09CB782C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5B806D-E056-47E6-A2AD-EFB57D7D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965D-1708-4764-A349-29D4B0563D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368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FAA9-89FA-4659-BF09-52EC9AD75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91E1-1C71-4698-BD23-065599EFF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3F06-E08C-4300-A481-E06692D4BF2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E1C4C-BA03-4E29-9BBE-B1CA73BB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F94C3-DC58-44D7-B71A-F78D07454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965D-1708-4764-A349-29D4B0563D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79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34EFF-0BA4-4E6B-AA73-54CA8DDB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3F06-E08C-4300-A481-E06692D4BF2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4E6D5A-D645-4451-802A-9B9CDBB2B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19D89-6755-4F8C-8E6E-066EA9CE7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965D-1708-4764-A349-29D4B0563D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9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D20D1-11D2-4514-ADE0-0AE76221A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88683-5554-4E39-BE47-C2FA50D63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11128-B447-4C77-8C21-4C80741F1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9B70D-D0D5-48B6-B4E0-A5FC5352C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3F06-E08C-4300-A481-E06692D4BF2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AD48D-23DC-48BB-8ABD-87C4CF66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07DA6-9F7B-4B96-BB5D-75750094F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965D-1708-4764-A349-29D4B0563D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971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AD88-ED5F-40DE-B84C-4A5FE5136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A4A08-13DC-4249-8C6A-2843502709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2E88C-5825-44F0-A9B8-BAC8D518A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B4CC1-5F50-42C9-B24D-C2299ADD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3F06-E08C-4300-A481-E06692D4BF2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E7B06-40EF-4FE7-9D88-88E6DFE51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3981D-F825-4A74-8444-5938F217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965D-1708-4764-A349-29D4B0563D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11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30034-EA59-479E-B9AD-22664C20F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60C51-30B4-4592-8F00-DA966186C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0DAB8-37E5-4633-895E-7C917BAD0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3F06-E08C-4300-A481-E06692D4BF2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B8A5F-72FC-4221-BAC2-F9154D4F0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A434A-5B98-4DD0-9E77-ABC46B3F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965D-1708-4764-A349-29D4B0563D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E747C3-12B2-46B9-85D5-0E8186271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4DA2B-841E-4158-B616-3AF46721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43B2C-C7EA-480F-AC76-96895D5F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3F06-E08C-4300-A481-E06692D4BF2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0EFC0-99E6-4402-B6F0-0A39F423D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CB756-7CC5-40FE-95C6-1DB6CD69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965D-1708-4764-A349-29D4B0563D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85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1E0E44-747C-4C39-8CB2-D73E89DC0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5E155-5C06-4A81-9068-732B4B7BC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7B252-CCA8-439A-964E-997B242B5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33F06-E08C-4300-A481-E06692D4BF22}" type="datetimeFigureOut">
              <a:rPr lang="en-US" smtClean="0"/>
              <a:t>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7F880-6BE7-4366-9E9B-71A623FCD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6503E-FEE3-4115-9727-9034D8BF5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C965D-1708-4764-A349-29D4B0563D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60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ncbi.nlm.nih.gov/pmc/articles/PMC7547162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hyperlink" Target="https://www.wikihow.com/Measure-Knee-Flexion-at-Hom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4BC7B7-6CE7-7F24-3ACA-44A0DCD6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8" y="57330"/>
            <a:ext cx="4560988" cy="674087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5797796-9839-4F67-A7D4-C6265F9AE8B2}"/>
              </a:ext>
            </a:extLst>
          </p:cNvPr>
          <p:cNvCxnSpPr>
            <a:cxnSpLocks/>
          </p:cNvCxnSpPr>
          <p:nvPr/>
        </p:nvCxnSpPr>
        <p:spPr>
          <a:xfrm>
            <a:off x="3010718" y="3506395"/>
            <a:ext cx="0" cy="868053"/>
          </a:xfrm>
          <a:prstGeom prst="straightConnector1">
            <a:avLst/>
          </a:prstGeom>
          <a:ln w="762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6AFB79-7A9A-487E-A507-190679E9C4E1}"/>
              </a:ext>
            </a:extLst>
          </p:cNvPr>
          <p:cNvCxnSpPr>
            <a:cxnSpLocks/>
          </p:cNvCxnSpPr>
          <p:nvPr/>
        </p:nvCxnSpPr>
        <p:spPr>
          <a:xfrm>
            <a:off x="2854364" y="2396428"/>
            <a:ext cx="0" cy="2753208"/>
          </a:xfrm>
          <a:prstGeom prst="straightConnector1">
            <a:avLst/>
          </a:prstGeom>
          <a:ln w="76200">
            <a:solidFill>
              <a:srgbClr val="C600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DF520DC-8451-4534-BE16-E53531A8B12A}"/>
              </a:ext>
            </a:extLst>
          </p:cNvPr>
          <p:cNvSpPr txBox="1"/>
          <p:nvPr/>
        </p:nvSpPr>
        <p:spPr>
          <a:xfrm>
            <a:off x="2901497" y="2978485"/>
            <a:ext cx="1318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600C4"/>
                </a:solidFill>
              </a:rPr>
              <a:t>F</a:t>
            </a:r>
            <a:r>
              <a:rPr lang="en-US" sz="2400" b="1" baseline="-25000" dirty="0">
                <a:solidFill>
                  <a:srgbClr val="C600C4"/>
                </a:solidFill>
              </a:rPr>
              <a:t>barbell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B92477-1DC3-45FA-9138-079BCC5542EC}"/>
              </a:ext>
            </a:extLst>
          </p:cNvPr>
          <p:cNvSpPr txBox="1"/>
          <p:nvPr/>
        </p:nvSpPr>
        <p:spPr>
          <a:xfrm>
            <a:off x="3176426" y="3728811"/>
            <a:ext cx="924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W</a:t>
            </a:r>
            <a:r>
              <a:rPr lang="en-US" sz="2400" b="1" baseline="-25000" dirty="0">
                <a:solidFill>
                  <a:srgbClr val="92D050"/>
                </a:solidFill>
              </a:rPr>
              <a:t>body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B1CE51-AC48-4DE2-BC5B-95045AC567F8}"/>
              </a:ext>
            </a:extLst>
          </p:cNvPr>
          <p:cNvSpPr txBox="1"/>
          <p:nvPr/>
        </p:nvSpPr>
        <p:spPr>
          <a:xfrm>
            <a:off x="1273727" y="5736704"/>
            <a:ext cx="728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n</a:t>
            </a:r>
            <a:r>
              <a:rPr lang="en-US" sz="2400" b="1" baseline="-25000" dirty="0">
                <a:solidFill>
                  <a:srgbClr val="00B0F0"/>
                </a:solidFill>
              </a:rPr>
              <a:t>left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831168-9E4C-441B-B513-7A37F15C68C3}"/>
              </a:ext>
            </a:extLst>
          </p:cNvPr>
          <p:cNvSpPr txBox="1"/>
          <p:nvPr/>
        </p:nvSpPr>
        <p:spPr>
          <a:xfrm>
            <a:off x="5717205" y="1980930"/>
            <a:ext cx="30194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Force Equilibrium Eqn.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                  F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6D46C8-D544-455F-BDE8-4889FBFA64CA}"/>
              </a:ext>
            </a:extLst>
          </p:cNvPr>
          <p:cNvSpPr txBox="1"/>
          <p:nvPr/>
        </p:nvSpPr>
        <p:spPr>
          <a:xfrm>
            <a:off x="5717207" y="61147"/>
            <a:ext cx="4414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Jason is lifting 3x his body weight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1C8652-A452-4F7A-94A1-3F88380E6818}"/>
              </a:ext>
            </a:extLst>
          </p:cNvPr>
          <p:cNvSpPr txBox="1"/>
          <p:nvPr/>
        </p:nvSpPr>
        <p:spPr>
          <a:xfrm>
            <a:off x="5717205" y="1148225"/>
            <a:ext cx="3019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System: whole person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D4382C2-5559-7A30-5C03-897665B0A79E}"/>
              </a:ext>
            </a:extLst>
          </p:cNvPr>
          <p:cNvCxnSpPr>
            <a:cxnSpLocks/>
          </p:cNvCxnSpPr>
          <p:nvPr/>
        </p:nvCxnSpPr>
        <p:spPr>
          <a:xfrm flipV="1">
            <a:off x="2104350" y="4553798"/>
            <a:ext cx="0" cy="2088273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579A39-5627-8823-FD77-2245AA0EAC7E}"/>
              </a:ext>
            </a:extLst>
          </p:cNvPr>
          <p:cNvSpPr txBox="1"/>
          <p:nvPr/>
        </p:nvSpPr>
        <p:spPr>
          <a:xfrm>
            <a:off x="5698785" y="716903"/>
            <a:ext cx="5595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This picture is not at the best angle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B1225C-55E8-1D29-F754-6BEED191915D}"/>
              </a:ext>
            </a:extLst>
          </p:cNvPr>
          <p:cNvCxnSpPr>
            <a:cxnSpLocks/>
          </p:cNvCxnSpPr>
          <p:nvPr/>
        </p:nvCxnSpPr>
        <p:spPr>
          <a:xfrm flipV="1">
            <a:off x="6096000" y="2717783"/>
            <a:ext cx="0" cy="204455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A5EAED-0DA2-516E-91CC-850F3832B87F}"/>
              </a:ext>
            </a:extLst>
          </p:cNvPr>
          <p:cNvCxnSpPr>
            <a:cxnSpLocks/>
          </p:cNvCxnSpPr>
          <p:nvPr/>
        </p:nvCxnSpPr>
        <p:spPr>
          <a:xfrm>
            <a:off x="7226917" y="2811927"/>
            <a:ext cx="0" cy="2753208"/>
          </a:xfrm>
          <a:prstGeom prst="straightConnector1">
            <a:avLst/>
          </a:prstGeom>
          <a:ln w="76200">
            <a:solidFill>
              <a:srgbClr val="C600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6076C9-2EE3-D800-3C04-73504BA8259A}"/>
              </a:ext>
            </a:extLst>
          </p:cNvPr>
          <p:cNvCxnSpPr>
            <a:cxnSpLocks/>
          </p:cNvCxnSpPr>
          <p:nvPr/>
        </p:nvCxnSpPr>
        <p:spPr>
          <a:xfrm>
            <a:off x="9887921" y="3201673"/>
            <a:ext cx="0" cy="1076779"/>
          </a:xfrm>
          <a:prstGeom prst="straightConnector1">
            <a:avLst/>
          </a:prstGeom>
          <a:ln w="762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D48CDAC-581F-4890-9ABF-35BD9FEDAFBD}"/>
              </a:ext>
            </a:extLst>
          </p:cNvPr>
          <p:cNvSpPr txBox="1"/>
          <p:nvPr/>
        </p:nvSpPr>
        <p:spPr>
          <a:xfrm>
            <a:off x="9887920" y="3391283"/>
            <a:ext cx="924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W</a:t>
            </a:r>
            <a:r>
              <a:rPr lang="en-US" sz="2400" b="1" baseline="-25000" dirty="0">
                <a:solidFill>
                  <a:srgbClr val="92D050"/>
                </a:solidFill>
              </a:rPr>
              <a:t>body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1DB350-E0B9-E641-424C-4A782CB03F72}"/>
              </a:ext>
            </a:extLst>
          </p:cNvPr>
          <p:cNvSpPr txBox="1"/>
          <p:nvPr/>
        </p:nvSpPr>
        <p:spPr>
          <a:xfrm>
            <a:off x="7324726" y="3253504"/>
            <a:ext cx="2323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600C4"/>
                </a:solidFill>
              </a:rPr>
              <a:t>F</a:t>
            </a:r>
            <a:r>
              <a:rPr lang="en-US" sz="2400" b="1" baseline="-25000" dirty="0">
                <a:solidFill>
                  <a:srgbClr val="C600C4"/>
                </a:solidFill>
              </a:rPr>
              <a:t>barbell </a:t>
            </a:r>
            <a:r>
              <a:rPr lang="en-US" sz="2400" b="1" dirty="0">
                <a:solidFill>
                  <a:srgbClr val="C600C4"/>
                </a:solidFill>
              </a:rPr>
              <a:t>= 3W</a:t>
            </a:r>
            <a:r>
              <a:rPr lang="en-US" sz="2400" b="1" baseline="-25000" dirty="0">
                <a:solidFill>
                  <a:srgbClr val="C600C4"/>
                </a:solidFill>
              </a:rPr>
              <a:t>body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DED0B9-BA93-D824-A65E-67B98EF2A5A4}"/>
              </a:ext>
            </a:extLst>
          </p:cNvPr>
          <p:cNvSpPr txBox="1"/>
          <p:nvPr/>
        </p:nvSpPr>
        <p:spPr>
          <a:xfrm>
            <a:off x="6080240" y="3343217"/>
            <a:ext cx="828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n</a:t>
            </a:r>
            <a:r>
              <a:rPr lang="en-US" sz="2400" b="1" baseline="-25000" dirty="0">
                <a:solidFill>
                  <a:srgbClr val="00B0F0"/>
                </a:solidFill>
              </a:rPr>
              <a:t>right</a:t>
            </a:r>
            <a:endParaRPr lang="en-US" sz="2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450DFF-D529-8913-0FD6-118C4802FB47}"/>
              </a:ext>
            </a:extLst>
          </p:cNvPr>
          <p:cNvSpPr txBox="1"/>
          <p:nvPr/>
        </p:nvSpPr>
        <p:spPr>
          <a:xfrm>
            <a:off x="6763704" y="3336336"/>
            <a:ext cx="463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+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445756-36DC-3E7C-D62F-E21270305CAC}"/>
              </a:ext>
            </a:extLst>
          </p:cNvPr>
          <p:cNvSpPr txBox="1"/>
          <p:nvPr/>
        </p:nvSpPr>
        <p:spPr>
          <a:xfrm>
            <a:off x="9377576" y="3289487"/>
            <a:ext cx="463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+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D19A7F-9313-1350-6C0A-B19427E8457E}"/>
              </a:ext>
            </a:extLst>
          </p:cNvPr>
          <p:cNvSpPr txBox="1"/>
          <p:nvPr/>
        </p:nvSpPr>
        <p:spPr>
          <a:xfrm>
            <a:off x="10916617" y="3329727"/>
            <a:ext cx="784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= 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EA581E-A64B-1F66-104A-142487C914C2}"/>
              </a:ext>
            </a:extLst>
          </p:cNvPr>
          <p:cNvSpPr txBox="1"/>
          <p:nvPr/>
        </p:nvSpPr>
        <p:spPr>
          <a:xfrm>
            <a:off x="8176421" y="5211348"/>
            <a:ext cx="27401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n</a:t>
            </a:r>
            <a:r>
              <a:rPr lang="en-US" sz="2400" b="1" baseline="-25000" dirty="0">
                <a:solidFill>
                  <a:srgbClr val="00B0F0"/>
                </a:solidFill>
              </a:rPr>
              <a:t>left </a:t>
            </a:r>
            <a:r>
              <a:rPr lang="en-US" sz="2400" b="1" dirty="0"/>
              <a:t>=</a:t>
            </a:r>
            <a:r>
              <a:rPr lang="en-US" sz="2400" b="1" dirty="0">
                <a:solidFill>
                  <a:srgbClr val="00B0F0"/>
                </a:solidFill>
              </a:rPr>
              <a:t>  </a:t>
            </a:r>
            <a:r>
              <a:rPr lang="en-US" sz="2400" b="1" dirty="0">
                <a:solidFill>
                  <a:srgbClr val="C00000"/>
                </a:solidFill>
              </a:rPr>
              <a:t>?</a:t>
            </a:r>
            <a:r>
              <a:rPr lang="en-US" sz="2400" b="1" dirty="0">
                <a:solidFill>
                  <a:srgbClr val="00B0F0"/>
                </a:solidFill>
              </a:rPr>
              <a:t>  </a:t>
            </a:r>
            <a:r>
              <a:rPr lang="en-US" sz="2400" b="1" dirty="0">
                <a:solidFill>
                  <a:srgbClr val="00B050"/>
                </a:solidFill>
              </a:rPr>
              <a:t>W</a:t>
            </a:r>
            <a:r>
              <a:rPr lang="en-US" sz="2400" b="1" baseline="-25000" dirty="0">
                <a:solidFill>
                  <a:srgbClr val="00B050"/>
                </a:solidFill>
              </a:rPr>
              <a:t>body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endParaRPr lang="en-US" sz="2400" dirty="0">
              <a:solidFill>
                <a:srgbClr val="00B05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8D9F05F-8B35-98C5-B965-CE55A84F1F2F}"/>
              </a:ext>
            </a:extLst>
          </p:cNvPr>
          <p:cNvCxnSpPr>
            <a:cxnSpLocks/>
          </p:cNvCxnSpPr>
          <p:nvPr/>
        </p:nvCxnSpPr>
        <p:spPr>
          <a:xfrm flipV="1">
            <a:off x="3329694" y="4374448"/>
            <a:ext cx="0" cy="2088273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A3B1325-F05A-BAEC-B6E6-BC1F50166368}"/>
              </a:ext>
            </a:extLst>
          </p:cNvPr>
          <p:cNvSpPr txBox="1"/>
          <p:nvPr/>
        </p:nvSpPr>
        <p:spPr>
          <a:xfrm>
            <a:off x="3340478" y="5334302"/>
            <a:ext cx="1099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n</a:t>
            </a:r>
            <a:r>
              <a:rPr lang="en-US" sz="2400" b="1" baseline="-25000" dirty="0">
                <a:solidFill>
                  <a:srgbClr val="00B0F0"/>
                </a:solidFill>
              </a:rPr>
              <a:t>right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9D8D6BF-CCDE-114C-5979-C184A80F5CF9}"/>
              </a:ext>
            </a:extLst>
          </p:cNvPr>
          <p:cNvCxnSpPr>
            <a:cxnSpLocks/>
          </p:cNvCxnSpPr>
          <p:nvPr/>
        </p:nvCxnSpPr>
        <p:spPr>
          <a:xfrm flipV="1">
            <a:off x="4874110" y="2669616"/>
            <a:ext cx="0" cy="204455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9A6CBA5-80F3-012A-E1D3-735FD4A3FAC1}"/>
              </a:ext>
            </a:extLst>
          </p:cNvPr>
          <p:cNvSpPr txBox="1"/>
          <p:nvPr/>
        </p:nvSpPr>
        <p:spPr>
          <a:xfrm>
            <a:off x="5471183" y="3343217"/>
            <a:ext cx="463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+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15CF8F-9683-4488-367C-07A52CDAEB2D}"/>
              </a:ext>
            </a:extLst>
          </p:cNvPr>
          <p:cNvSpPr txBox="1"/>
          <p:nvPr/>
        </p:nvSpPr>
        <p:spPr>
          <a:xfrm>
            <a:off x="4920831" y="3440150"/>
            <a:ext cx="828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n</a:t>
            </a:r>
            <a:r>
              <a:rPr lang="en-US" sz="2400" b="1" baseline="-25000" dirty="0">
                <a:solidFill>
                  <a:srgbClr val="00B0F0"/>
                </a:solidFill>
              </a:rPr>
              <a:t>left</a:t>
            </a:r>
            <a:endParaRPr lang="en-US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BC4FEA-FEAB-2DC2-0C0F-96314830BB3F}"/>
              </a:ext>
            </a:extLst>
          </p:cNvPr>
          <p:cNvSpPr txBox="1"/>
          <p:nvPr/>
        </p:nvSpPr>
        <p:spPr>
          <a:xfrm>
            <a:off x="5589142" y="6198369"/>
            <a:ext cx="215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0945EB-CD69-9993-138B-975BEC760BEA}"/>
              </a:ext>
            </a:extLst>
          </p:cNvPr>
          <p:cNvSpPr txBox="1"/>
          <p:nvPr/>
        </p:nvSpPr>
        <p:spPr>
          <a:xfrm>
            <a:off x="6581149" y="6152202"/>
            <a:ext cx="828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n</a:t>
            </a:r>
            <a:r>
              <a:rPr lang="en-US" sz="2400" b="1" baseline="-25000" dirty="0">
                <a:solidFill>
                  <a:srgbClr val="00B0F0"/>
                </a:solidFill>
              </a:rPr>
              <a:t>left</a:t>
            </a:r>
            <a:endParaRPr lang="en-US" sz="2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59044C-C102-C474-44B5-70836C17B7D3}"/>
              </a:ext>
            </a:extLst>
          </p:cNvPr>
          <p:cNvSpPr txBox="1"/>
          <p:nvPr/>
        </p:nvSpPr>
        <p:spPr>
          <a:xfrm>
            <a:off x="7550126" y="6152202"/>
            <a:ext cx="828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n</a:t>
            </a:r>
            <a:r>
              <a:rPr lang="en-US" sz="2400" b="1" baseline="-25000" dirty="0">
                <a:solidFill>
                  <a:srgbClr val="00B0F0"/>
                </a:solidFill>
              </a:rPr>
              <a:t>right</a:t>
            </a:r>
            <a:endParaRPr lang="en-US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BFE052-F238-2AA7-0FD5-BAF535088915}"/>
              </a:ext>
            </a:extLst>
          </p:cNvPr>
          <p:cNvSpPr txBox="1"/>
          <p:nvPr/>
        </p:nvSpPr>
        <p:spPr>
          <a:xfrm>
            <a:off x="7226917" y="6180405"/>
            <a:ext cx="742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877211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A6A31BEF-87BC-63CB-421C-C7FD1A3DA2D8}"/>
              </a:ext>
            </a:extLst>
          </p:cNvPr>
          <p:cNvGrpSpPr/>
          <p:nvPr/>
        </p:nvGrpSpPr>
        <p:grpSpPr>
          <a:xfrm>
            <a:off x="366570" y="787531"/>
            <a:ext cx="4241800" cy="5994400"/>
            <a:chOff x="709890" y="652307"/>
            <a:chExt cx="4241800" cy="59944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B2EB196-2AB3-FE25-1398-BC32815B3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9890" y="652307"/>
              <a:ext cx="4241800" cy="599440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46AD619-C546-41BA-BF88-B2A7859B6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2265" y="4847112"/>
              <a:ext cx="0" cy="1667255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125E6E9-674E-4B53-946C-41697FB485E6}"/>
                </a:ext>
              </a:extLst>
            </p:cNvPr>
            <p:cNvSpPr txBox="1"/>
            <p:nvPr/>
          </p:nvSpPr>
          <p:spPr>
            <a:xfrm>
              <a:off x="1837225" y="6185042"/>
              <a:ext cx="1005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F0"/>
                  </a:solidFill>
                </a:rPr>
                <a:t>n</a:t>
              </a:r>
              <a:r>
                <a:rPr lang="en-US" sz="2400" b="1" baseline="-25000" dirty="0">
                  <a:solidFill>
                    <a:srgbClr val="00B0F0"/>
                  </a:solidFill>
                </a:rPr>
                <a:t>left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B91DD53-A83A-C537-DC7D-E3206B22A1CA}"/>
              </a:ext>
            </a:extLst>
          </p:cNvPr>
          <p:cNvGrpSpPr/>
          <p:nvPr/>
        </p:nvGrpSpPr>
        <p:grpSpPr>
          <a:xfrm>
            <a:off x="4496147" y="775655"/>
            <a:ext cx="4241800" cy="6006276"/>
            <a:chOff x="7456981" y="725257"/>
            <a:chExt cx="4241800" cy="600627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3E385EF-ECFD-B367-35EF-6006E7006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56981" y="725257"/>
              <a:ext cx="4241800" cy="5994400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B3C1BF1-3521-7E68-02C4-4CB31D7744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8676" y="4538157"/>
              <a:ext cx="0" cy="2053832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86B411-6FCF-3562-1DFF-D9F329EFB8C4}"/>
                </a:ext>
              </a:extLst>
            </p:cNvPr>
            <p:cNvSpPr txBox="1"/>
            <p:nvPr/>
          </p:nvSpPr>
          <p:spPr>
            <a:xfrm>
              <a:off x="8768480" y="6269868"/>
              <a:ext cx="1005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F0"/>
                  </a:solidFill>
                </a:rPr>
                <a:t>n</a:t>
              </a:r>
              <a:r>
                <a:rPr lang="en-US" sz="2400" b="1" baseline="-25000" dirty="0">
                  <a:solidFill>
                    <a:srgbClr val="00B0F0"/>
                  </a:solidFill>
                </a:rPr>
                <a:t>left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A943CE0D-F3B0-3B85-2A5E-95FC1B5738C7}"/>
              </a:ext>
            </a:extLst>
          </p:cNvPr>
          <p:cNvSpPr/>
          <p:nvPr/>
        </p:nvSpPr>
        <p:spPr>
          <a:xfrm flipV="1">
            <a:off x="3232629" y="3784607"/>
            <a:ext cx="221948" cy="181088"/>
          </a:xfrm>
          <a:prstGeom prst="ellipse">
            <a:avLst/>
          </a:prstGeom>
          <a:solidFill>
            <a:srgbClr val="FFC000"/>
          </a:solidFill>
          <a:ln w="412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FEDB87-CB54-99BC-8B7D-7A22447E2B42}"/>
              </a:ext>
            </a:extLst>
          </p:cNvPr>
          <p:cNvSpPr txBox="1"/>
          <p:nvPr/>
        </p:nvSpPr>
        <p:spPr>
          <a:xfrm>
            <a:off x="366469" y="719393"/>
            <a:ext cx="3394723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Lever system:  </a:t>
            </a:r>
            <a:r>
              <a:rPr lang="en-US" sz="2400" dirty="0">
                <a:solidFill>
                  <a:srgbClr val="0070C0"/>
                </a:solidFill>
              </a:rPr>
              <a:t>whole leg</a:t>
            </a:r>
          </a:p>
          <a:p>
            <a:r>
              <a:rPr lang="en-US" sz="2400" dirty="0"/>
              <a:t>Joint axis: </a:t>
            </a:r>
            <a:r>
              <a:rPr lang="en-US" sz="2400" dirty="0">
                <a:solidFill>
                  <a:srgbClr val="0070C0"/>
                </a:solidFill>
              </a:rPr>
              <a:t>hip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4E27C42-0E99-CFF4-EB15-A9D1ABEF968A}"/>
              </a:ext>
            </a:extLst>
          </p:cNvPr>
          <p:cNvSpPr/>
          <p:nvPr/>
        </p:nvSpPr>
        <p:spPr>
          <a:xfrm flipV="1">
            <a:off x="5303794" y="4093479"/>
            <a:ext cx="221948" cy="181088"/>
          </a:xfrm>
          <a:prstGeom prst="ellipse">
            <a:avLst/>
          </a:prstGeom>
          <a:solidFill>
            <a:srgbClr val="FFC000"/>
          </a:solidFill>
          <a:ln w="412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DE1DCC06-83A4-8667-06A5-827FD01BE216}"/>
              </a:ext>
            </a:extLst>
          </p:cNvPr>
          <p:cNvSpPr/>
          <p:nvPr/>
        </p:nvSpPr>
        <p:spPr>
          <a:xfrm rot="13605758">
            <a:off x="2796924" y="5548957"/>
            <a:ext cx="886615" cy="777763"/>
          </a:xfrm>
          <a:prstGeom prst="arc">
            <a:avLst/>
          </a:prstGeom>
          <a:ln w="50800">
            <a:solidFill>
              <a:srgbClr val="00B0F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C21324-3F93-2D1F-978E-EC6253D4694C}"/>
              </a:ext>
            </a:extLst>
          </p:cNvPr>
          <p:cNvGrpSpPr/>
          <p:nvPr/>
        </p:nvGrpSpPr>
        <p:grpSpPr>
          <a:xfrm>
            <a:off x="3079751" y="4512797"/>
            <a:ext cx="1659203" cy="1015657"/>
            <a:chOff x="3079751" y="4512797"/>
            <a:chExt cx="1659203" cy="1015657"/>
          </a:xfrm>
        </p:grpSpPr>
        <p:sp>
          <p:nvSpPr>
            <p:cNvPr id="24" name="Text Box 136">
              <a:extLst>
                <a:ext uri="{FF2B5EF4-FFF2-40B4-BE49-F238E27FC236}">
                  <a16:creationId xmlns:a16="http://schemas.microsoft.com/office/drawing/2014/main" id="{C23118A2-352F-9E37-553D-28EF01712467}"/>
                </a:ext>
              </a:extLst>
            </p:cNvPr>
            <p:cNvSpPr txBox="1"/>
            <p:nvPr/>
          </p:nvSpPr>
          <p:spPr>
            <a:xfrm>
              <a:off x="3079751" y="4918242"/>
              <a:ext cx="1659203" cy="289284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>
                  <a:solidFill>
                    <a:srgbClr val="00B0F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Flexion</a:t>
              </a:r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7D94A45C-8E5C-520E-4455-ED6F16C87998}"/>
                </a:ext>
              </a:extLst>
            </p:cNvPr>
            <p:cNvSpPr/>
            <p:nvPr/>
          </p:nvSpPr>
          <p:spPr>
            <a:xfrm rot="13055400">
              <a:off x="3114738" y="4512797"/>
              <a:ext cx="764643" cy="1015657"/>
            </a:xfrm>
            <a:prstGeom prst="arc">
              <a:avLst/>
            </a:prstGeom>
            <a:ln w="50800">
              <a:solidFill>
                <a:srgbClr val="00B0F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6" name="Text Box 78">
            <a:extLst>
              <a:ext uri="{FF2B5EF4-FFF2-40B4-BE49-F238E27FC236}">
                <a16:creationId xmlns:a16="http://schemas.microsoft.com/office/drawing/2014/main" id="{C9767FF5-8037-A088-E64C-67894D3A9C64}"/>
              </a:ext>
            </a:extLst>
          </p:cNvPr>
          <p:cNvSpPr txBox="1"/>
          <p:nvPr/>
        </p:nvSpPr>
        <p:spPr>
          <a:xfrm>
            <a:off x="7009445" y="5641772"/>
            <a:ext cx="1659203" cy="28928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Extension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9DE2E46-002F-7492-6F27-64D69F2A7EDF}"/>
              </a:ext>
            </a:extLst>
          </p:cNvPr>
          <p:cNvSpPr/>
          <p:nvPr/>
        </p:nvSpPr>
        <p:spPr>
          <a:xfrm rot="2285900">
            <a:off x="7276780" y="4890295"/>
            <a:ext cx="886615" cy="777763"/>
          </a:xfrm>
          <a:prstGeom prst="arc">
            <a:avLst/>
          </a:prstGeom>
          <a:ln w="50800">
            <a:solidFill>
              <a:srgbClr val="00B0F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Text Box 136">
            <a:extLst>
              <a:ext uri="{FF2B5EF4-FFF2-40B4-BE49-F238E27FC236}">
                <a16:creationId xmlns:a16="http://schemas.microsoft.com/office/drawing/2014/main" id="{996EF8AB-2165-3216-1FC8-35BA3964E310}"/>
              </a:ext>
            </a:extLst>
          </p:cNvPr>
          <p:cNvSpPr txBox="1"/>
          <p:nvPr/>
        </p:nvSpPr>
        <p:spPr>
          <a:xfrm>
            <a:off x="7076837" y="5062884"/>
            <a:ext cx="1659203" cy="28928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Flexion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DDEEAB83-F624-FAE7-ED41-291E19EF98D3}"/>
              </a:ext>
            </a:extLst>
          </p:cNvPr>
          <p:cNvSpPr/>
          <p:nvPr/>
        </p:nvSpPr>
        <p:spPr>
          <a:xfrm rot="2342604">
            <a:off x="7588637" y="5543050"/>
            <a:ext cx="764643" cy="1015657"/>
          </a:xfrm>
          <a:prstGeom prst="arc">
            <a:avLst>
              <a:gd name="adj1" fmla="val 16024160"/>
              <a:gd name="adj2" fmla="val 0"/>
            </a:avLst>
          </a:prstGeom>
          <a:ln w="50800">
            <a:solidFill>
              <a:srgbClr val="00B0F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5" name="Text Box 78">
            <a:extLst>
              <a:ext uri="{FF2B5EF4-FFF2-40B4-BE49-F238E27FC236}">
                <a16:creationId xmlns:a16="http://schemas.microsoft.com/office/drawing/2014/main" id="{AE6FBD94-9384-CBFD-50B9-B62348C155D4}"/>
              </a:ext>
            </a:extLst>
          </p:cNvPr>
          <p:cNvSpPr txBox="1"/>
          <p:nvPr/>
        </p:nvSpPr>
        <p:spPr>
          <a:xfrm>
            <a:off x="2900887" y="5608180"/>
            <a:ext cx="1659203" cy="28928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Extension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3DEAF4-A538-C5C2-E8E5-64660B4BB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546" y="673755"/>
            <a:ext cx="4241800" cy="59944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29927E-4644-363F-9147-396F58BE258C}"/>
              </a:ext>
            </a:extLst>
          </p:cNvPr>
          <p:cNvCxnSpPr>
            <a:cxnSpLocks/>
          </p:cNvCxnSpPr>
          <p:nvPr/>
        </p:nvCxnSpPr>
        <p:spPr>
          <a:xfrm flipV="1">
            <a:off x="9650548" y="3703329"/>
            <a:ext cx="0" cy="2832486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4F4C7ED-0D56-76CD-F3AC-7A515D1C30CB}"/>
              </a:ext>
            </a:extLst>
          </p:cNvPr>
          <p:cNvSpPr/>
          <p:nvPr/>
        </p:nvSpPr>
        <p:spPr>
          <a:xfrm>
            <a:off x="10259370" y="5897465"/>
            <a:ext cx="145143" cy="13631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488DAA-E075-C263-BABF-4E08FCC8BE0C}"/>
              </a:ext>
            </a:extLst>
          </p:cNvPr>
          <p:cNvSpPr txBox="1"/>
          <p:nvPr/>
        </p:nvSpPr>
        <p:spPr>
          <a:xfrm>
            <a:off x="9697466" y="6131069"/>
            <a:ext cx="141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n</a:t>
            </a:r>
            <a:r>
              <a:rPr lang="en-US" sz="2400" b="1" baseline="-25000" dirty="0">
                <a:solidFill>
                  <a:srgbClr val="00B0F0"/>
                </a:solidFill>
              </a:rPr>
              <a:t>left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A78117-864B-1F46-A520-59B57A9AB2B9}"/>
              </a:ext>
            </a:extLst>
          </p:cNvPr>
          <p:cNvSpPr txBox="1"/>
          <p:nvPr/>
        </p:nvSpPr>
        <p:spPr>
          <a:xfrm>
            <a:off x="4703519" y="719392"/>
            <a:ext cx="3394723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Lever system:  </a:t>
            </a:r>
            <a:r>
              <a:rPr lang="en-US" sz="2400" dirty="0">
                <a:solidFill>
                  <a:srgbClr val="0070C0"/>
                </a:solidFill>
              </a:rPr>
              <a:t>lower leg</a:t>
            </a:r>
          </a:p>
          <a:p>
            <a:r>
              <a:rPr lang="en-US" sz="2400" dirty="0"/>
              <a:t>Joint axis: </a:t>
            </a:r>
            <a:r>
              <a:rPr lang="en-US" sz="2400" dirty="0">
                <a:solidFill>
                  <a:srgbClr val="0070C0"/>
                </a:solidFill>
              </a:rPr>
              <a:t>knee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283C5F-206A-B110-1843-FB682EF63F60}"/>
              </a:ext>
            </a:extLst>
          </p:cNvPr>
          <p:cNvSpPr txBox="1"/>
          <p:nvPr/>
        </p:nvSpPr>
        <p:spPr>
          <a:xfrm>
            <a:off x="8823804" y="719391"/>
            <a:ext cx="3394723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Lever system:  </a:t>
            </a:r>
            <a:r>
              <a:rPr lang="en-US" sz="2400" dirty="0">
                <a:solidFill>
                  <a:srgbClr val="0070C0"/>
                </a:solidFill>
              </a:rPr>
              <a:t>foot</a:t>
            </a:r>
          </a:p>
          <a:p>
            <a:r>
              <a:rPr lang="en-US" sz="2400" dirty="0"/>
              <a:t>Joint axis: </a:t>
            </a:r>
            <a:r>
              <a:rPr lang="en-US" sz="2400" dirty="0">
                <a:solidFill>
                  <a:srgbClr val="0070C0"/>
                </a:solidFill>
              </a:rPr>
              <a:t>ankle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627736-8D67-C070-4956-05424DB06ADB}"/>
              </a:ext>
            </a:extLst>
          </p:cNvPr>
          <p:cNvSpPr txBox="1"/>
          <p:nvPr/>
        </p:nvSpPr>
        <p:spPr>
          <a:xfrm>
            <a:off x="2031432" y="17029"/>
            <a:ext cx="9956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Drag Outline to indicate Torque rotation direction of </a:t>
            </a:r>
            <a:r>
              <a:rPr lang="en-US" sz="2400" dirty="0" err="1">
                <a:solidFill>
                  <a:srgbClr val="00B0F0"/>
                </a:solidFill>
              </a:rPr>
              <a:t>n</a:t>
            </a:r>
            <a:r>
              <a:rPr lang="en-US" sz="2400" baseline="-25000" dirty="0" err="1">
                <a:solidFill>
                  <a:srgbClr val="00B0F0"/>
                </a:solidFill>
              </a:rPr>
              <a:t>left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/>
              <a:t>in each case</a:t>
            </a:r>
          </a:p>
        </p:txBody>
      </p:sp>
      <p:sp>
        <p:nvSpPr>
          <p:cNvPr id="20" name="Text Box 136">
            <a:extLst>
              <a:ext uri="{FF2B5EF4-FFF2-40B4-BE49-F238E27FC236}">
                <a16:creationId xmlns:a16="http://schemas.microsoft.com/office/drawing/2014/main" id="{C388E15D-2071-4C72-8D21-2058DCB5D358}"/>
              </a:ext>
            </a:extLst>
          </p:cNvPr>
          <p:cNvSpPr txBox="1"/>
          <p:nvPr/>
        </p:nvSpPr>
        <p:spPr>
          <a:xfrm>
            <a:off x="11125601" y="4773600"/>
            <a:ext cx="1659203" cy="28928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Dorsiflexion</a:t>
            </a:r>
          </a:p>
        </p:txBody>
      </p:sp>
      <p:sp>
        <p:nvSpPr>
          <p:cNvPr id="31" name="Text Box 78">
            <a:extLst>
              <a:ext uri="{FF2B5EF4-FFF2-40B4-BE49-F238E27FC236}">
                <a16:creationId xmlns:a16="http://schemas.microsoft.com/office/drawing/2014/main" id="{2D71CF7D-1639-4C3D-E4AD-9EC5E252056D}"/>
              </a:ext>
            </a:extLst>
          </p:cNvPr>
          <p:cNvSpPr txBox="1"/>
          <p:nvPr/>
        </p:nvSpPr>
        <p:spPr>
          <a:xfrm>
            <a:off x="11514885" y="5207526"/>
            <a:ext cx="1659203" cy="28928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Plantar flexion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0C6B8140-A37C-FF0C-5E42-3084310B7DFC}"/>
              </a:ext>
            </a:extLst>
          </p:cNvPr>
          <p:cNvSpPr/>
          <p:nvPr/>
        </p:nvSpPr>
        <p:spPr>
          <a:xfrm rot="13605758">
            <a:off x="11290957" y="5342032"/>
            <a:ext cx="886615" cy="777763"/>
          </a:xfrm>
          <a:prstGeom prst="arc">
            <a:avLst/>
          </a:prstGeom>
          <a:ln w="50800">
            <a:solidFill>
              <a:srgbClr val="00B0F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5C45BED-3D2F-083F-FAF1-25807066227D}"/>
              </a:ext>
            </a:extLst>
          </p:cNvPr>
          <p:cNvSpPr/>
          <p:nvPr/>
        </p:nvSpPr>
        <p:spPr>
          <a:xfrm rot="13055400">
            <a:off x="11179384" y="4402358"/>
            <a:ext cx="764643" cy="1015657"/>
          </a:xfrm>
          <a:prstGeom prst="arc">
            <a:avLst/>
          </a:prstGeom>
          <a:ln w="50800">
            <a:solidFill>
              <a:srgbClr val="00B0F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B2F467C-7A0B-E53D-8F96-159EF119784B}"/>
              </a:ext>
            </a:extLst>
          </p:cNvPr>
          <p:cNvSpPr/>
          <p:nvPr/>
        </p:nvSpPr>
        <p:spPr>
          <a:xfrm>
            <a:off x="2929817" y="1690436"/>
            <a:ext cx="1466931" cy="969944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3C68EA3-560E-D135-C0F7-D851B493A32B}"/>
              </a:ext>
            </a:extLst>
          </p:cNvPr>
          <p:cNvSpPr/>
          <p:nvPr/>
        </p:nvSpPr>
        <p:spPr>
          <a:xfrm>
            <a:off x="6761412" y="2180590"/>
            <a:ext cx="1466931" cy="969944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4DFD265-0610-1EB2-CBFB-AC7E6924999D}"/>
              </a:ext>
            </a:extLst>
          </p:cNvPr>
          <p:cNvSpPr/>
          <p:nvPr/>
        </p:nvSpPr>
        <p:spPr>
          <a:xfrm>
            <a:off x="11147280" y="3185983"/>
            <a:ext cx="1466931" cy="969944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92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926D4-3BEC-A75B-3FFA-5646E0D5A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A6BB87EB-1B1D-BD69-89FE-61616A58CEA8}"/>
              </a:ext>
            </a:extLst>
          </p:cNvPr>
          <p:cNvGrpSpPr/>
          <p:nvPr/>
        </p:nvGrpSpPr>
        <p:grpSpPr>
          <a:xfrm>
            <a:off x="7456981" y="725257"/>
            <a:ext cx="4241800" cy="5994400"/>
            <a:chOff x="7456981" y="725257"/>
            <a:chExt cx="4241800" cy="59944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E28B9D8-8666-C60D-0F0D-8CD320F98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56981" y="725257"/>
              <a:ext cx="4241800" cy="59944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061ECBD-C33E-5726-8496-6BC31893E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7000"/>
            </a:blip>
            <a:stretch>
              <a:fillRect/>
            </a:stretch>
          </p:blipFill>
          <p:spPr>
            <a:xfrm rot="4643288" flipV="1">
              <a:off x="9198712" y="2869156"/>
              <a:ext cx="1701943" cy="1638036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7DB71A5-38FF-AB9B-1E76-F9396F2DB2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3276" y="4510217"/>
              <a:ext cx="0" cy="2053832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002E34B-B9FB-6956-DA99-A9B6E306F033}"/>
                </a:ext>
              </a:extLst>
            </p:cNvPr>
            <p:cNvSpPr txBox="1"/>
            <p:nvPr/>
          </p:nvSpPr>
          <p:spPr>
            <a:xfrm>
              <a:off x="8553276" y="5951739"/>
              <a:ext cx="10055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B0F0"/>
                  </a:solidFill>
                </a:rPr>
                <a:t>n</a:t>
              </a:r>
              <a:r>
                <a:rPr lang="en-US" sz="2400" b="1" baseline="-25000" dirty="0">
                  <a:solidFill>
                    <a:srgbClr val="00B0F0"/>
                  </a:solidFill>
                </a:rPr>
                <a:t>left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0B56B86-262D-CE5E-2838-DA9B8F7954BD}"/>
                </a:ext>
              </a:extLst>
            </p:cNvPr>
            <p:cNvSpPr txBox="1"/>
            <p:nvPr/>
          </p:nvSpPr>
          <p:spPr>
            <a:xfrm>
              <a:off x="8985082" y="3636797"/>
              <a:ext cx="10026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psoas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4C62462-B70A-DA98-9237-42C155CF551F}"/>
              </a:ext>
            </a:extLst>
          </p:cNvPr>
          <p:cNvGrpSpPr/>
          <p:nvPr/>
        </p:nvGrpSpPr>
        <p:grpSpPr>
          <a:xfrm>
            <a:off x="643936" y="663464"/>
            <a:ext cx="4241800" cy="5994400"/>
            <a:chOff x="710402" y="663464"/>
            <a:chExt cx="4241800" cy="59944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1971A79-21F7-32C0-11FC-F36AF68DD278}"/>
                </a:ext>
              </a:extLst>
            </p:cNvPr>
            <p:cNvGrpSpPr/>
            <p:nvPr/>
          </p:nvGrpSpPr>
          <p:grpSpPr>
            <a:xfrm>
              <a:off x="710402" y="663464"/>
              <a:ext cx="4241800" cy="5994400"/>
              <a:chOff x="710402" y="663464"/>
              <a:chExt cx="4241800" cy="599440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D5FD7009-454B-BCA4-FFDB-8263EFBD3D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0402" y="663464"/>
                <a:ext cx="4241800" cy="5994400"/>
              </a:xfrm>
              <a:prstGeom prst="rect">
                <a:avLst/>
              </a:prstGeom>
            </p:spPr>
          </p:pic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2533F28D-945A-F9D7-9757-90ACF544F7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9715" y="4896794"/>
                <a:ext cx="0" cy="1667255"/>
              </a:xfrm>
              <a:prstGeom prst="straightConnector1">
                <a:avLst/>
              </a:prstGeom>
              <a:ln w="762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B17FB2-3433-0458-85F5-1F1D1419DCCC}"/>
                  </a:ext>
                </a:extLst>
              </p:cNvPr>
              <p:cNvSpPr txBox="1"/>
              <p:nvPr/>
            </p:nvSpPr>
            <p:spPr>
              <a:xfrm>
                <a:off x="1830287" y="5951739"/>
                <a:ext cx="10055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F0"/>
                    </a:solidFill>
                  </a:rPr>
                  <a:t>n</a:t>
                </a:r>
                <a:r>
                  <a:rPr lang="en-US" sz="2400" b="1" baseline="-25000" dirty="0">
                    <a:solidFill>
                      <a:srgbClr val="00B0F0"/>
                    </a:solidFill>
                  </a:rPr>
                  <a:t>left</a:t>
                </a:r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07F6B03-2099-2DBB-224F-A269423633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59000"/>
              </a:blip>
              <a:stretch>
                <a:fillRect/>
              </a:stretch>
            </p:blipFill>
            <p:spPr>
              <a:xfrm flipH="1">
                <a:off x="2614119" y="2597343"/>
                <a:ext cx="2098021" cy="2008399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3FE951-EEF6-AB9E-9270-F782578AF228}"/>
                  </a:ext>
                </a:extLst>
              </p:cNvPr>
              <p:cNvSpPr txBox="1"/>
              <p:nvPr/>
            </p:nvSpPr>
            <p:spPr>
              <a:xfrm>
                <a:off x="3821878" y="4144077"/>
                <a:ext cx="9352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glute</a:t>
                </a:r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487510E-1249-B3F9-B284-0E7FCD078ADB}"/>
                </a:ext>
              </a:extLst>
            </p:cNvPr>
            <p:cNvSpPr/>
            <p:nvPr/>
          </p:nvSpPr>
          <p:spPr>
            <a:xfrm flipV="1">
              <a:off x="3737686" y="3766009"/>
              <a:ext cx="221948" cy="181088"/>
            </a:xfrm>
            <a:prstGeom prst="ellipse">
              <a:avLst/>
            </a:prstGeom>
            <a:solidFill>
              <a:srgbClr val="FFC000"/>
            </a:solidFill>
            <a:ln w="412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9612F58-68AF-0BD6-C974-3878D74F1198}"/>
              </a:ext>
            </a:extLst>
          </p:cNvPr>
          <p:cNvSpPr txBox="1"/>
          <p:nvPr/>
        </p:nvSpPr>
        <p:spPr>
          <a:xfrm>
            <a:off x="4735020" y="29097"/>
            <a:ext cx="655190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What </a:t>
            </a:r>
            <a:r>
              <a:rPr lang="en-US" sz="2400" b="1" dirty="0">
                <a:solidFill>
                  <a:srgbClr val="FF0000"/>
                </a:solidFill>
              </a:rPr>
              <a:t>muscle</a:t>
            </a:r>
            <a:r>
              <a:rPr lang="en-US" sz="2400" dirty="0">
                <a:solidFill>
                  <a:srgbClr val="C00000"/>
                </a:solidFill>
              </a:rPr>
              <a:t> can exert a counter torque to  the </a:t>
            </a:r>
            <a:r>
              <a:rPr lang="en-US" sz="2400" dirty="0">
                <a:solidFill>
                  <a:srgbClr val="00B0F0"/>
                </a:solidFill>
              </a:rPr>
              <a:t>floor force (n</a:t>
            </a:r>
            <a:r>
              <a:rPr lang="en-US" sz="2400" baseline="-25000" dirty="0">
                <a:solidFill>
                  <a:srgbClr val="00B0F0"/>
                </a:solidFill>
              </a:rPr>
              <a:t>floor</a:t>
            </a:r>
            <a:r>
              <a:rPr lang="en-US" sz="2400" dirty="0">
                <a:solidFill>
                  <a:srgbClr val="00B0F0"/>
                </a:solidFill>
              </a:rPr>
              <a:t>) </a:t>
            </a:r>
            <a:r>
              <a:rPr lang="en-US" sz="2400" dirty="0">
                <a:solidFill>
                  <a:srgbClr val="C00000"/>
                </a:solidFill>
              </a:rPr>
              <a:t>on the whole leg around the hip?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9652B-4A36-E44A-4A2F-8F98B9E234AB}"/>
              </a:ext>
            </a:extLst>
          </p:cNvPr>
          <p:cNvSpPr txBox="1"/>
          <p:nvPr/>
        </p:nvSpPr>
        <p:spPr>
          <a:xfrm>
            <a:off x="612267" y="109361"/>
            <a:ext cx="3394723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Lever system:  </a:t>
            </a:r>
            <a:r>
              <a:rPr lang="en-US" sz="2400" dirty="0">
                <a:solidFill>
                  <a:srgbClr val="0070C0"/>
                </a:solidFill>
              </a:rPr>
              <a:t>whole leg</a:t>
            </a:r>
          </a:p>
          <a:p>
            <a:r>
              <a:rPr lang="en-US" sz="2400" dirty="0"/>
              <a:t>Joint axis: </a:t>
            </a:r>
            <a:r>
              <a:rPr lang="en-US" sz="2400" dirty="0">
                <a:solidFill>
                  <a:srgbClr val="0070C0"/>
                </a:solidFill>
              </a:rPr>
              <a:t>hip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E19A8E1-CD73-B0B2-2809-9179262B905D}"/>
              </a:ext>
            </a:extLst>
          </p:cNvPr>
          <p:cNvSpPr/>
          <p:nvPr/>
        </p:nvSpPr>
        <p:spPr>
          <a:xfrm flipV="1">
            <a:off x="10392894" y="3871500"/>
            <a:ext cx="221948" cy="181088"/>
          </a:xfrm>
          <a:prstGeom prst="ellipse">
            <a:avLst/>
          </a:prstGeom>
          <a:solidFill>
            <a:srgbClr val="FFC000"/>
          </a:solidFill>
          <a:ln w="412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CA667D5-1B33-545D-199F-E47706C18641}"/>
              </a:ext>
            </a:extLst>
          </p:cNvPr>
          <p:cNvCxnSpPr>
            <a:cxnSpLocks/>
          </p:cNvCxnSpPr>
          <p:nvPr/>
        </p:nvCxnSpPr>
        <p:spPr>
          <a:xfrm flipV="1">
            <a:off x="5101049" y="2991426"/>
            <a:ext cx="12488" cy="22155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DE5E86-0956-A48D-C33C-853477C6E786}"/>
              </a:ext>
            </a:extLst>
          </p:cNvPr>
          <p:cNvCxnSpPr>
            <a:cxnSpLocks/>
          </p:cNvCxnSpPr>
          <p:nvPr/>
        </p:nvCxnSpPr>
        <p:spPr>
          <a:xfrm flipH="1" flipV="1">
            <a:off x="5483761" y="2991426"/>
            <a:ext cx="19588" cy="218570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B61EF1-3BCB-C8FE-4FDB-12E4D937E080}"/>
              </a:ext>
            </a:extLst>
          </p:cNvPr>
          <p:cNvGrpSpPr/>
          <p:nvPr/>
        </p:nvGrpSpPr>
        <p:grpSpPr>
          <a:xfrm>
            <a:off x="5967406" y="2969042"/>
            <a:ext cx="1688965" cy="1015657"/>
            <a:chOff x="5967406" y="2969042"/>
            <a:chExt cx="1688965" cy="1015657"/>
          </a:xfrm>
        </p:grpSpPr>
        <p:sp>
          <p:nvSpPr>
            <p:cNvPr id="37" name="Text Box 136">
              <a:extLst>
                <a:ext uri="{FF2B5EF4-FFF2-40B4-BE49-F238E27FC236}">
                  <a16:creationId xmlns:a16="http://schemas.microsoft.com/office/drawing/2014/main" id="{C6F1E985-7141-0650-E6D9-D293F37555C5}"/>
                </a:ext>
              </a:extLst>
            </p:cNvPr>
            <p:cNvSpPr txBox="1"/>
            <p:nvPr/>
          </p:nvSpPr>
          <p:spPr>
            <a:xfrm>
              <a:off x="5997168" y="3371380"/>
              <a:ext cx="1659203" cy="289284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Flexion</a:t>
              </a:r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F70844C1-9CF7-269D-B825-43511BB39DBF}"/>
                </a:ext>
              </a:extLst>
            </p:cNvPr>
            <p:cNvSpPr/>
            <p:nvPr/>
          </p:nvSpPr>
          <p:spPr>
            <a:xfrm rot="12313647">
              <a:off x="5967406" y="2969042"/>
              <a:ext cx="764643" cy="1015657"/>
            </a:xfrm>
            <a:prstGeom prst="arc">
              <a:avLst/>
            </a:prstGeom>
            <a:ln w="50800">
              <a:solidFill>
                <a:srgbClr val="FF000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3278428-5E97-AC82-10CD-B3E0B52931FD}"/>
              </a:ext>
            </a:extLst>
          </p:cNvPr>
          <p:cNvGrpSpPr/>
          <p:nvPr/>
        </p:nvGrpSpPr>
        <p:grpSpPr>
          <a:xfrm>
            <a:off x="5757999" y="4069511"/>
            <a:ext cx="1659203" cy="929261"/>
            <a:chOff x="5757999" y="4069511"/>
            <a:chExt cx="1659203" cy="929261"/>
          </a:xfrm>
        </p:grpSpPr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3364A7F9-B488-C443-DD7B-9B4968570D47}"/>
                </a:ext>
              </a:extLst>
            </p:cNvPr>
            <p:cNvSpPr/>
            <p:nvPr/>
          </p:nvSpPr>
          <p:spPr>
            <a:xfrm rot="7417389">
              <a:off x="5775816" y="4053438"/>
              <a:ext cx="929261" cy="961407"/>
            </a:xfrm>
            <a:prstGeom prst="arc">
              <a:avLst/>
            </a:prstGeom>
            <a:ln w="5080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9" name="Text Box 78">
              <a:extLst>
                <a:ext uri="{FF2B5EF4-FFF2-40B4-BE49-F238E27FC236}">
                  <a16:creationId xmlns:a16="http://schemas.microsoft.com/office/drawing/2014/main" id="{DC2A3D60-1D44-C5DB-FF1C-6579BE405FB3}"/>
                </a:ext>
              </a:extLst>
            </p:cNvPr>
            <p:cNvSpPr txBox="1"/>
            <p:nvPr/>
          </p:nvSpPr>
          <p:spPr>
            <a:xfrm>
              <a:off x="5757999" y="4365574"/>
              <a:ext cx="1659203" cy="28928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Extension</a:t>
              </a:r>
            </a:p>
          </p:txBody>
        </p:sp>
      </p:grpSp>
      <p:sp>
        <p:nvSpPr>
          <p:cNvPr id="40" name="Up Arrow Callout 39">
            <a:extLst>
              <a:ext uri="{FF2B5EF4-FFF2-40B4-BE49-F238E27FC236}">
                <a16:creationId xmlns:a16="http://schemas.microsoft.com/office/drawing/2014/main" id="{A2C71A50-16DE-F2A5-F3E3-792A4CA6513A}"/>
              </a:ext>
            </a:extLst>
          </p:cNvPr>
          <p:cNvSpPr/>
          <p:nvPr/>
        </p:nvSpPr>
        <p:spPr>
          <a:xfrm>
            <a:off x="4863588" y="5694949"/>
            <a:ext cx="2593393" cy="951758"/>
          </a:xfrm>
          <a:prstGeom prst="upArrowCallou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Drag muscle vectors and torque directions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A72A2F-629F-07C5-E874-130E64E13EC3}"/>
              </a:ext>
            </a:extLst>
          </p:cNvPr>
          <p:cNvSpPr txBox="1"/>
          <p:nvPr/>
        </p:nvSpPr>
        <p:spPr>
          <a:xfrm>
            <a:off x="5403787" y="831239"/>
            <a:ext cx="93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glute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BA979E-9A38-6D35-DE8C-B60E69CFB2D4}"/>
              </a:ext>
            </a:extLst>
          </p:cNvPr>
          <p:cNvSpPr txBox="1"/>
          <p:nvPr/>
        </p:nvSpPr>
        <p:spPr>
          <a:xfrm>
            <a:off x="5370092" y="1374481"/>
            <a:ext cx="1002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psoas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F54FDA-31A8-5C8D-1EF3-4A0AE38D1C67}"/>
              </a:ext>
            </a:extLst>
          </p:cNvPr>
          <p:cNvSpPr/>
          <p:nvPr/>
        </p:nvSpPr>
        <p:spPr>
          <a:xfrm>
            <a:off x="6360653" y="1081443"/>
            <a:ext cx="1043623" cy="4616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5900611-07CE-3510-1B92-F2A58E87ABF4}"/>
              </a:ext>
            </a:extLst>
          </p:cNvPr>
          <p:cNvGrpSpPr/>
          <p:nvPr/>
        </p:nvGrpSpPr>
        <p:grpSpPr>
          <a:xfrm>
            <a:off x="6294860" y="3544759"/>
            <a:ext cx="1688965" cy="1015657"/>
            <a:chOff x="5967406" y="2969042"/>
            <a:chExt cx="1688965" cy="1015657"/>
          </a:xfrm>
        </p:grpSpPr>
        <p:sp>
          <p:nvSpPr>
            <p:cNvPr id="43" name="Text Box 136">
              <a:extLst>
                <a:ext uri="{FF2B5EF4-FFF2-40B4-BE49-F238E27FC236}">
                  <a16:creationId xmlns:a16="http://schemas.microsoft.com/office/drawing/2014/main" id="{2160F781-8471-F275-F5E2-6CE1350A8D22}"/>
                </a:ext>
              </a:extLst>
            </p:cNvPr>
            <p:cNvSpPr txBox="1"/>
            <p:nvPr/>
          </p:nvSpPr>
          <p:spPr>
            <a:xfrm>
              <a:off x="5997168" y="3371380"/>
              <a:ext cx="1659203" cy="289284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Flexion</a:t>
              </a:r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7227C63C-DDC9-168F-16B4-D1A543FD3D0A}"/>
                </a:ext>
              </a:extLst>
            </p:cNvPr>
            <p:cNvSpPr/>
            <p:nvPr/>
          </p:nvSpPr>
          <p:spPr>
            <a:xfrm rot="12313647">
              <a:off x="5967406" y="2969042"/>
              <a:ext cx="764643" cy="1015657"/>
            </a:xfrm>
            <a:prstGeom prst="arc">
              <a:avLst/>
            </a:prstGeom>
            <a:ln w="50800">
              <a:solidFill>
                <a:srgbClr val="FF000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73BD0DD-0F70-A052-859A-B4B62407E782}"/>
              </a:ext>
            </a:extLst>
          </p:cNvPr>
          <p:cNvGrpSpPr/>
          <p:nvPr/>
        </p:nvGrpSpPr>
        <p:grpSpPr>
          <a:xfrm>
            <a:off x="6085453" y="4645228"/>
            <a:ext cx="1659203" cy="929261"/>
            <a:chOff x="5757999" y="4069511"/>
            <a:chExt cx="1659203" cy="929261"/>
          </a:xfrm>
        </p:grpSpPr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0AAC13F3-B93F-E37A-9AD7-364F71C50AF1}"/>
                </a:ext>
              </a:extLst>
            </p:cNvPr>
            <p:cNvSpPr/>
            <p:nvPr/>
          </p:nvSpPr>
          <p:spPr>
            <a:xfrm rot="7417389">
              <a:off x="5775816" y="4053438"/>
              <a:ext cx="929261" cy="961407"/>
            </a:xfrm>
            <a:prstGeom prst="arc">
              <a:avLst/>
            </a:prstGeom>
            <a:ln w="5080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47" name="Text Box 78">
              <a:extLst>
                <a:ext uri="{FF2B5EF4-FFF2-40B4-BE49-F238E27FC236}">
                  <a16:creationId xmlns:a16="http://schemas.microsoft.com/office/drawing/2014/main" id="{439902D5-E2CA-462F-D0A1-CCE35D367523}"/>
                </a:ext>
              </a:extLst>
            </p:cNvPr>
            <p:cNvSpPr txBox="1"/>
            <p:nvPr/>
          </p:nvSpPr>
          <p:spPr>
            <a:xfrm>
              <a:off x="5757999" y="4365574"/>
              <a:ext cx="1659203" cy="28928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Extension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1376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3001F2D-9FE9-82AE-CE29-0ED213189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47" y="610328"/>
            <a:ext cx="4241800" cy="599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63CC2C-895D-4D8D-AD17-E68005ADB664}"/>
              </a:ext>
            </a:extLst>
          </p:cNvPr>
          <p:cNvSpPr txBox="1"/>
          <p:nvPr/>
        </p:nvSpPr>
        <p:spPr>
          <a:xfrm>
            <a:off x="4647159" y="143674"/>
            <a:ext cx="3290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Limb System : </a:t>
            </a:r>
            <a:r>
              <a:rPr lang="en-US" dirty="0">
                <a:solidFill>
                  <a:srgbClr val="0070C0"/>
                </a:solidFill>
              </a:rPr>
              <a:t>whole leg</a:t>
            </a:r>
          </a:p>
          <a:p>
            <a:r>
              <a:rPr lang="en-US" dirty="0"/>
              <a:t>Joint:  </a:t>
            </a:r>
            <a:r>
              <a:rPr lang="en-US" dirty="0">
                <a:solidFill>
                  <a:srgbClr val="0070C0"/>
                </a:solidFill>
              </a:rPr>
              <a:t>hip</a:t>
            </a:r>
          </a:p>
          <a:p>
            <a:r>
              <a:rPr lang="en-US" b="1" dirty="0">
                <a:solidFill>
                  <a:srgbClr val="FF0000"/>
                </a:solidFill>
              </a:rPr>
              <a:t>Muscle: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85E559D-3C56-4A18-8A1E-0F9A7F5529B8}"/>
              </a:ext>
            </a:extLst>
          </p:cNvPr>
          <p:cNvCxnSpPr>
            <a:cxnSpLocks/>
          </p:cNvCxnSpPr>
          <p:nvPr/>
        </p:nvCxnSpPr>
        <p:spPr>
          <a:xfrm flipH="1">
            <a:off x="4726743" y="3607528"/>
            <a:ext cx="5022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1073741836">
            <a:extLst>
              <a:ext uri="{FF2B5EF4-FFF2-40B4-BE49-F238E27FC236}">
                <a16:creationId xmlns:a16="http://schemas.microsoft.com/office/drawing/2014/main" id="{9CD77AFA-7FF2-4002-9481-6FFF445AF4E3}"/>
              </a:ext>
            </a:extLst>
          </p:cNvPr>
          <p:cNvSpPr txBox="1"/>
          <p:nvPr/>
        </p:nvSpPr>
        <p:spPr>
          <a:xfrm>
            <a:off x="4659206" y="3802019"/>
            <a:ext cx="441139" cy="58646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</a:t>
            </a:r>
            <a:endParaRPr lang="en-US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94AE66-6760-4D21-BA5F-DC01074DFBA6}"/>
              </a:ext>
            </a:extLst>
          </p:cNvPr>
          <p:cNvSpPr txBox="1"/>
          <p:nvPr/>
        </p:nvSpPr>
        <p:spPr>
          <a:xfrm>
            <a:off x="8440124" y="178294"/>
            <a:ext cx="41260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Torque Equilibrium Eqn.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                  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</a:t>
            </a:r>
            <a:endParaRPr lang="en-US" sz="2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0EC99B-5B67-4216-8062-406C41760241}"/>
              </a:ext>
            </a:extLst>
          </p:cNvPr>
          <p:cNvSpPr/>
          <p:nvPr/>
        </p:nvSpPr>
        <p:spPr>
          <a:xfrm>
            <a:off x="9487044" y="898229"/>
            <a:ext cx="1569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4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4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floor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B910B6-F53D-4094-8A10-E59920BB401D}"/>
              </a:ext>
            </a:extLst>
          </p:cNvPr>
          <p:cNvSpPr txBox="1"/>
          <p:nvPr/>
        </p:nvSpPr>
        <p:spPr>
          <a:xfrm>
            <a:off x="9342431" y="1284711"/>
            <a:ext cx="2580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n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F0"/>
                </a:solidFill>
              </a:rPr>
              <a:t>r</a:t>
            </a:r>
            <a:r>
              <a:rPr lang="en-US" sz="2400" baseline="-25000" dirty="0">
                <a:solidFill>
                  <a:srgbClr val="00B0F0"/>
                </a:solidFill>
                <a:sym typeface="Symbol" panose="05050102010706020507" pitchFamily="18" charset="2"/>
              </a:rPr>
              <a:t>n</a:t>
            </a:r>
            <a:r>
              <a:rPr lang="en-US" sz="2400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sz="2400" dirty="0">
                <a:sym typeface="Symbol" panose="05050102010706020507" pitchFamily="18" charset="2"/>
              </a:rPr>
              <a:t>= </a:t>
            </a:r>
            <a:r>
              <a:rPr lang="en-US" sz="2400" dirty="0">
                <a:solidFill>
                  <a:srgbClr val="FF0000"/>
                </a:solidFill>
              </a:rPr>
              <a:t>M r</a:t>
            </a:r>
            <a:r>
              <a:rPr lang="en-US" sz="24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M</a:t>
            </a:r>
            <a:endParaRPr lang="en-US" sz="2400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0578289-CDBB-4843-8BBB-75764DBC4CC6}"/>
                  </a:ext>
                </a:extLst>
              </p:cNvPr>
              <p:cNvSpPr txBox="1"/>
              <p:nvPr/>
            </p:nvSpPr>
            <p:spPr>
              <a:xfrm>
                <a:off x="9060815" y="2324805"/>
                <a:ext cx="2691958" cy="619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M</a:t>
                </a:r>
                <a:r>
                  <a:rPr lang="en-US" sz="2400" dirty="0"/>
                  <a:t> </a:t>
                </a:r>
                <a:r>
                  <a:rPr lang="en-US" sz="2400" dirty="0">
                    <a:sym typeface="Symbol" panose="05050102010706020507" pitchFamily="18" charset="2"/>
                  </a:rPr>
                  <a:t>= </a:t>
                </a:r>
                <a:r>
                  <a:rPr lang="en-US" sz="2400" dirty="0">
                    <a:solidFill>
                      <a:srgbClr val="00B0F0"/>
                    </a:solidFill>
                  </a:rPr>
                  <a:t>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M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0578289-CDBB-4843-8BBB-75764DBC4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815" y="2324805"/>
                <a:ext cx="2691958" cy="619272"/>
              </a:xfrm>
              <a:prstGeom prst="rect">
                <a:avLst/>
              </a:prstGeom>
              <a:blipFill>
                <a:blip r:embed="rId3"/>
                <a:stretch>
                  <a:fillRect l="-3286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E2F0CB23-2039-4228-8260-02E7E904F142}"/>
              </a:ext>
            </a:extLst>
          </p:cNvPr>
          <p:cNvSpPr txBox="1"/>
          <p:nvPr/>
        </p:nvSpPr>
        <p:spPr>
          <a:xfrm>
            <a:off x="8833969" y="5372373"/>
            <a:ext cx="235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</a:t>
            </a:r>
            <a:r>
              <a:rPr lang="en-US" sz="2400" dirty="0"/>
              <a:t> </a:t>
            </a:r>
            <a:r>
              <a:rPr lang="en-US" sz="2400" dirty="0">
                <a:sym typeface="Symbol" panose="05050102010706020507" pitchFamily="18" charset="2"/>
              </a:rPr>
              <a:t>= </a:t>
            </a:r>
            <a:r>
              <a:rPr lang="en-US" sz="2400" dirty="0">
                <a:solidFill>
                  <a:srgbClr val="00B0F0"/>
                </a:solidFill>
              </a:rPr>
              <a:t>n</a:t>
            </a:r>
            <a:r>
              <a:rPr lang="en-US" sz="2400" dirty="0"/>
              <a:t> *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7FD9D5-9222-43D2-ACF4-26E4C8592E82}"/>
              </a:ext>
            </a:extLst>
          </p:cNvPr>
          <p:cNvSpPr txBox="1"/>
          <p:nvPr/>
        </p:nvSpPr>
        <p:spPr>
          <a:xfrm>
            <a:off x="8863310" y="5946015"/>
            <a:ext cx="1858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</a:t>
            </a:r>
            <a:r>
              <a:rPr lang="en-US" sz="2400" dirty="0"/>
              <a:t> </a:t>
            </a:r>
            <a:r>
              <a:rPr lang="en-US" sz="2400" dirty="0">
                <a:sym typeface="Symbol" panose="05050102010706020507" pitchFamily="18" charset="2"/>
              </a:rPr>
              <a:t>= ? </a:t>
            </a:r>
            <a:r>
              <a:rPr lang="en-US" sz="2400" dirty="0">
                <a:solidFill>
                  <a:srgbClr val="00B050"/>
                </a:solidFill>
              </a:rPr>
              <a:t>W</a:t>
            </a:r>
            <a:r>
              <a:rPr lang="en-US" sz="2400" baseline="-25000" dirty="0">
                <a:solidFill>
                  <a:srgbClr val="00B050"/>
                </a:solidFill>
              </a:rPr>
              <a:t>body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5CB85B-2906-4DD7-9060-23C1956F1F69}"/>
              </a:ext>
            </a:extLst>
          </p:cNvPr>
          <p:cNvCxnSpPr>
            <a:cxnSpLocks/>
          </p:cNvCxnSpPr>
          <p:nvPr/>
        </p:nvCxnSpPr>
        <p:spPr>
          <a:xfrm flipV="1">
            <a:off x="1310152" y="4252537"/>
            <a:ext cx="0" cy="2183782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EE4B39A-4DDA-48F4-9EEF-51A19DDDF2D8}"/>
              </a:ext>
            </a:extLst>
          </p:cNvPr>
          <p:cNvSpPr/>
          <p:nvPr/>
        </p:nvSpPr>
        <p:spPr>
          <a:xfrm>
            <a:off x="3169952" y="3787619"/>
            <a:ext cx="145143" cy="13631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379283-33F1-4A6E-8643-398FBE3960C8}"/>
              </a:ext>
            </a:extLst>
          </p:cNvPr>
          <p:cNvCxnSpPr>
            <a:cxnSpLocks/>
          </p:cNvCxnSpPr>
          <p:nvPr/>
        </p:nvCxnSpPr>
        <p:spPr>
          <a:xfrm>
            <a:off x="4790523" y="3035266"/>
            <a:ext cx="1051671" cy="2768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073741836">
            <a:extLst>
              <a:ext uri="{FF2B5EF4-FFF2-40B4-BE49-F238E27FC236}">
                <a16:creationId xmlns:a16="http://schemas.microsoft.com/office/drawing/2014/main" id="{DFB199C6-45B6-4682-AE57-ADA5C4211B0C}"/>
              </a:ext>
            </a:extLst>
          </p:cNvPr>
          <p:cNvSpPr txBox="1"/>
          <p:nvPr/>
        </p:nvSpPr>
        <p:spPr>
          <a:xfrm>
            <a:off x="5173210" y="3017369"/>
            <a:ext cx="441139" cy="58646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b="1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</a:t>
            </a:r>
            <a:endParaRPr lang="en-US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96017F-D1CD-4458-ACAD-574409A81840}"/>
              </a:ext>
            </a:extLst>
          </p:cNvPr>
          <p:cNvSpPr txBox="1"/>
          <p:nvPr/>
        </p:nvSpPr>
        <p:spPr>
          <a:xfrm>
            <a:off x="1336377" y="5472350"/>
            <a:ext cx="141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n</a:t>
            </a:r>
            <a:r>
              <a:rPr lang="en-US" sz="2400" b="1" baseline="-25000" dirty="0">
                <a:solidFill>
                  <a:srgbClr val="00B0F0"/>
                </a:solidFill>
              </a:rPr>
              <a:t>left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FBC57-CA80-4012-8053-1A05B1C01A78}"/>
              </a:ext>
            </a:extLst>
          </p:cNvPr>
          <p:cNvSpPr txBox="1"/>
          <p:nvPr/>
        </p:nvSpPr>
        <p:spPr>
          <a:xfrm>
            <a:off x="4647159" y="1155718"/>
            <a:ext cx="3075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B0F0"/>
                </a:solidFill>
              </a:rPr>
              <a:t>n</a:t>
            </a:r>
            <a:r>
              <a:rPr lang="en-US" sz="2400" b="1" baseline="-25000">
                <a:solidFill>
                  <a:srgbClr val="00B0F0"/>
                </a:solidFill>
              </a:rPr>
              <a:t>left</a:t>
            </a:r>
            <a:r>
              <a:rPr lang="en-US" sz="2400" dirty="0"/>
              <a:t>=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50"/>
                </a:solidFill>
              </a:rPr>
              <a:t>W</a:t>
            </a:r>
            <a:r>
              <a:rPr lang="en-US" sz="2400" baseline="-25000" dirty="0">
                <a:solidFill>
                  <a:srgbClr val="00B050"/>
                </a:solidFill>
              </a:rPr>
              <a:t>body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311E36-F607-4707-AD4C-67ACE699227B}"/>
              </a:ext>
            </a:extLst>
          </p:cNvPr>
          <p:cNvCxnSpPr/>
          <p:nvPr/>
        </p:nvCxnSpPr>
        <p:spPr>
          <a:xfrm flipH="1" flipV="1">
            <a:off x="6299130" y="1788003"/>
            <a:ext cx="86754" cy="285798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76E7F40-CC1F-3CF3-9E30-D394CEB9128B}"/>
              </a:ext>
            </a:extLst>
          </p:cNvPr>
          <p:cNvSpPr txBox="1"/>
          <p:nvPr/>
        </p:nvSpPr>
        <p:spPr>
          <a:xfrm>
            <a:off x="7455979" y="4252537"/>
            <a:ext cx="4555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Calculate estimate for </a:t>
            </a:r>
            <a:r>
              <a:rPr lang="en-US" sz="2400" dirty="0">
                <a:solidFill>
                  <a:srgbClr val="FF0000"/>
                </a:solidFill>
              </a:rPr>
              <a:t>muscle </a:t>
            </a:r>
            <a:r>
              <a:rPr lang="en-US" sz="2400" dirty="0"/>
              <a:t>force</a:t>
            </a:r>
          </a:p>
        </p:txBody>
      </p:sp>
      <p:sp>
        <p:nvSpPr>
          <p:cNvPr id="47" name="Up Arrow Callout 46">
            <a:extLst>
              <a:ext uri="{FF2B5EF4-FFF2-40B4-BE49-F238E27FC236}">
                <a16:creationId xmlns:a16="http://schemas.microsoft.com/office/drawing/2014/main" id="{4A068799-FAC4-74AB-9244-00E21B38F2BA}"/>
              </a:ext>
            </a:extLst>
          </p:cNvPr>
          <p:cNvSpPr/>
          <p:nvPr/>
        </p:nvSpPr>
        <p:spPr>
          <a:xfrm>
            <a:off x="4863588" y="5716397"/>
            <a:ext cx="2593393" cy="951758"/>
          </a:xfrm>
          <a:prstGeom prst="upArrowCallou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Drag muscle vector and lever arms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AAF9B1-285D-88BC-9316-406D96413328}"/>
              </a:ext>
            </a:extLst>
          </p:cNvPr>
          <p:cNvSpPr txBox="1"/>
          <p:nvPr/>
        </p:nvSpPr>
        <p:spPr>
          <a:xfrm>
            <a:off x="7884600" y="3108180"/>
            <a:ext cx="3816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Estimate ratio of lever arms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5F0740-7D4E-654E-736A-95559689925F}"/>
                  </a:ext>
                </a:extLst>
              </p:cNvPr>
              <p:cNvSpPr txBox="1"/>
              <p:nvPr/>
            </p:nvSpPr>
            <p:spPr>
              <a:xfrm>
                <a:off x="9149707" y="3567616"/>
                <a:ext cx="1869897" cy="619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M</m:t>
                        </m:r>
                      </m:den>
                    </m:f>
                  </m:oMath>
                </a14:m>
                <a:r>
                  <a:rPr lang="en-US" sz="2400" dirty="0"/>
                  <a:t> = 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5F0740-7D4E-654E-736A-955596899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707" y="3567616"/>
                <a:ext cx="1869897" cy="619272"/>
              </a:xfrm>
              <a:prstGeom prst="rect">
                <a:avLst/>
              </a:prstGeom>
              <a:blipFill>
                <a:blip r:embed="rId4"/>
                <a:stretch>
                  <a:fillRect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D974B8B-0BF0-A758-C5C3-A33840AF6804}"/>
              </a:ext>
            </a:extLst>
          </p:cNvPr>
          <p:cNvSpPr txBox="1"/>
          <p:nvPr/>
        </p:nvSpPr>
        <p:spPr>
          <a:xfrm>
            <a:off x="7976950" y="1810220"/>
            <a:ext cx="3816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Isolating for unknown </a:t>
            </a:r>
            <a:r>
              <a:rPr lang="en-US" sz="2400" dirty="0">
                <a:solidFill>
                  <a:srgbClr val="FF0000"/>
                </a:solidFill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4E2B43A-3553-AB39-A628-6D5AD69DFAB4}"/>
                  </a:ext>
                </a:extLst>
              </p:cNvPr>
              <p:cNvSpPr txBox="1"/>
              <p:nvPr/>
            </p:nvSpPr>
            <p:spPr>
              <a:xfrm>
                <a:off x="8833969" y="4596027"/>
                <a:ext cx="2691958" cy="619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M</a:t>
                </a:r>
                <a:r>
                  <a:rPr lang="en-US" sz="2400" dirty="0"/>
                  <a:t> </a:t>
                </a:r>
                <a:r>
                  <a:rPr lang="en-US" sz="2400" dirty="0">
                    <a:sym typeface="Symbol" panose="05050102010706020507" pitchFamily="18" charset="2"/>
                  </a:rPr>
                  <a:t>= </a:t>
                </a:r>
                <a:r>
                  <a:rPr lang="en-US" sz="2400" dirty="0">
                    <a:solidFill>
                      <a:srgbClr val="00B0F0"/>
                    </a:solidFill>
                  </a:rPr>
                  <a:t>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M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4E2B43A-3553-AB39-A628-6D5AD69DF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969" y="4596027"/>
                <a:ext cx="2691958" cy="619272"/>
              </a:xfrm>
              <a:prstGeom prst="rect">
                <a:avLst/>
              </a:prstGeom>
              <a:blipFill>
                <a:blip r:embed="rId5"/>
                <a:stretch>
                  <a:fillRect l="-3756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A29FFF-3A52-95A4-63D9-D7892F839D05}"/>
              </a:ext>
            </a:extLst>
          </p:cNvPr>
          <p:cNvCxnSpPr>
            <a:cxnSpLocks/>
          </p:cNvCxnSpPr>
          <p:nvPr/>
        </p:nvCxnSpPr>
        <p:spPr>
          <a:xfrm>
            <a:off x="5614349" y="3603833"/>
            <a:ext cx="0" cy="2230205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414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20789423-972F-B374-B3B3-07822B0933B9}"/>
              </a:ext>
            </a:extLst>
          </p:cNvPr>
          <p:cNvGrpSpPr/>
          <p:nvPr/>
        </p:nvGrpSpPr>
        <p:grpSpPr>
          <a:xfrm>
            <a:off x="7155052" y="722027"/>
            <a:ext cx="4743119" cy="5994400"/>
            <a:chOff x="7030389" y="722027"/>
            <a:chExt cx="4743119" cy="59944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B91DD53-A83A-C537-DC7D-E3206B22A1CA}"/>
                </a:ext>
              </a:extLst>
            </p:cNvPr>
            <p:cNvGrpSpPr/>
            <p:nvPr/>
          </p:nvGrpSpPr>
          <p:grpSpPr>
            <a:xfrm>
              <a:off x="7030389" y="722027"/>
              <a:ext cx="4743119" cy="5994400"/>
              <a:chOff x="6955662" y="725257"/>
              <a:chExt cx="4743119" cy="599440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3E385EF-ECFD-B367-35EF-6006E7006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56981" y="725257"/>
                <a:ext cx="4241800" cy="5994400"/>
              </a:xfrm>
              <a:prstGeom prst="rect">
                <a:avLst/>
              </a:prstGeom>
            </p:spPr>
          </p:pic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6B3C1BF1-3521-7E68-02C4-4CB31D7744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53276" y="4510217"/>
                <a:ext cx="0" cy="2053832"/>
              </a:xfrm>
              <a:prstGeom prst="straightConnector1">
                <a:avLst/>
              </a:prstGeom>
              <a:ln w="762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86B411-6FCF-3562-1DFF-D9F329EFB8C4}"/>
                  </a:ext>
                </a:extLst>
              </p:cNvPr>
              <p:cNvSpPr txBox="1"/>
              <p:nvPr/>
            </p:nvSpPr>
            <p:spPr>
              <a:xfrm>
                <a:off x="8553276" y="5951739"/>
                <a:ext cx="10055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F0"/>
                    </a:solidFill>
                  </a:rPr>
                  <a:t>n</a:t>
                </a:r>
                <a:r>
                  <a:rPr lang="en-US" sz="2400" b="1" baseline="-25000" dirty="0">
                    <a:solidFill>
                      <a:srgbClr val="00B0F0"/>
                    </a:solidFill>
                  </a:rPr>
                  <a:t>left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942D272-77E7-7EB0-08E9-E3F8B88FCE75}"/>
                  </a:ext>
                </a:extLst>
              </p:cNvPr>
              <p:cNvSpPr txBox="1"/>
              <p:nvPr/>
            </p:nvSpPr>
            <p:spPr>
              <a:xfrm>
                <a:off x="6955662" y="3526260"/>
                <a:ext cx="10026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quads</a:t>
                </a:r>
              </a:p>
            </p:txBody>
          </p:sp>
        </p:grp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C61FEA8-ABDA-D48F-A4A4-AE433C741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60000"/>
            </a:blip>
            <a:stretch>
              <a:fillRect/>
            </a:stretch>
          </p:blipFill>
          <p:spPr>
            <a:xfrm rot="1267438">
              <a:off x="7778389" y="2933145"/>
              <a:ext cx="1841500" cy="2514600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633DED2-8F95-308E-E799-461BFCDCDACF}"/>
              </a:ext>
            </a:extLst>
          </p:cNvPr>
          <p:cNvGrpSpPr/>
          <p:nvPr/>
        </p:nvGrpSpPr>
        <p:grpSpPr>
          <a:xfrm>
            <a:off x="647728" y="572691"/>
            <a:ext cx="4241800" cy="5994400"/>
            <a:chOff x="647728" y="572691"/>
            <a:chExt cx="4241800" cy="59944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6A31BEF-87BC-63CB-421C-C7FD1A3DA2D8}"/>
                </a:ext>
              </a:extLst>
            </p:cNvPr>
            <p:cNvGrpSpPr/>
            <p:nvPr/>
          </p:nvGrpSpPr>
          <p:grpSpPr>
            <a:xfrm>
              <a:off x="647728" y="572691"/>
              <a:ext cx="4241800" cy="5994400"/>
              <a:chOff x="709890" y="652307"/>
              <a:chExt cx="4241800" cy="599440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B2EB196-2AB3-FE25-1398-BC32815B3F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9890" y="652307"/>
                <a:ext cx="4241800" cy="5994400"/>
              </a:xfrm>
              <a:prstGeom prst="rect">
                <a:avLst/>
              </a:prstGeom>
            </p:spPr>
          </p:pic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146AD619-C546-41BA-BF88-B2A7859B61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23827" y="4483064"/>
                <a:ext cx="0" cy="2053832"/>
              </a:xfrm>
              <a:prstGeom prst="straightConnector1">
                <a:avLst/>
              </a:prstGeom>
              <a:ln w="762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25E6E9-674E-4B53-946C-41697FB485E6}"/>
                  </a:ext>
                </a:extLst>
              </p:cNvPr>
              <p:cNvSpPr txBox="1"/>
              <p:nvPr/>
            </p:nvSpPr>
            <p:spPr>
              <a:xfrm>
                <a:off x="1825287" y="5619574"/>
                <a:ext cx="10055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F0"/>
                    </a:solidFill>
                  </a:rPr>
                  <a:t>n</a:t>
                </a:r>
                <a:r>
                  <a:rPr lang="en-US" sz="2400" b="1" baseline="-25000" dirty="0">
                    <a:solidFill>
                      <a:srgbClr val="00B0F0"/>
                    </a:solidFill>
                  </a:rPr>
                  <a:t>left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726E5D7-7448-5089-5946-3EA1C7638030}"/>
                  </a:ext>
                </a:extLst>
              </p:cNvPr>
              <p:cNvSpPr txBox="1"/>
              <p:nvPr/>
            </p:nvSpPr>
            <p:spPr>
              <a:xfrm>
                <a:off x="2577960" y="4131089"/>
                <a:ext cx="18895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hamstrings</a:t>
                </a:r>
              </a:p>
            </p:txBody>
          </p:sp>
        </p:grp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8A79A254-4C10-BC9A-2E86-EF09BD1FF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1000"/>
            </a:blip>
            <a:stretch>
              <a:fillRect/>
            </a:stretch>
          </p:blipFill>
          <p:spPr>
            <a:xfrm rot="792404">
              <a:off x="1004170" y="3180754"/>
              <a:ext cx="1536700" cy="2171700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A943CE0D-F3B0-3B85-2A5E-95FC1B5738C7}"/>
              </a:ext>
            </a:extLst>
          </p:cNvPr>
          <p:cNvSpPr/>
          <p:nvPr/>
        </p:nvSpPr>
        <p:spPr>
          <a:xfrm flipV="1">
            <a:off x="1245356" y="4027193"/>
            <a:ext cx="221948" cy="181088"/>
          </a:xfrm>
          <a:prstGeom prst="ellipse">
            <a:avLst/>
          </a:prstGeom>
          <a:solidFill>
            <a:srgbClr val="FFC000"/>
          </a:solidFill>
          <a:ln w="412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8F60FE-AF90-0CA2-736A-DF869A5B2820}"/>
              </a:ext>
            </a:extLst>
          </p:cNvPr>
          <p:cNvSpPr txBox="1"/>
          <p:nvPr/>
        </p:nvSpPr>
        <p:spPr>
          <a:xfrm>
            <a:off x="4735019" y="29097"/>
            <a:ext cx="729601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What </a:t>
            </a:r>
            <a:r>
              <a:rPr lang="en-US" sz="2400" b="1" dirty="0">
                <a:solidFill>
                  <a:srgbClr val="FF0000"/>
                </a:solidFill>
              </a:rPr>
              <a:t>muscle</a:t>
            </a:r>
            <a:r>
              <a:rPr lang="en-US" sz="2400" dirty="0">
                <a:solidFill>
                  <a:srgbClr val="C00000"/>
                </a:solidFill>
              </a:rPr>
              <a:t> can exert a counter torque to  the </a:t>
            </a:r>
            <a:r>
              <a:rPr lang="en-US" sz="2400" dirty="0">
                <a:solidFill>
                  <a:srgbClr val="00B0F0"/>
                </a:solidFill>
              </a:rPr>
              <a:t>floor force (n</a:t>
            </a:r>
            <a:r>
              <a:rPr lang="en-US" sz="2400" baseline="-25000" dirty="0">
                <a:solidFill>
                  <a:srgbClr val="00B0F0"/>
                </a:solidFill>
              </a:rPr>
              <a:t>floor</a:t>
            </a:r>
            <a:r>
              <a:rPr lang="en-US" sz="2400" dirty="0">
                <a:solidFill>
                  <a:srgbClr val="00B0F0"/>
                </a:solidFill>
              </a:rPr>
              <a:t>) </a:t>
            </a:r>
            <a:r>
              <a:rPr lang="en-US" sz="2400" dirty="0">
                <a:solidFill>
                  <a:srgbClr val="C00000"/>
                </a:solidFill>
              </a:rPr>
              <a:t>on the lower leg around the knee?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FEDB87-CB54-99BC-8B7D-7A22447E2B42}"/>
              </a:ext>
            </a:extLst>
          </p:cNvPr>
          <p:cNvSpPr txBox="1"/>
          <p:nvPr/>
        </p:nvSpPr>
        <p:spPr>
          <a:xfrm>
            <a:off x="612267" y="109361"/>
            <a:ext cx="398077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Lever system:  </a:t>
            </a:r>
            <a:r>
              <a:rPr lang="en-US" sz="2400" dirty="0">
                <a:solidFill>
                  <a:srgbClr val="0070C0"/>
                </a:solidFill>
              </a:rPr>
              <a:t>lower leg/foot</a:t>
            </a:r>
          </a:p>
          <a:p>
            <a:r>
              <a:rPr lang="en-US" sz="2400" dirty="0"/>
              <a:t>Joint axis: </a:t>
            </a:r>
            <a:r>
              <a:rPr lang="en-US" sz="2400" dirty="0">
                <a:solidFill>
                  <a:srgbClr val="0070C0"/>
                </a:solidFill>
              </a:rPr>
              <a:t>knee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4E27C42-0E99-CFF4-EB15-A9D1ABEF968A}"/>
              </a:ext>
            </a:extLst>
          </p:cNvPr>
          <p:cNvSpPr/>
          <p:nvPr/>
        </p:nvSpPr>
        <p:spPr>
          <a:xfrm flipV="1">
            <a:off x="8383026" y="4178970"/>
            <a:ext cx="221948" cy="181088"/>
          </a:xfrm>
          <a:prstGeom prst="ellipse">
            <a:avLst/>
          </a:prstGeom>
          <a:solidFill>
            <a:srgbClr val="FFC000"/>
          </a:solidFill>
          <a:ln w="412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AC6163D-CC70-CAF8-C1EA-7311139D2054}"/>
              </a:ext>
            </a:extLst>
          </p:cNvPr>
          <p:cNvCxnSpPr>
            <a:cxnSpLocks/>
          </p:cNvCxnSpPr>
          <p:nvPr/>
        </p:nvCxnSpPr>
        <p:spPr>
          <a:xfrm flipV="1">
            <a:off x="5022359" y="3653209"/>
            <a:ext cx="0" cy="180642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492A66E-3A0F-7EE6-A28E-5FC883D51362}"/>
              </a:ext>
            </a:extLst>
          </p:cNvPr>
          <p:cNvCxnSpPr>
            <a:cxnSpLocks/>
          </p:cNvCxnSpPr>
          <p:nvPr/>
        </p:nvCxnSpPr>
        <p:spPr>
          <a:xfrm flipV="1">
            <a:off x="5379117" y="3569891"/>
            <a:ext cx="28486" cy="196401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81A1EB-9E41-0AE7-7E67-F2BBF939205F}"/>
              </a:ext>
            </a:extLst>
          </p:cNvPr>
          <p:cNvGrpSpPr/>
          <p:nvPr/>
        </p:nvGrpSpPr>
        <p:grpSpPr>
          <a:xfrm>
            <a:off x="5795783" y="3450325"/>
            <a:ext cx="1659203" cy="886615"/>
            <a:chOff x="5852606" y="3642359"/>
            <a:chExt cx="1659203" cy="886615"/>
          </a:xfrm>
        </p:grpSpPr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FD5DBA3A-8217-AB81-B2B0-B54B4AF12CEE}"/>
                </a:ext>
              </a:extLst>
            </p:cNvPr>
            <p:cNvSpPr/>
            <p:nvPr/>
          </p:nvSpPr>
          <p:spPr>
            <a:xfrm rot="5400000">
              <a:off x="6227070" y="3696785"/>
              <a:ext cx="886615" cy="777763"/>
            </a:xfrm>
            <a:prstGeom prst="arc">
              <a:avLst/>
            </a:prstGeom>
            <a:ln w="5080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7" name="Text Box 136">
              <a:extLst>
                <a:ext uri="{FF2B5EF4-FFF2-40B4-BE49-F238E27FC236}">
                  <a16:creationId xmlns:a16="http://schemas.microsoft.com/office/drawing/2014/main" id="{A75EDACF-D439-353A-B8B7-C220012D1815}"/>
                </a:ext>
              </a:extLst>
            </p:cNvPr>
            <p:cNvSpPr txBox="1"/>
            <p:nvPr/>
          </p:nvSpPr>
          <p:spPr>
            <a:xfrm>
              <a:off x="5852606" y="4018070"/>
              <a:ext cx="1659203" cy="289284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Flexion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C8E2D2-A119-0BAF-F1C5-6129FA2A1077}"/>
              </a:ext>
            </a:extLst>
          </p:cNvPr>
          <p:cNvGrpSpPr/>
          <p:nvPr/>
        </p:nvGrpSpPr>
        <p:grpSpPr>
          <a:xfrm>
            <a:off x="5739458" y="4562349"/>
            <a:ext cx="1910024" cy="1015657"/>
            <a:chOff x="5764630" y="4178970"/>
            <a:chExt cx="1910024" cy="1015657"/>
          </a:xfrm>
        </p:grpSpPr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941895E7-B31D-1D55-34EB-26F2506294AC}"/>
                </a:ext>
              </a:extLst>
            </p:cNvPr>
            <p:cNvSpPr/>
            <p:nvPr/>
          </p:nvSpPr>
          <p:spPr>
            <a:xfrm rot="10800000">
              <a:off x="5764630" y="4178970"/>
              <a:ext cx="764643" cy="1015657"/>
            </a:xfrm>
            <a:prstGeom prst="arc">
              <a:avLst/>
            </a:prstGeom>
            <a:ln w="50800">
              <a:solidFill>
                <a:srgbClr val="FF000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9" name="Text Box 78">
              <a:extLst>
                <a:ext uri="{FF2B5EF4-FFF2-40B4-BE49-F238E27FC236}">
                  <a16:creationId xmlns:a16="http://schemas.microsoft.com/office/drawing/2014/main" id="{BD7EE2DD-11E8-6FA6-2247-C3B930D6920A}"/>
                </a:ext>
              </a:extLst>
            </p:cNvPr>
            <p:cNvSpPr txBox="1"/>
            <p:nvPr/>
          </p:nvSpPr>
          <p:spPr>
            <a:xfrm>
              <a:off x="6015451" y="4645216"/>
              <a:ext cx="1659203" cy="28928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Extension</a:t>
              </a:r>
            </a:p>
          </p:txBody>
        </p:sp>
      </p:grpSp>
      <p:sp>
        <p:nvSpPr>
          <p:cNvPr id="40" name="Up Arrow Callout 39">
            <a:extLst>
              <a:ext uri="{FF2B5EF4-FFF2-40B4-BE49-F238E27FC236}">
                <a16:creationId xmlns:a16="http://schemas.microsoft.com/office/drawing/2014/main" id="{9AC5B963-B8BB-3D0E-840E-5BC8FE219410}"/>
              </a:ext>
            </a:extLst>
          </p:cNvPr>
          <p:cNvSpPr/>
          <p:nvPr/>
        </p:nvSpPr>
        <p:spPr>
          <a:xfrm>
            <a:off x="4863588" y="5716397"/>
            <a:ext cx="2593393" cy="951758"/>
          </a:xfrm>
          <a:prstGeom prst="upArrowCallou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Drag muscle vectors and torque directions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DFDD02-C525-496E-D06F-DBD578EDC5FE}"/>
              </a:ext>
            </a:extLst>
          </p:cNvPr>
          <p:cNvSpPr txBox="1"/>
          <p:nvPr/>
        </p:nvSpPr>
        <p:spPr>
          <a:xfrm>
            <a:off x="4959265" y="825198"/>
            <a:ext cx="1889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hamstrings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F8FB6-A354-94F6-36BA-9BFC3DF29368}"/>
              </a:ext>
            </a:extLst>
          </p:cNvPr>
          <p:cNvSpPr txBox="1"/>
          <p:nvPr/>
        </p:nvSpPr>
        <p:spPr>
          <a:xfrm>
            <a:off x="4984348" y="1203591"/>
            <a:ext cx="1002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quads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CD96A8-8A11-6548-2298-02010B0B87A9}"/>
              </a:ext>
            </a:extLst>
          </p:cNvPr>
          <p:cNvSpPr/>
          <p:nvPr/>
        </p:nvSpPr>
        <p:spPr>
          <a:xfrm>
            <a:off x="6036299" y="1239108"/>
            <a:ext cx="1496894" cy="5131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5230F2-B165-4743-2532-642D06A6A086}"/>
              </a:ext>
            </a:extLst>
          </p:cNvPr>
          <p:cNvGrpSpPr/>
          <p:nvPr/>
        </p:nvGrpSpPr>
        <p:grpSpPr>
          <a:xfrm>
            <a:off x="5699242" y="2939745"/>
            <a:ext cx="1659203" cy="886615"/>
            <a:chOff x="5852606" y="3642359"/>
            <a:chExt cx="1659203" cy="886615"/>
          </a:xfrm>
        </p:grpSpPr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90B50804-C40F-0E83-C110-CE6ABA5584B4}"/>
                </a:ext>
              </a:extLst>
            </p:cNvPr>
            <p:cNvSpPr/>
            <p:nvPr/>
          </p:nvSpPr>
          <p:spPr>
            <a:xfrm rot="5400000">
              <a:off x="6227070" y="3696785"/>
              <a:ext cx="886615" cy="777763"/>
            </a:xfrm>
            <a:prstGeom prst="arc">
              <a:avLst/>
            </a:prstGeom>
            <a:ln w="5080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Text Box 136">
              <a:extLst>
                <a:ext uri="{FF2B5EF4-FFF2-40B4-BE49-F238E27FC236}">
                  <a16:creationId xmlns:a16="http://schemas.microsoft.com/office/drawing/2014/main" id="{C4C909BE-AFED-5918-F7EC-98AF2E4E5ECF}"/>
                </a:ext>
              </a:extLst>
            </p:cNvPr>
            <p:cNvSpPr txBox="1"/>
            <p:nvPr/>
          </p:nvSpPr>
          <p:spPr>
            <a:xfrm>
              <a:off x="5852606" y="4018070"/>
              <a:ext cx="1659203" cy="289284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Flexion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325D08-DF0D-50E5-4554-4A282B88A463}"/>
              </a:ext>
            </a:extLst>
          </p:cNvPr>
          <p:cNvGrpSpPr/>
          <p:nvPr/>
        </p:nvGrpSpPr>
        <p:grpSpPr>
          <a:xfrm>
            <a:off x="5753966" y="3984879"/>
            <a:ext cx="1910024" cy="1015657"/>
            <a:chOff x="5764630" y="4178970"/>
            <a:chExt cx="1910024" cy="1015657"/>
          </a:xfrm>
        </p:grpSpPr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EAB25A54-D12E-DE44-B5A1-BF9B115D2CE8}"/>
                </a:ext>
              </a:extLst>
            </p:cNvPr>
            <p:cNvSpPr/>
            <p:nvPr/>
          </p:nvSpPr>
          <p:spPr>
            <a:xfrm rot="10800000">
              <a:off x="5764630" y="4178970"/>
              <a:ext cx="764643" cy="1015657"/>
            </a:xfrm>
            <a:prstGeom prst="arc">
              <a:avLst/>
            </a:prstGeom>
            <a:ln w="50800">
              <a:solidFill>
                <a:srgbClr val="FF000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44" name="Text Box 78">
              <a:extLst>
                <a:ext uri="{FF2B5EF4-FFF2-40B4-BE49-F238E27FC236}">
                  <a16:creationId xmlns:a16="http://schemas.microsoft.com/office/drawing/2014/main" id="{BAE9C1FB-9B18-29E8-135B-3154A07062AA}"/>
                </a:ext>
              </a:extLst>
            </p:cNvPr>
            <p:cNvSpPr txBox="1"/>
            <p:nvPr/>
          </p:nvSpPr>
          <p:spPr>
            <a:xfrm>
              <a:off x="6015451" y="4645216"/>
              <a:ext cx="1659203" cy="28928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Extension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5549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3001F2D-9FE9-82AE-CE29-0ED213189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47" y="610328"/>
            <a:ext cx="4241800" cy="599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63CC2C-895D-4D8D-AD17-E68005ADB664}"/>
              </a:ext>
            </a:extLst>
          </p:cNvPr>
          <p:cNvSpPr txBox="1"/>
          <p:nvPr/>
        </p:nvSpPr>
        <p:spPr>
          <a:xfrm>
            <a:off x="4647159" y="143674"/>
            <a:ext cx="3290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Limb System : </a:t>
            </a:r>
            <a:r>
              <a:rPr lang="en-US" dirty="0">
                <a:solidFill>
                  <a:srgbClr val="0070C0"/>
                </a:solidFill>
              </a:rPr>
              <a:t>lower leg/foot</a:t>
            </a:r>
          </a:p>
          <a:p>
            <a:r>
              <a:rPr lang="en-US" dirty="0"/>
              <a:t>Joint:  </a:t>
            </a:r>
            <a:r>
              <a:rPr lang="en-US" dirty="0">
                <a:solidFill>
                  <a:srgbClr val="0070C0"/>
                </a:solidFill>
              </a:rPr>
              <a:t>knee</a:t>
            </a:r>
          </a:p>
          <a:p>
            <a:r>
              <a:rPr lang="en-US" b="1" dirty="0">
                <a:solidFill>
                  <a:srgbClr val="FF0000"/>
                </a:solidFill>
              </a:rPr>
              <a:t>Muscle: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85E559D-3C56-4A18-8A1E-0F9A7F5529B8}"/>
              </a:ext>
            </a:extLst>
          </p:cNvPr>
          <p:cNvCxnSpPr>
            <a:cxnSpLocks/>
          </p:cNvCxnSpPr>
          <p:nvPr/>
        </p:nvCxnSpPr>
        <p:spPr>
          <a:xfrm flipH="1">
            <a:off x="4726743" y="3607528"/>
            <a:ext cx="5022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1073741836">
            <a:extLst>
              <a:ext uri="{FF2B5EF4-FFF2-40B4-BE49-F238E27FC236}">
                <a16:creationId xmlns:a16="http://schemas.microsoft.com/office/drawing/2014/main" id="{9CD77AFA-7FF2-4002-9481-6FFF445AF4E3}"/>
              </a:ext>
            </a:extLst>
          </p:cNvPr>
          <p:cNvSpPr txBox="1"/>
          <p:nvPr/>
        </p:nvSpPr>
        <p:spPr>
          <a:xfrm>
            <a:off x="4659206" y="3802019"/>
            <a:ext cx="441139" cy="58646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</a:t>
            </a:r>
            <a:endParaRPr lang="en-US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94AE66-6760-4D21-BA5F-DC01074DFBA6}"/>
              </a:ext>
            </a:extLst>
          </p:cNvPr>
          <p:cNvSpPr txBox="1"/>
          <p:nvPr/>
        </p:nvSpPr>
        <p:spPr>
          <a:xfrm>
            <a:off x="8440124" y="178294"/>
            <a:ext cx="41260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Torque Equilibrium Eqn.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                  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</a:t>
            </a:r>
            <a:endParaRPr lang="en-US" sz="2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0EC99B-5B67-4216-8062-406C41760241}"/>
              </a:ext>
            </a:extLst>
          </p:cNvPr>
          <p:cNvSpPr/>
          <p:nvPr/>
        </p:nvSpPr>
        <p:spPr>
          <a:xfrm>
            <a:off x="9487044" y="898229"/>
            <a:ext cx="1569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4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4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floor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B910B6-F53D-4094-8A10-E59920BB401D}"/>
              </a:ext>
            </a:extLst>
          </p:cNvPr>
          <p:cNvSpPr txBox="1"/>
          <p:nvPr/>
        </p:nvSpPr>
        <p:spPr>
          <a:xfrm>
            <a:off x="9342431" y="1284711"/>
            <a:ext cx="2580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n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F0"/>
                </a:solidFill>
              </a:rPr>
              <a:t>r</a:t>
            </a:r>
            <a:r>
              <a:rPr lang="en-US" sz="2400" baseline="-25000" dirty="0">
                <a:solidFill>
                  <a:srgbClr val="00B0F0"/>
                </a:solidFill>
                <a:sym typeface="Symbol" panose="05050102010706020507" pitchFamily="18" charset="2"/>
              </a:rPr>
              <a:t>n</a:t>
            </a:r>
            <a:r>
              <a:rPr lang="en-US" sz="2400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sz="2400" dirty="0">
                <a:sym typeface="Symbol" panose="05050102010706020507" pitchFamily="18" charset="2"/>
              </a:rPr>
              <a:t>= </a:t>
            </a:r>
            <a:r>
              <a:rPr lang="en-US" sz="2400" dirty="0">
                <a:solidFill>
                  <a:srgbClr val="FF0000"/>
                </a:solidFill>
              </a:rPr>
              <a:t>M r</a:t>
            </a:r>
            <a:r>
              <a:rPr lang="en-US" sz="24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M</a:t>
            </a:r>
            <a:endParaRPr lang="en-US" sz="2400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0578289-CDBB-4843-8BBB-75764DBC4CC6}"/>
                  </a:ext>
                </a:extLst>
              </p:cNvPr>
              <p:cNvSpPr txBox="1"/>
              <p:nvPr/>
            </p:nvSpPr>
            <p:spPr>
              <a:xfrm>
                <a:off x="9060815" y="2324805"/>
                <a:ext cx="2691958" cy="619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M</a:t>
                </a:r>
                <a:r>
                  <a:rPr lang="en-US" sz="2400" dirty="0"/>
                  <a:t> </a:t>
                </a:r>
                <a:r>
                  <a:rPr lang="en-US" sz="2400" dirty="0">
                    <a:sym typeface="Symbol" panose="05050102010706020507" pitchFamily="18" charset="2"/>
                  </a:rPr>
                  <a:t>= </a:t>
                </a:r>
                <a:r>
                  <a:rPr lang="en-US" sz="2400" dirty="0">
                    <a:solidFill>
                      <a:srgbClr val="00B0F0"/>
                    </a:solidFill>
                  </a:rPr>
                  <a:t>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M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0578289-CDBB-4843-8BBB-75764DBC4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815" y="2324805"/>
                <a:ext cx="2691958" cy="619272"/>
              </a:xfrm>
              <a:prstGeom prst="rect">
                <a:avLst/>
              </a:prstGeom>
              <a:blipFill>
                <a:blip r:embed="rId3"/>
                <a:stretch>
                  <a:fillRect l="-3286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E2F0CB23-2039-4228-8260-02E7E904F142}"/>
              </a:ext>
            </a:extLst>
          </p:cNvPr>
          <p:cNvSpPr txBox="1"/>
          <p:nvPr/>
        </p:nvSpPr>
        <p:spPr>
          <a:xfrm>
            <a:off x="8833969" y="5372373"/>
            <a:ext cx="235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</a:t>
            </a:r>
            <a:r>
              <a:rPr lang="en-US" sz="2400" dirty="0"/>
              <a:t> </a:t>
            </a:r>
            <a:r>
              <a:rPr lang="en-US" sz="2400" dirty="0">
                <a:sym typeface="Symbol" panose="05050102010706020507" pitchFamily="18" charset="2"/>
              </a:rPr>
              <a:t>= </a:t>
            </a:r>
            <a:r>
              <a:rPr lang="en-US" sz="2400" dirty="0">
                <a:solidFill>
                  <a:srgbClr val="00B0F0"/>
                </a:solidFill>
              </a:rPr>
              <a:t>n</a:t>
            </a:r>
            <a:r>
              <a:rPr lang="en-US" sz="2400" dirty="0"/>
              <a:t> *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7FD9D5-9222-43D2-ACF4-26E4C8592E82}"/>
              </a:ext>
            </a:extLst>
          </p:cNvPr>
          <p:cNvSpPr txBox="1"/>
          <p:nvPr/>
        </p:nvSpPr>
        <p:spPr>
          <a:xfrm>
            <a:off x="8863310" y="5946015"/>
            <a:ext cx="1858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</a:t>
            </a:r>
            <a:r>
              <a:rPr lang="en-US" sz="2400" dirty="0"/>
              <a:t> </a:t>
            </a:r>
            <a:r>
              <a:rPr lang="en-US" sz="2400" dirty="0">
                <a:sym typeface="Symbol" panose="05050102010706020507" pitchFamily="18" charset="2"/>
              </a:rPr>
              <a:t>= ? </a:t>
            </a:r>
            <a:r>
              <a:rPr lang="en-US" sz="2400" dirty="0">
                <a:solidFill>
                  <a:srgbClr val="00B050"/>
                </a:solidFill>
              </a:rPr>
              <a:t>W</a:t>
            </a:r>
            <a:r>
              <a:rPr lang="en-US" sz="2400" baseline="-25000" dirty="0">
                <a:solidFill>
                  <a:srgbClr val="00B050"/>
                </a:solidFill>
              </a:rPr>
              <a:t>body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5CB85B-2906-4DD7-9060-23C1956F1F69}"/>
              </a:ext>
            </a:extLst>
          </p:cNvPr>
          <p:cNvCxnSpPr>
            <a:cxnSpLocks/>
          </p:cNvCxnSpPr>
          <p:nvPr/>
        </p:nvCxnSpPr>
        <p:spPr>
          <a:xfrm flipV="1">
            <a:off x="1336377" y="4252537"/>
            <a:ext cx="0" cy="221296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EE4B39A-4DDA-48F4-9EEF-51A19DDDF2D8}"/>
              </a:ext>
            </a:extLst>
          </p:cNvPr>
          <p:cNvSpPr/>
          <p:nvPr/>
        </p:nvSpPr>
        <p:spPr>
          <a:xfrm>
            <a:off x="918617" y="4065009"/>
            <a:ext cx="145143" cy="13631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379283-33F1-4A6E-8643-398FBE3960C8}"/>
              </a:ext>
            </a:extLst>
          </p:cNvPr>
          <p:cNvCxnSpPr>
            <a:cxnSpLocks/>
          </p:cNvCxnSpPr>
          <p:nvPr/>
        </p:nvCxnSpPr>
        <p:spPr>
          <a:xfrm>
            <a:off x="4790523" y="3035266"/>
            <a:ext cx="1051671" cy="2768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073741836">
            <a:extLst>
              <a:ext uri="{FF2B5EF4-FFF2-40B4-BE49-F238E27FC236}">
                <a16:creationId xmlns:a16="http://schemas.microsoft.com/office/drawing/2014/main" id="{DFB199C6-45B6-4682-AE57-ADA5C4211B0C}"/>
              </a:ext>
            </a:extLst>
          </p:cNvPr>
          <p:cNvSpPr txBox="1"/>
          <p:nvPr/>
        </p:nvSpPr>
        <p:spPr>
          <a:xfrm>
            <a:off x="5173210" y="3017369"/>
            <a:ext cx="441139" cy="58646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b="1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</a:t>
            </a:r>
            <a:endParaRPr lang="en-US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96017F-D1CD-4458-ACAD-574409A81840}"/>
              </a:ext>
            </a:extLst>
          </p:cNvPr>
          <p:cNvSpPr txBox="1"/>
          <p:nvPr/>
        </p:nvSpPr>
        <p:spPr>
          <a:xfrm>
            <a:off x="1336377" y="5472350"/>
            <a:ext cx="141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n</a:t>
            </a:r>
            <a:r>
              <a:rPr lang="en-US" sz="2400" b="1" baseline="-25000" dirty="0">
                <a:solidFill>
                  <a:srgbClr val="00B0F0"/>
                </a:solidFill>
              </a:rPr>
              <a:t>left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FBC57-CA80-4012-8053-1A05B1C01A78}"/>
              </a:ext>
            </a:extLst>
          </p:cNvPr>
          <p:cNvSpPr txBox="1"/>
          <p:nvPr/>
        </p:nvSpPr>
        <p:spPr>
          <a:xfrm>
            <a:off x="4647159" y="1155718"/>
            <a:ext cx="3075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n</a:t>
            </a:r>
            <a:r>
              <a:rPr lang="en-US" sz="2400" b="1" baseline="-25000" dirty="0">
                <a:solidFill>
                  <a:srgbClr val="00B0F0"/>
                </a:solidFill>
              </a:rPr>
              <a:t>left </a:t>
            </a:r>
            <a:r>
              <a:rPr lang="en-US" sz="2400" dirty="0"/>
              <a:t>=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50"/>
                </a:solidFill>
              </a:rPr>
              <a:t>W</a:t>
            </a:r>
            <a:r>
              <a:rPr lang="en-US" sz="2400" baseline="-25000" dirty="0">
                <a:solidFill>
                  <a:srgbClr val="00B050"/>
                </a:solidFill>
              </a:rPr>
              <a:t>body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311E36-F607-4707-AD4C-67ACE699227B}"/>
              </a:ext>
            </a:extLst>
          </p:cNvPr>
          <p:cNvCxnSpPr/>
          <p:nvPr/>
        </p:nvCxnSpPr>
        <p:spPr>
          <a:xfrm flipH="1" flipV="1">
            <a:off x="6299130" y="1788003"/>
            <a:ext cx="86754" cy="285798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76E7F40-CC1F-3CF3-9E30-D394CEB9128B}"/>
              </a:ext>
            </a:extLst>
          </p:cNvPr>
          <p:cNvSpPr txBox="1"/>
          <p:nvPr/>
        </p:nvSpPr>
        <p:spPr>
          <a:xfrm>
            <a:off x="7455979" y="4252537"/>
            <a:ext cx="4555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Calculate estimate for </a:t>
            </a:r>
            <a:r>
              <a:rPr lang="en-US" sz="2400" dirty="0">
                <a:solidFill>
                  <a:srgbClr val="FF0000"/>
                </a:solidFill>
              </a:rPr>
              <a:t>muscle </a:t>
            </a:r>
            <a:r>
              <a:rPr lang="en-US" sz="2400" dirty="0"/>
              <a:t>force</a:t>
            </a:r>
          </a:p>
        </p:txBody>
      </p:sp>
      <p:sp>
        <p:nvSpPr>
          <p:cNvPr id="47" name="Up Arrow Callout 46">
            <a:extLst>
              <a:ext uri="{FF2B5EF4-FFF2-40B4-BE49-F238E27FC236}">
                <a16:creationId xmlns:a16="http://schemas.microsoft.com/office/drawing/2014/main" id="{4A068799-FAC4-74AB-9244-00E21B38F2BA}"/>
              </a:ext>
            </a:extLst>
          </p:cNvPr>
          <p:cNvSpPr/>
          <p:nvPr/>
        </p:nvSpPr>
        <p:spPr>
          <a:xfrm>
            <a:off x="4863588" y="5716397"/>
            <a:ext cx="2593393" cy="951758"/>
          </a:xfrm>
          <a:prstGeom prst="upArrowCallou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Drag muscle vector and lever arms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AAF9B1-285D-88BC-9316-406D96413328}"/>
              </a:ext>
            </a:extLst>
          </p:cNvPr>
          <p:cNvSpPr txBox="1"/>
          <p:nvPr/>
        </p:nvSpPr>
        <p:spPr>
          <a:xfrm>
            <a:off x="7884600" y="3108180"/>
            <a:ext cx="3816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Estimate ratio of lever arms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5F0740-7D4E-654E-736A-95559689925F}"/>
                  </a:ext>
                </a:extLst>
              </p:cNvPr>
              <p:cNvSpPr txBox="1"/>
              <p:nvPr/>
            </p:nvSpPr>
            <p:spPr>
              <a:xfrm>
                <a:off x="9149707" y="3567616"/>
                <a:ext cx="1869897" cy="619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M</m:t>
                        </m:r>
                      </m:den>
                    </m:f>
                  </m:oMath>
                </a14:m>
                <a:r>
                  <a:rPr lang="en-US" sz="2400" dirty="0"/>
                  <a:t> = 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5F0740-7D4E-654E-736A-955596899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707" y="3567616"/>
                <a:ext cx="1869897" cy="619272"/>
              </a:xfrm>
              <a:prstGeom prst="rect">
                <a:avLst/>
              </a:prstGeom>
              <a:blipFill>
                <a:blip r:embed="rId4"/>
                <a:stretch>
                  <a:fillRect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D974B8B-0BF0-A758-C5C3-A33840AF6804}"/>
              </a:ext>
            </a:extLst>
          </p:cNvPr>
          <p:cNvSpPr txBox="1"/>
          <p:nvPr/>
        </p:nvSpPr>
        <p:spPr>
          <a:xfrm>
            <a:off x="7976950" y="1810220"/>
            <a:ext cx="3816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Isolating for unknown </a:t>
            </a:r>
            <a:r>
              <a:rPr lang="en-US" sz="2400" dirty="0">
                <a:solidFill>
                  <a:srgbClr val="FF0000"/>
                </a:solidFill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4E2B43A-3553-AB39-A628-6D5AD69DFAB4}"/>
                  </a:ext>
                </a:extLst>
              </p:cNvPr>
              <p:cNvSpPr txBox="1"/>
              <p:nvPr/>
            </p:nvSpPr>
            <p:spPr>
              <a:xfrm>
                <a:off x="8833969" y="4596027"/>
                <a:ext cx="2691958" cy="619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M</a:t>
                </a:r>
                <a:r>
                  <a:rPr lang="en-US" sz="2400" dirty="0"/>
                  <a:t> </a:t>
                </a:r>
                <a:r>
                  <a:rPr lang="en-US" sz="2400" dirty="0">
                    <a:sym typeface="Symbol" panose="05050102010706020507" pitchFamily="18" charset="2"/>
                  </a:rPr>
                  <a:t>= </a:t>
                </a:r>
                <a:r>
                  <a:rPr lang="en-US" sz="2400" dirty="0">
                    <a:solidFill>
                      <a:srgbClr val="00B0F0"/>
                    </a:solidFill>
                  </a:rPr>
                  <a:t>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M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4E2B43A-3553-AB39-A628-6D5AD69DF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969" y="4596027"/>
                <a:ext cx="2691958" cy="619272"/>
              </a:xfrm>
              <a:prstGeom prst="rect">
                <a:avLst/>
              </a:prstGeom>
              <a:blipFill>
                <a:blip r:embed="rId5"/>
                <a:stretch>
                  <a:fillRect l="-3756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E7C04B-5322-D19B-3207-A89B38C889A3}"/>
              </a:ext>
            </a:extLst>
          </p:cNvPr>
          <p:cNvCxnSpPr>
            <a:cxnSpLocks/>
          </p:cNvCxnSpPr>
          <p:nvPr/>
        </p:nvCxnSpPr>
        <p:spPr>
          <a:xfrm>
            <a:off x="5614349" y="3603833"/>
            <a:ext cx="0" cy="2230205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302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AB1E8F4-FC4C-3E45-9EEA-B490EBAA6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60" y="942703"/>
            <a:ext cx="5985014" cy="340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CA1FA08-5919-5443-A77E-804FC9AC0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252" y="940732"/>
            <a:ext cx="5267569" cy="341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43F780-F7D9-A846-AB8D-A3F08AA13291}"/>
              </a:ext>
            </a:extLst>
          </p:cNvPr>
          <p:cNvSpPr/>
          <p:nvPr/>
        </p:nvSpPr>
        <p:spPr>
          <a:xfrm>
            <a:off x="2403894" y="4429307"/>
            <a:ext cx="385887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hlinkClick r:id="rId4"/>
              </a:rPr>
              <a:t>https://www.ncbi.nlm.nih.gov/pmc/articles/PMC7547162/</a:t>
            </a:r>
            <a:endParaRPr lang="en-US" sz="1200" dirty="0"/>
          </a:p>
          <a:p>
            <a:endParaRPr lang="en-US" dirty="0"/>
          </a:p>
        </p:txBody>
      </p:sp>
      <p:sp>
        <p:nvSpPr>
          <p:cNvPr id="3" name="Up Arrow 2">
            <a:extLst>
              <a:ext uri="{FF2B5EF4-FFF2-40B4-BE49-F238E27FC236}">
                <a16:creationId xmlns:a16="http://schemas.microsoft.com/office/drawing/2014/main" id="{FE68D78C-2670-AB40-9FE7-A4EF07F88AD6}"/>
              </a:ext>
            </a:extLst>
          </p:cNvPr>
          <p:cNvSpPr/>
          <p:nvPr/>
        </p:nvSpPr>
        <p:spPr>
          <a:xfrm rot="20477816" flipH="1">
            <a:off x="1107986" y="1623406"/>
            <a:ext cx="115467" cy="322655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6C4FD0-1BA8-6EF6-30CD-2D2084635F84}"/>
              </a:ext>
            </a:extLst>
          </p:cNvPr>
          <p:cNvSpPr txBox="1"/>
          <p:nvPr/>
        </p:nvSpPr>
        <p:spPr>
          <a:xfrm>
            <a:off x="5837922" y="4798639"/>
            <a:ext cx="5804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Lever arm is sometimes referred to as “moment arm”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951D0-C3DA-561C-DD29-08E3C161274B}"/>
              </a:ext>
            </a:extLst>
          </p:cNvPr>
          <p:cNvSpPr txBox="1"/>
          <p:nvPr/>
        </p:nvSpPr>
        <p:spPr>
          <a:xfrm>
            <a:off x="1313463" y="347803"/>
            <a:ext cx="7943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Lever arm of quad depends on angle the leg is bent</a:t>
            </a:r>
          </a:p>
        </p:txBody>
      </p:sp>
    </p:spTree>
    <p:extLst>
      <p:ext uri="{BB962C8B-B14F-4D97-AF65-F5344CB8AC3E}">
        <p14:creationId xmlns:p14="http://schemas.microsoft.com/office/powerpoint/2010/main" val="2961938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titled Measure Knee Flexion at Home Step 3">
            <a:extLst>
              <a:ext uri="{FF2B5EF4-FFF2-40B4-BE49-F238E27FC236}">
                <a16:creationId xmlns:a16="http://schemas.microsoft.com/office/drawing/2014/main" id="{D7FF54C2-70BA-34CC-0B56-30DD222D6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45" y="736896"/>
            <a:ext cx="4174358" cy="313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titled Measure Knee Flexion at Home Step 4">
            <a:extLst>
              <a:ext uri="{FF2B5EF4-FFF2-40B4-BE49-F238E27FC236}">
                <a16:creationId xmlns:a16="http://schemas.microsoft.com/office/drawing/2014/main" id="{A287F151-C9C3-E7C3-3C0C-B7317AB53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819" y="956231"/>
            <a:ext cx="3881911" cy="291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06A0DB-E881-C203-A966-3BC440DA559B}"/>
              </a:ext>
            </a:extLst>
          </p:cNvPr>
          <p:cNvSpPr txBox="1"/>
          <p:nvPr/>
        </p:nvSpPr>
        <p:spPr>
          <a:xfrm>
            <a:off x="955590" y="3867664"/>
            <a:ext cx="43380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4"/>
              </a:rPr>
              <a:t>https://www.wikihow.com/Measure-Knee-Flexion-at-Home</a:t>
            </a:r>
            <a:endParaRPr lang="en-US" sz="1000" dirty="0"/>
          </a:p>
        </p:txBody>
      </p:sp>
      <p:pic>
        <p:nvPicPr>
          <p:cNvPr id="1032" name="Picture 8" descr="Knee Range Of Motion: How To Measure &amp; Improve - Knee Pain Explained">
            <a:extLst>
              <a:ext uri="{FF2B5EF4-FFF2-40B4-BE49-F238E27FC236}">
                <a16:creationId xmlns:a16="http://schemas.microsoft.com/office/drawing/2014/main" id="{5B8DAFDF-B78C-2FE0-9114-099408257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706" y="3716293"/>
            <a:ext cx="4174358" cy="273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nee Range of Motion and Movements | Bone and Spine">
            <a:extLst>
              <a:ext uri="{FF2B5EF4-FFF2-40B4-BE49-F238E27FC236}">
                <a16:creationId xmlns:a16="http://schemas.microsoft.com/office/drawing/2014/main" id="{42379969-B82B-15D7-40BD-29F33041D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590" y="4284877"/>
            <a:ext cx="3987800" cy="204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A1E28D-D65D-2D3D-24B3-A35C4662EF5C}"/>
              </a:ext>
            </a:extLst>
          </p:cNvPr>
          <p:cNvSpPr txBox="1"/>
          <p:nvPr/>
        </p:nvSpPr>
        <p:spPr>
          <a:xfrm>
            <a:off x="1304818" y="154112"/>
            <a:ext cx="5161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Zero angle is when limb is straight</a:t>
            </a:r>
          </a:p>
        </p:txBody>
      </p:sp>
    </p:spTree>
    <p:extLst>
      <p:ext uri="{BB962C8B-B14F-4D97-AF65-F5344CB8AC3E}">
        <p14:creationId xmlns:p14="http://schemas.microsoft.com/office/powerpoint/2010/main" val="3413564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1B860B1-9F07-F298-770E-B9F99B7960D6}"/>
              </a:ext>
            </a:extLst>
          </p:cNvPr>
          <p:cNvGrpSpPr/>
          <p:nvPr/>
        </p:nvGrpSpPr>
        <p:grpSpPr>
          <a:xfrm>
            <a:off x="7483061" y="722027"/>
            <a:ext cx="4415110" cy="5994400"/>
            <a:chOff x="7483061" y="722027"/>
            <a:chExt cx="4415110" cy="59944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B91DD53-A83A-C537-DC7D-E3206B22A1CA}"/>
                </a:ext>
              </a:extLst>
            </p:cNvPr>
            <p:cNvGrpSpPr/>
            <p:nvPr/>
          </p:nvGrpSpPr>
          <p:grpSpPr>
            <a:xfrm>
              <a:off x="7483061" y="722027"/>
              <a:ext cx="4415110" cy="5994400"/>
              <a:chOff x="7283671" y="725257"/>
              <a:chExt cx="4415110" cy="599440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3E385EF-ECFD-B367-35EF-6006E7006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56981" y="725257"/>
                <a:ext cx="4241800" cy="5994400"/>
              </a:xfrm>
              <a:prstGeom prst="rect">
                <a:avLst/>
              </a:prstGeom>
            </p:spPr>
          </p:pic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6B3C1BF1-3521-7E68-02C4-4CB31D7744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53276" y="4510217"/>
                <a:ext cx="0" cy="2053832"/>
              </a:xfrm>
              <a:prstGeom prst="straightConnector1">
                <a:avLst/>
              </a:prstGeom>
              <a:ln w="762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86B411-6FCF-3562-1DFF-D9F329EFB8C4}"/>
                  </a:ext>
                </a:extLst>
              </p:cNvPr>
              <p:cNvSpPr txBox="1"/>
              <p:nvPr/>
            </p:nvSpPr>
            <p:spPr>
              <a:xfrm>
                <a:off x="7618924" y="5705008"/>
                <a:ext cx="10055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F0"/>
                    </a:solidFill>
                  </a:rPr>
                  <a:t>n</a:t>
                </a:r>
                <a:r>
                  <a:rPr lang="en-US" sz="2400" b="1" baseline="-25000" dirty="0">
                    <a:solidFill>
                      <a:srgbClr val="00B0F0"/>
                    </a:solidFill>
                  </a:rPr>
                  <a:t>left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942D272-77E7-7EB0-08E9-E3F8B88FCE75}"/>
                  </a:ext>
                </a:extLst>
              </p:cNvPr>
              <p:cNvSpPr txBox="1"/>
              <p:nvPr/>
            </p:nvSpPr>
            <p:spPr>
              <a:xfrm>
                <a:off x="7283671" y="5393440"/>
                <a:ext cx="11186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Tibialis</a:t>
                </a:r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29CE967-4C9D-07D5-9F04-1D4424336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9000"/>
            </a:blip>
            <a:stretch>
              <a:fillRect/>
            </a:stretch>
          </p:blipFill>
          <p:spPr>
            <a:xfrm rot="20878033" flipH="1">
              <a:off x="8925279" y="5398505"/>
              <a:ext cx="919156" cy="1182139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48B5A09-7357-61B9-5C0C-DDFF94E30E95}"/>
              </a:ext>
            </a:extLst>
          </p:cNvPr>
          <p:cNvGrpSpPr/>
          <p:nvPr/>
        </p:nvGrpSpPr>
        <p:grpSpPr>
          <a:xfrm>
            <a:off x="505956" y="754239"/>
            <a:ext cx="4241800" cy="5994400"/>
            <a:chOff x="505956" y="722027"/>
            <a:chExt cx="4241800" cy="59944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A165210-5C3A-BAEB-0A91-7B9EF49D9A1C}"/>
                </a:ext>
              </a:extLst>
            </p:cNvPr>
            <p:cNvGrpSpPr/>
            <p:nvPr/>
          </p:nvGrpSpPr>
          <p:grpSpPr>
            <a:xfrm>
              <a:off x="505956" y="722027"/>
              <a:ext cx="4241800" cy="5994400"/>
              <a:chOff x="616915" y="609665"/>
              <a:chExt cx="4241800" cy="59944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A6A31BEF-87BC-63CB-421C-C7FD1A3DA2D8}"/>
                  </a:ext>
                </a:extLst>
              </p:cNvPr>
              <p:cNvGrpSpPr/>
              <p:nvPr/>
            </p:nvGrpSpPr>
            <p:grpSpPr>
              <a:xfrm>
                <a:off x="616915" y="609665"/>
                <a:ext cx="4241800" cy="5994400"/>
                <a:chOff x="709890" y="652307"/>
                <a:chExt cx="4241800" cy="5994400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CB2EB196-2AB3-FE25-1398-BC32815B3F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709890" y="652307"/>
                  <a:ext cx="4241800" cy="5994400"/>
                </a:xfrm>
                <a:prstGeom prst="rect">
                  <a:avLst/>
                </a:prstGeom>
              </p:spPr>
            </p:pic>
            <p:cxnSp>
              <p:nvCxnSpPr>
                <p:cNvPr id="5" name="Straight Arrow Connector 4">
                  <a:extLst>
                    <a:ext uri="{FF2B5EF4-FFF2-40B4-BE49-F238E27FC236}">
                      <a16:creationId xmlns:a16="http://schemas.microsoft.com/office/drawing/2014/main" id="{146AD619-C546-41BA-BF88-B2A7859B61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23827" y="4483064"/>
                  <a:ext cx="0" cy="2053832"/>
                </a:xfrm>
                <a:prstGeom prst="straightConnector1">
                  <a:avLst/>
                </a:prstGeom>
                <a:ln w="76200">
                  <a:solidFill>
                    <a:srgbClr val="00B0F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125E6E9-674E-4B53-946C-41697FB485E6}"/>
                    </a:ext>
                  </a:extLst>
                </p:cNvPr>
                <p:cNvSpPr txBox="1"/>
                <p:nvPr/>
              </p:nvSpPr>
              <p:spPr>
                <a:xfrm>
                  <a:off x="792244" y="5309955"/>
                  <a:ext cx="100550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F0"/>
                      </a:solidFill>
                    </a:rPr>
                    <a:t>n</a:t>
                  </a:r>
                  <a:r>
                    <a:rPr lang="en-US" sz="2400" b="1" baseline="-25000" dirty="0">
                      <a:solidFill>
                        <a:srgbClr val="00B0F0"/>
                      </a:solidFill>
                    </a:rPr>
                    <a:t>left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726E5D7-7448-5089-5946-3EA1C7638030}"/>
                    </a:ext>
                  </a:extLst>
                </p:cNvPr>
                <p:cNvSpPr txBox="1"/>
                <p:nvPr/>
              </p:nvSpPr>
              <p:spPr>
                <a:xfrm>
                  <a:off x="2663165" y="5079123"/>
                  <a:ext cx="188956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</a:rPr>
                    <a:t>Achilles/calf</a:t>
                  </a:r>
                </a:p>
              </p:txBody>
            </p:sp>
          </p:grp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6DD8BD44-8D6E-993B-5608-A571C74100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74000"/>
              </a:blip>
              <a:stretch>
                <a:fillRect/>
              </a:stretch>
            </p:blipFill>
            <p:spPr>
              <a:xfrm flipH="1">
                <a:off x="2187895" y="2448383"/>
                <a:ext cx="799996" cy="1092464"/>
              </a:xfrm>
              <a:prstGeom prst="rect">
                <a:avLst/>
              </a:prstGeom>
            </p:spPr>
          </p:pic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EB295CE-60C2-1146-5E63-C34450605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6000"/>
            </a:blip>
            <a:stretch>
              <a:fillRect/>
            </a:stretch>
          </p:blipFill>
          <p:spPr>
            <a:xfrm flipH="1">
              <a:off x="1901401" y="5564455"/>
              <a:ext cx="1351103" cy="1066800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A943CE0D-F3B0-3B85-2A5E-95FC1B5738C7}"/>
              </a:ext>
            </a:extLst>
          </p:cNvPr>
          <p:cNvSpPr/>
          <p:nvPr/>
        </p:nvSpPr>
        <p:spPr>
          <a:xfrm flipV="1">
            <a:off x="2211883" y="6072899"/>
            <a:ext cx="221948" cy="181088"/>
          </a:xfrm>
          <a:prstGeom prst="ellipse">
            <a:avLst/>
          </a:prstGeom>
          <a:solidFill>
            <a:srgbClr val="FFC000"/>
          </a:solidFill>
          <a:ln w="412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8F60FE-AF90-0CA2-736A-DF869A5B2820}"/>
              </a:ext>
            </a:extLst>
          </p:cNvPr>
          <p:cNvSpPr txBox="1"/>
          <p:nvPr/>
        </p:nvSpPr>
        <p:spPr>
          <a:xfrm>
            <a:off x="4735019" y="29097"/>
            <a:ext cx="729601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What </a:t>
            </a:r>
            <a:r>
              <a:rPr lang="en-US" sz="2400" b="1" dirty="0">
                <a:solidFill>
                  <a:srgbClr val="FF0000"/>
                </a:solidFill>
              </a:rPr>
              <a:t>muscle</a:t>
            </a:r>
            <a:r>
              <a:rPr lang="en-US" sz="2400" dirty="0">
                <a:solidFill>
                  <a:srgbClr val="C00000"/>
                </a:solidFill>
              </a:rPr>
              <a:t> can exert a counter torque to  the </a:t>
            </a:r>
            <a:r>
              <a:rPr lang="en-US" sz="2400" dirty="0">
                <a:solidFill>
                  <a:srgbClr val="00B0F0"/>
                </a:solidFill>
              </a:rPr>
              <a:t>floor force (n</a:t>
            </a:r>
            <a:r>
              <a:rPr lang="en-US" sz="2400" baseline="-25000" dirty="0">
                <a:solidFill>
                  <a:srgbClr val="00B0F0"/>
                </a:solidFill>
              </a:rPr>
              <a:t>floor</a:t>
            </a:r>
            <a:r>
              <a:rPr lang="en-US" sz="2400" dirty="0">
                <a:solidFill>
                  <a:srgbClr val="00B0F0"/>
                </a:solidFill>
              </a:rPr>
              <a:t>) </a:t>
            </a:r>
            <a:r>
              <a:rPr lang="en-US" sz="2400" dirty="0">
                <a:solidFill>
                  <a:srgbClr val="C00000"/>
                </a:solidFill>
              </a:rPr>
              <a:t>on the </a:t>
            </a:r>
            <a:r>
              <a:rPr lang="en-US" sz="2400" dirty="0"/>
              <a:t>foot</a:t>
            </a:r>
            <a:r>
              <a:rPr lang="en-US" sz="2400" dirty="0">
                <a:solidFill>
                  <a:srgbClr val="C00000"/>
                </a:solidFill>
              </a:rPr>
              <a:t> around the </a:t>
            </a:r>
            <a:r>
              <a:rPr lang="en-US" sz="2400" dirty="0"/>
              <a:t>ankle</a:t>
            </a:r>
            <a:r>
              <a:rPr lang="en-US" sz="2400" dirty="0">
                <a:solidFill>
                  <a:srgbClr val="C00000"/>
                </a:solidFill>
              </a:rPr>
              <a:t>?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FEDB87-CB54-99BC-8B7D-7A22447E2B42}"/>
              </a:ext>
            </a:extLst>
          </p:cNvPr>
          <p:cNvSpPr txBox="1"/>
          <p:nvPr/>
        </p:nvSpPr>
        <p:spPr>
          <a:xfrm>
            <a:off x="612267" y="109361"/>
            <a:ext cx="398077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Lever system:  </a:t>
            </a:r>
            <a:r>
              <a:rPr lang="en-US" sz="2400" dirty="0">
                <a:solidFill>
                  <a:srgbClr val="0070C0"/>
                </a:solidFill>
              </a:rPr>
              <a:t>foot</a:t>
            </a:r>
          </a:p>
          <a:p>
            <a:r>
              <a:rPr lang="en-US" sz="2400" dirty="0"/>
              <a:t>Joint axis: </a:t>
            </a:r>
            <a:r>
              <a:rPr lang="en-US" sz="2400" dirty="0">
                <a:solidFill>
                  <a:srgbClr val="0070C0"/>
                </a:solidFill>
              </a:rPr>
              <a:t>ankle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4E27C42-0E99-CFF4-EB15-A9D1ABEF968A}"/>
              </a:ext>
            </a:extLst>
          </p:cNvPr>
          <p:cNvSpPr/>
          <p:nvPr/>
        </p:nvSpPr>
        <p:spPr>
          <a:xfrm flipV="1">
            <a:off x="9232324" y="6039523"/>
            <a:ext cx="221948" cy="181088"/>
          </a:xfrm>
          <a:prstGeom prst="ellipse">
            <a:avLst/>
          </a:prstGeom>
          <a:solidFill>
            <a:srgbClr val="FFC000"/>
          </a:solidFill>
          <a:ln w="412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5B2385A-3B29-C875-2E88-5B7ABD13A851}"/>
              </a:ext>
            </a:extLst>
          </p:cNvPr>
          <p:cNvGrpSpPr/>
          <p:nvPr/>
        </p:nvGrpSpPr>
        <p:grpSpPr>
          <a:xfrm>
            <a:off x="5854867" y="3664734"/>
            <a:ext cx="1668641" cy="1015657"/>
            <a:chOff x="5854867" y="3664734"/>
            <a:chExt cx="1668641" cy="1015657"/>
          </a:xfrm>
        </p:grpSpPr>
        <p:sp>
          <p:nvSpPr>
            <p:cNvPr id="24" name="Text Box 136">
              <a:extLst>
                <a:ext uri="{FF2B5EF4-FFF2-40B4-BE49-F238E27FC236}">
                  <a16:creationId xmlns:a16="http://schemas.microsoft.com/office/drawing/2014/main" id="{C23118A2-352F-9E37-553D-28EF01712467}"/>
                </a:ext>
              </a:extLst>
            </p:cNvPr>
            <p:cNvSpPr txBox="1"/>
            <p:nvPr/>
          </p:nvSpPr>
          <p:spPr>
            <a:xfrm>
              <a:off x="5864305" y="4144236"/>
              <a:ext cx="1659203" cy="289284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Dorsiflexion</a:t>
              </a:r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7D94A45C-8E5C-520E-4455-ED6F16C87998}"/>
                </a:ext>
              </a:extLst>
            </p:cNvPr>
            <p:cNvSpPr/>
            <p:nvPr/>
          </p:nvSpPr>
          <p:spPr>
            <a:xfrm rot="12997917">
              <a:off x="5854867" y="3664734"/>
              <a:ext cx="764643" cy="1015657"/>
            </a:xfrm>
            <a:prstGeom prst="arc">
              <a:avLst/>
            </a:prstGeom>
            <a:ln w="50800">
              <a:solidFill>
                <a:srgbClr val="FF000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50994F7-5071-1729-9285-640A5B3CB4CF}"/>
              </a:ext>
            </a:extLst>
          </p:cNvPr>
          <p:cNvGrpSpPr/>
          <p:nvPr/>
        </p:nvGrpSpPr>
        <p:grpSpPr>
          <a:xfrm>
            <a:off x="4727056" y="4865740"/>
            <a:ext cx="2514147" cy="777763"/>
            <a:chOff x="4727056" y="4865740"/>
            <a:chExt cx="2514147" cy="777763"/>
          </a:xfrm>
        </p:grpSpPr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DE1DCC06-83A4-8667-06A5-827FD01BE216}"/>
                </a:ext>
              </a:extLst>
            </p:cNvPr>
            <p:cNvSpPr/>
            <p:nvPr/>
          </p:nvSpPr>
          <p:spPr>
            <a:xfrm rot="2285900">
              <a:off x="5873054" y="4865740"/>
              <a:ext cx="886615" cy="777763"/>
            </a:xfrm>
            <a:prstGeom prst="arc">
              <a:avLst/>
            </a:prstGeom>
            <a:ln w="5080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6" name="Text Box 78">
              <a:extLst>
                <a:ext uri="{FF2B5EF4-FFF2-40B4-BE49-F238E27FC236}">
                  <a16:creationId xmlns:a16="http://schemas.microsoft.com/office/drawing/2014/main" id="{C9767FF5-8037-A088-E64C-67894D3A9C64}"/>
                </a:ext>
              </a:extLst>
            </p:cNvPr>
            <p:cNvSpPr txBox="1"/>
            <p:nvPr/>
          </p:nvSpPr>
          <p:spPr>
            <a:xfrm>
              <a:off x="4727056" y="4965337"/>
              <a:ext cx="2514147" cy="28928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Plantar flexion</a:t>
              </a: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AC6163D-CC70-CAF8-C1EA-7311139D2054}"/>
              </a:ext>
            </a:extLst>
          </p:cNvPr>
          <p:cNvCxnSpPr>
            <a:cxnSpLocks/>
          </p:cNvCxnSpPr>
          <p:nvPr/>
        </p:nvCxnSpPr>
        <p:spPr>
          <a:xfrm flipV="1">
            <a:off x="4987616" y="2438400"/>
            <a:ext cx="0" cy="21502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492A66E-3A0F-7EE6-A28E-5FC883D51362}"/>
              </a:ext>
            </a:extLst>
          </p:cNvPr>
          <p:cNvCxnSpPr>
            <a:cxnSpLocks/>
          </p:cNvCxnSpPr>
          <p:nvPr/>
        </p:nvCxnSpPr>
        <p:spPr>
          <a:xfrm flipH="1" flipV="1">
            <a:off x="5464128" y="2438400"/>
            <a:ext cx="26345" cy="214131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Up Arrow Callout 39">
            <a:extLst>
              <a:ext uri="{FF2B5EF4-FFF2-40B4-BE49-F238E27FC236}">
                <a16:creationId xmlns:a16="http://schemas.microsoft.com/office/drawing/2014/main" id="{9AC5B963-B8BB-3D0E-840E-5BC8FE219410}"/>
              </a:ext>
            </a:extLst>
          </p:cNvPr>
          <p:cNvSpPr/>
          <p:nvPr/>
        </p:nvSpPr>
        <p:spPr>
          <a:xfrm>
            <a:off x="4863588" y="5716397"/>
            <a:ext cx="2593393" cy="951758"/>
          </a:xfrm>
          <a:prstGeom prst="upArrowCallou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Drag muscle vectors and torque directions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A83EA2-7734-9A56-FEC8-5E6E05C2A76B}"/>
              </a:ext>
            </a:extLst>
          </p:cNvPr>
          <p:cNvSpPr txBox="1"/>
          <p:nvPr/>
        </p:nvSpPr>
        <p:spPr>
          <a:xfrm>
            <a:off x="5884941" y="853646"/>
            <a:ext cx="1889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Achilles/calf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2EE3FC-3569-72C6-FA45-78E362AB9D2F}"/>
              </a:ext>
            </a:extLst>
          </p:cNvPr>
          <p:cNvSpPr txBox="1"/>
          <p:nvPr/>
        </p:nvSpPr>
        <p:spPr>
          <a:xfrm>
            <a:off x="6364398" y="1326764"/>
            <a:ext cx="1118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Tibialis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06F94A-E11D-55BE-2FFA-7A560FC2A995}"/>
              </a:ext>
            </a:extLst>
          </p:cNvPr>
          <p:cNvSpPr/>
          <p:nvPr/>
        </p:nvSpPr>
        <p:spPr>
          <a:xfrm>
            <a:off x="4767973" y="1251488"/>
            <a:ext cx="1392311" cy="5092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7440334-3B03-6A37-D9C1-5B2115FA6E0F}"/>
              </a:ext>
            </a:extLst>
          </p:cNvPr>
          <p:cNvGrpSpPr/>
          <p:nvPr/>
        </p:nvGrpSpPr>
        <p:grpSpPr>
          <a:xfrm>
            <a:off x="6232237" y="3251558"/>
            <a:ext cx="1668641" cy="1015657"/>
            <a:chOff x="5854867" y="3664734"/>
            <a:chExt cx="1668641" cy="1015657"/>
          </a:xfrm>
        </p:grpSpPr>
        <p:sp>
          <p:nvSpPr>
            <p:cNvPr id="45" name="Text Box 136">
              <a:extLst>
                <a:ext uri="{FF2B5EF4-FFF2-40B4-BE49-F238E27FC236}">
                  <a16:creationId xmlns:a16="http://schemas.microsoft.com/office/drawing/2014/main" id="{7B881ADF-29AF-CCD0-1BE9-968279BD4B4E}"/>
                </a:ext>
              </a:extLst>
            </p:cNvPr>
            <p:cNvSpPr txBox="1"/>
            <p:nvPr/>
          </p:nvSpPr>
          <p:spPr>
            <a:xfrm>
              <a:off x="5864305" y="4144236"/>
              <a:ext cx="1659203" cy="289284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Dorsiflexion</a:t>
              </a:r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CC5BAD3D-9064-9387-3EB9-F798F9F02131}"/>
                </a:ext>
              </a:extLst>
            </p:cNvPr>
            <p:cNvSpPr/>
            <p:nvPr/>
          </p:nvSpPr>
          <p:spPr>
            <a:xfrm rot="12997917">
              <a:off x="5854867" y="3664734"/>
              <a:ext cx="764643" cy="1015657"/>
            </a:xfrm>
            <a:prstGeom prst="arc">
              <a:avLst/>
            </a:prstGeom>
            <a:ln w="50800">
              <a:solidFill>
                <a:srgbClr val="FF000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F878E9-3BBA-08EC-CD9C-786AC966A07F}"/>
              </a:ext>
            </a:extLst>
          </p:cNvPr>
          <p:cNvGrpSpPr/>
          <p:nvPr/>
        </p:nvGrpSpPr>
        <p:grpSpPr>
          <a:xfrm>
            <a:off x="5104426" y="4452564"/>
            <a:ext cx="2514147" cy="777763"/>
            <a:chOff x="4727056" y="4865740"/>
            <a:chExt cx="2514147" cy="777763"/>
          </a:xfrm>
        </p:grpSpPr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D7AD2CD0-25C6-6A72-6D97-A109CFDEDE09}"/>
                </a:ext>
              </a:extLst>
            </p:cNvPr>
            <p:cNvSpPr/>
            <p:nvPr/>
          </p:nvSpPr>
          <p:spPr>
            <a:xfrm rot="2285900">
              <a:off x="5873054" y="4865740"/>
              <a:ext cx="886615" cy="777763"/>
            </a:xfrm>
            <a:prstGeom prst="arc">
              <a:avLst/>
            </a:prstGeom>
            <a:ln w="5080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49" name="Text Box 78">
              <a:extLst>
                <a:ext uri="{FF2B5EF4-FFF2-40B4-BE49-F238E27FC236}">
                  <a16:creationId xmlns:a16="http://schemas.microsoft.com/office/drawing/2014/main" id="{377E0D85-E91A-DC90-62EE-83A02BC56369}"/>
                </a:ext>
              </a:extLst>
            </p:cNvPr>
            <p:cNvSpPr txBox="1"/>
            <p:nvPr/>
          </p:nvSpPr>
          <p:spPr>
            <a:xfrm>
              <a:off x="4727056" y="4965337"/>
              <a:ext cx="2514147" cy="28928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Plantar flexion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7313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3001F2D-9FE9-82AE-CE29-0ED213189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47" y="610328"/>
            <a:ext cx="4241800" cy="599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63CC2C-895D-4D8D-AD17-E68005ADB664}"/>
              </a:ext>
            </a:extLst>
          </p:cNvPr>
          <p:cNvSpPr txBox="1"/>
          <p:nvPr/>
        </p:nvSpPr>
        <p:spPr>
          <a:xfrm>
            <a:off x="4647159" y="143674"/>
            <a:ext cx="3290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Limb System : </a:t>
            </a:r>
            <a:r>
              <a:rPr lang="en-US" dirty="0">
                <a:solidFill>
                  <a:srgbClr val="0070C0"/>
                </a:solidFill>
              </a:rPr>
              <a:t>foot</a:t>
            </a:r>
          </a:p>
          <a:p>
            <a:r>
              <a:rPr lang="en-US" dirty="0"/>
              <a:t>Joint:  </a:t>
            </a:r>
            <a:r>
              <a:rPr lang="en-US" dirty="0">
                <a:solidFill>
                  <a:srgbClr val="0070C0"/>
                </a:solidFill>
              </a:rPr>
              <a:t>ankle</a:t>
            </a:r>
          </a:p>
          <a:p>
            <a:r>
              <a:rPr lang="en-US" b="1" dirty="0">
                <a:solidFill>
                  <a:srgbClr val="FF0000"/>
                </a:solidFill>
              </a:rPr>
              <a:t>Muscle: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85E559D-3C56-4A18-8A1E-0F9A7F5529B8}"/>
              </a:ext>
            </a:extLst>
          </p:cNvPr>
          <p:cNvCxnSpPr>
            <a:cxnSpLocks/>
          </p:cNvCxnSpPr>
          <p:nvPr/>
        </p:nvCxnSpPr>
        <p:spPr>
          <a:xfrm flipH="1">
            <a:off x="4726743" y="3607528"/>
            <a:ext cx="5022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1073741836">
            <a:extLst>
              <a:ext uri="{FF2B5EF4-FFF2-40B4-BE49-F238E27FC236}">
                <a16:creationId xmlns:a16="http://schemas.microsoft.com/office/drawing/2014/main" id="{9CD77AFA-7FF2-4002-9481-6FFF445AF4E3}"/>
              </a:ext>
            </a:extLst>
          </p:cNvPr>
          <p:cNvSpPr txBox="1"/>
          <p:nvPr/>
        </p:nvSpPr>
        <p:spPr>
          <a:xfrm>
            <a:off x="4659206" y="3802019"/>
            <a:ext cx="441139" cy="58646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</a:t>
            </a:r>
            <a:endParaRPr lang="en-US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94AE66-6760-4D21-BA5F-DC01074DFBA6}"/>
              </a:ext>
            </a:extLst>
          </p:cNvPr>
          <p:cNvSpPr txBox="1"/>
          <p:nvPr/>
        </p:nvSpPr>
        <p:spPr>
          <a:xfrm>
            <a:off x="8440124" y="178294"/>
            <a:ext cx="41260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Torque Equilibrium Eqn.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                  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</a:t>
            </a:r>
            <a:endParaRPr lang="en-US" sz="2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0EC99B-5B67-4216-8062-406C41760241}"/>
              </a:ext>
            </a:extLst>
          </p:cNvPr>
          <p:cNvSpPr/>
          <p:nvPr/>
        </p:nvSpPr>
        <p:spPr>
          <a:xfrm>
            <a:off x="9487044" y="898229"/>
            <a:ext cx="1569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4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4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floor</a:t>
            </a: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B910B6-F53D-4094-8A10-E59920BB401D}"/>
              </a:ext>
            </a:extLst>
          </p:cNvPr>
          <p:cNvSpPr txBox="1"/>
          <p:nvPr/>
        </p:nvSpPr>
        <p:spPr>
          <a:xfrm>
            <a:off x="9342431" y="1284711"/>
            <a:ext cx="2580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n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F0"/>
                </a:solidFill>
              </a:rPr>
              <a:t>r</a:t>
            </a:r>
            <a:r>
              <a:rPr lang="en-US" sz="2400" baseline="-25000" dirty="0">
                <a:solidFill>
                  <a:srgbClr val="00B0F0"/>
                </a:solidFill>
                <a:sym typeface="Symbol" panose="05050102010706020507" pitchFamily="18" charset="2"/>
              </a:rPr>
              <a:t>n</a:t>
            </a:r>
            <a:r>
              <a:rPr lang="en-US" sz="2400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sz="2400" dirty="0">
                <a:sym typeface="Symbol" panose="05050102010706020507" pitchFamily="18" charset="2"/>
              </a:rPr>
              <a:t>= </a:t>
            </a:r>
            <a:r>
              <a:rPr lang="en-US" sz="2400" dirty="0">
                <a:solidFill>
                  <a:srgbClr val="FF0000"/>
                </a:solidFill>
              </a:rPr>
              <a:t>M r</a:t>
            </a:r>
            <a:r>
              <a:rPr lang="en-US" sz="24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M</a:t>
            </a:r>
            <a:endParaRPr lang="en-US" sz="2400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0578289-CDBB-4843-8BBB-75764DBC4CC6}"/>
                  </a:ext>
                </a:extLst>
              </p:cNvPr>
              <p:cNvSpPr txBox="1"/>
              <p:nvPr/>
            </p:nvSpPr>
            <p:spPr>
              <a:xfrm>
                <a:off x="9060815" y="2324805"/>
                <a:ext cx="2691958" cy="619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M</a:t>
                </a:r>
                <a:r>
                  <a:rPr lang="en-US" sz="2400" dirty="0"/>
                  <a:t> </a:t>
                </a:r>
                <a:r>
                  <a:rPr lang="en-US" sz="2400" dirty="0">
                    <a:sym typeface="Symbol" panose="05050102010706020507" pitchFamily="18" charset="2"/>
                  </a:rPr>
                  <a:t>= </a:t>
                </a:r>
                <a:r>
                  <a:rPr lang="en-US" sz="2400" dirty="0">
                    <a:solidFill>
                      <a:srgbClr val="00B0F0"/>
                    </a:solidFill>
                  </a:rPr>
                  <a:t>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M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0578289-CDBB-4843-8BBB-75764DBC4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815" y="2324805"/>
                <a:ext cx="2691958" cy="619272"/>
              </a:xfrm>
              <a:prstGeom prst="rect">
                <a:avLst/>
              </a:prstGeom>
              <a:blipFill>
                <a:blip r:embed="rId3"/>
                <a:stretch>
                  <a:fillRect l="-3286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E2F0CB23-2039-4228-8260-02E7E904F142}"/>
              </a:ext>
            </a:extLst>
          </p:cNvPr>
          <p:cNvSpPr txBox="1"/>
          <p:nvPr/>
        </p:nvSpPr>
        <p:spPr>
          <a:xfrm>
            <a:off x="8833969" y="5372373"/>
            <a:ext cx="235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</a:t>
            </a:r>
            <a:r>
              <a:rPr lang="en-US" sz="2400" dirty="0"/>
              <a:t> </a:t>
            </a:r>
            <a:r>
              <a:rPr lang="en-US" sz="2400" dirty="0">
                <a:sym typeface="Symbol" panose="05050102010706020507" pitchFamily="18" charset="2"/>
              </a:rPr>
              <a:t>= </a:t>
            </a:r>
            <a:r>
              <a:rPr lang="en-US" sz="2400" dirty="0">
                <a:solidFill>
                  <a:srgbClr val="00B0F0"/>
                </a:solidFill>
              </a:rPr>
              <a:t>n</a:t>
            </a:r>
            <a:r>
              <a:rPr lang="en-US" sz="2400" dirty="0"/>
              <a:t> *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7FD9D5-9222-43D2-ACF4-26E4C8592E82}"/>
              </a:ext>
            </a:extLst>
          </p:cNvPr>
          <p:cNvSpPr txBox="1"/>
          <p:nvPr/>
        </p:nvSpPr>
        <p:spPr>
          <a:xfrm>
            <a:off x="8863310" y="5946015"/>
            <a:ext cx="1858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</a:t>
            </a:r>
            <a:r>
              <a:rPr lang="en-US" sz="2400" dirty="0"/>
              <a:t> </a:t>
            </a:r>
            <a:r>
              <a:rPr lang="en-US" sz="2400" dirty="0">
                <a:sym typeface="Symbol" panose="05050102010706020507" pitchFamily="18" charset="2"/>
              </a:rPr>
              <a:t>= ? </a:t>
            </a:r>
            <a:r>
              <a:rPr lang="en-US" sz="2400" dirty="0">
                <a:solidFill>
                  <a:srgbClr val="00B050"/>
                </a:solidFill>
              </a:rPr>
              <a:t>W</a:t>
            </a:r>
            <a:r>
              <a:rPr lang="en-US" sz="2400" baseline="-25000" dirty="0">
                <a:solidFill>
                  <a:srgbClr val="00B050"/>
                </a:solidFill>
              </a:rPr>
              <a:t>body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5CB85B-2906-4DD7-9060-23C1956F1F69}"/>
              </a:ext>
            </a:extLst>
          </p:cNvPr>
          <p:cNvCxnSpPr>
            <a:cxnSpLocks/>
          </p:cNvCxnSpPr>
          <p:nvPr/>
        </p:nvCxnSpPr>
        <p:spPr>
          <a:xfrm flipV="1">
            <a:off x="1046999" y="3603833"/>
            <a:ext cx="0" cy="2832486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EE4B39A-4DDA-48F4-9EEF-51A19DDDF2D8}"/>
              </a:ext>
            </a:extLst>
          </p:cNvPr>
          <p:cNvSpPr/>
          <p:nvPr/>
        </p:nvSpPr>
        <p:spPr>
          <a:xfrm>
            <a:off x="1966971" y="5834038"/>
            <a:ext cx="145143" cy="13631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379283-33F1-4A6E-8643-398FBE3960C8}"/>
              </a:ext>
            </a:extLst>
          </p:cNvPr>
          <p:cNvCxnSpPr>
            <a:cxnSpLocks/>
          </p:cNvCxnSpPr>
          <p:nvPr/>
        </p:nvCxnSpPr>
        <p:spPr>
          <a:xfrm>
            <a:off x="4790523" y="3035266"/>
            <a:ext cx="1051671" cy="2768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073741836">
            <a:extLst>
              <a:ext uri="{FF2B5EF4-FFF2-40B4-BE49-F238E27FC236}">
                <a16:creationId xmlns:a16="http://schemas.microsoft.com/office/drawing/2014/main" id="{DFB199C6-45B6-4682-AE57-ADA5C4211B0C}"/>
              </a:ext>
            </a:extLst>
          </p:cNvPr>
          <p:cNvSpPr txBox="1"/>
          <p:nvPr/>
        </p:nvSpPr>
        <p:spPr>
          <a:xfrm>
            <a:off x="5173210" y="3017369"/>
            <a:ext cx="441139" cy="58646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b="1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</a:t>
            </a:r>
            <a:endParaRPr lang="en-US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96017F-D1CD-4458-ACAD-574409A81840}"/>
              </a:ext>
            </a:extLst>
          </p:cNvPr>
          <p:cNvSpPr txBox="1"/>
          <p:nvPr/>
        </p:nvSpPr>
        <p:spPr>
          <a:xfrm>
            <a:off x="1159805" y="6213335"/>
            <a:ext cx="141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n</a:t>
            </a:r>
            <a:r>
              <a:rPr lang="en-US" sz="2400" b="1" baseline="-25000" dirty="0">
                <a:solidFill>
                  <a:srgbClr val="00B0F0"/>
                </a:solidFill>
              </a:rPr>
              <a:t>left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FBC57-CA80-4012-8053-1A05B1C01A78}"/>
              </a:ext>
            </a:extLst>
          </p:cNvPr>
          <p:cNvSpPr txBox="1"/>
          <p:nvPr/>
        </p:nvSpPr>
        <p:spPr>
          <a:xfrm>
            <a:off x="4647159" y="1155718"/>
            <a:ext cx="3075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n</a:t>
            </a:r>
            <a:r>
              <a:rPr lang="en-US" sz="2400" b="1" baseline="-25000" dirty="0">
                <a:solidFill>
                  <a:srgbClr val="00B0F0"/>
                </a:solidFill>
              </a:rPr>
              <a:t>left</a:t>
            </a:r>
            <a:r>
              <a:rPr lang="en-US" sz="2400" dirty="0"/>
              <a:t>=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50"/>
                </a:solidFill>
              </a:rPr>
              <a:t>W</a:t>
            </a:r>
            <a:r>
              <a:rPr lang="en-US" sz="2400" baseline="-25000" dirty="0">
                <a:solidFill>
                  <a:srgbClr val="00B050"/>
                </a:solidFill>
              </a:rPr>
              <a:t>body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311E36-F607-4707-AD4C-67ACE699227B}"/>
              </a:ext>
            </a:extLst>
          </p:cNvPr>
          <p:cNvCxnSpPr/>
          <p:nvPr/>
        </p:nvCxnSpPr>
        <p:spPr>
          <a:xfrm flipH="1" flipV="1">
            <a:off x="6299130" y="1788003"/>
            <a:ext cx="86754" cy="285798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76E7F40-CC1F-3CF3-9E30-D394CEB9128B}"/>
              </a:ext>
            </a:extLst>
          </p:cNvPr>
          <p:cNvSpPr txBox="1"/>
          <p:nvPr/>
        </p:nvSpPr>
        <p:spPr>
          <a:xfrm>
            <a:off x="7455979" y="4252537"/>
            <a:ext cx="4555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Calculate estimate for </a:t>
            </a:r>
            <a:r>
              <a:rPr lang="en-US" sz="2400" dirty="0">
                <a:solidFill>
                  <a:srgbClr val="FF0000"/>
                </a:solidFill>
              </a:rPr>
              <a:t>muscle </a:t>
            </a:r>
            <a:r>
              <a:rPr lang="en-US" sz="2400" dirty="0"/>
              <a:t>force</a:t>
            </a:r>
          </a:p>
        </p:txBody>
      </p:sp>
      <p:sp>
        <p:nvSpPr>
          <p:cNvPr id="47" name="Up Arrow Callout 46">
            <a:extLst>
              <a:ext uri="{FF2B5EF4-FFF2-40B4-BE49-F238E27FC236}">
                <a16:creationId xmlns:a16="http://schemas.microsoft.com/office/drawing/2014/main" id="{4A068799-FAC4-74AB-9244-00E21B38F2BA}"/>
              </a:ext>
            </a:extLst>
          </p:cNvPr>
          <p:cNvSpPr/>
          <p:nvPr/>
        </p:nvSpPr>
        <p:spPr>
          <a:xfrm>
            <a:off x="4863588" y="5716397"/>
            <a:ext cx="2593393" cy="951758"/>
          </a:xfrm>
          <a:prstGeom prst="upArrowCallou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Drag muscle vector and lever arms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AAF9B1-285D-88BC-9316-406D96413328}"/>
              </a:ext>
            </a:extLst>
          </p:cNvPr>
          <p:cNvSpPr txBox="1"/>
          <p:nvPr/>
        </p:nvSpPr>
        <p:spPr>
          <a:xfrm>
            <a:off x="7884600" y="3108180"/>
            <a:ext cx="3816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Estimate ratio of lever arms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5F0740-7D4E-654E-736A-95559689925F}"/>
                  </a:ext>
                </a:extLst>
              </p:cNvPr>
              <p:cNvSpPr txBox="1"/>
              <p:nvPr/>
            </p:nvSpPr>
            <p:spPr>
              <a:xfrm>
                <a:off x="9149707" y="3567616"/>
                <a:ext cx="1869897" cy="619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M</m:t>
                        </m:r>
                      </m:den>
                    </m:f>
                  </m:oMath>
                </a14:m>
                <a:r>
                  <a:rPr lang="en-US" sz="2400" dirty="0"/>
                  <a:t> = 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5F0740-7D4E-654E-736A-955596899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707" y="3567616"/>
                <a:ext cx="1869897" cy="619272"/>
              </a:xfrm>
              <a:prstGeom prst="rect">
                <a:avLst/>
              </a:prstGeom>
              <a:blipFill>
                <a:blip r:embed="rId4"/>
                <a:stretch>
                  <a:fillRect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D974B8B-0BF0-A758-C5C3-A33840AF6804}"/>
              </a:ext>
            </a:extLst>
          </p:cNvPr>
          <p:cNvSpPr txBox="1"/>
          <p:nvPr/>
        </p:nvSpPr>
        <p:spPr>
          <a:xfrm>
            <a:off x="7976950" y="1810220"/>
            <a:ext cx="3816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Isolating for unknown </a:t>
            </a:r>
            <a:r>
              <a:rPr lang="en-US" sz="2400" dirty="0">
                <a:solidFill>
                  <a:srgbClr val="FF0000"/>
                </a:solidFill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4E2B43A-3553-AB39-A628-6D5AD69DFAB4}"/>
                  </a:ext>
                </a:extLst>
              </p:cNvPr>
              <p:cNvSpPr txBox="1"/>
              <p:nvPr/>
            </p:nvSpPr>
            <p:spPr>
              <a:xfrm>
                <a:off x="8833969" y="4596027"/>
                <a:ext cx="2691958" cy="619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M</a:t>
                </a:r>
                <a:r>
                  <a:rPr lang="en-US" sz="2400" dirty="0"/>
                  <a:t> </a:t>
                </a:r>
                <a:r>
                  <a:rPr lang="en-US" sz="2400" dirty="0">
                    <a:sym typeface="Symbol" panose="05050102010706020507" pitchFamily="18" charset="2"/>
                  </a:rPr>
                  <a:t>= </a:t>
                </a:r>
                <a:r>
                  <a:rPr lang="en-US" sz="2400" dirty="0">
                    <a:solidFill>
                      <a:srgbClr val="00B0F0"/>
                    </a:solidFill>
                  </a:rPr>
                  <a:t>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M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4E2B43A-3553-AB39-A628-6D5AD69DF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969" y="4596027"/>
                <a:ext cx="2691958" cy="619272"/>
              </a:xfrm>
              <a:prstGeom prst="rect">
                <a:avLst/>
              </a:prstGeom>
              <a:blipFill>
                <a:blip r:embed="rId5"/>
                <a:stretch>
                  <a:fillRect l="-3756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34E4325-F7ED-3A3A-CC07-0598E1436B63}"/>
              </a:ext>
            </a:extLst>
          </p:cNvPr>
          <p:cNvCxnSpPr>
            <a:cxnSpLocks/>
          </p:cNvCxnSpPr>
          <p:nvPr/>
        </p:nvCxnSpPr>
        <p:spPr>
          <a:xfrm>
            <a:off x="5614349" y="3603833"/>
            <a:ext cx="0" cy="2230205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23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549</Words>
  <Application>Microsoft Macintosh PowerPoint</Application>
  <PresentationFormat>Widescreen</PresentationFormat>
  <Paragraphs>145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Beverly, Nancy</dc:creator>
  <cp:lastModifiedBy>Beverly, Nancy</cp:lastModifiedBy>
  <cp:revision>11</cp:revision>
  <dcterms:created xsi:type="dcterms:W3CDTF">2021-10-11T20:43:01Z</dcterms:created>
  <dcterms:modified xsi:type="dcterms:W3CDTF">2025-01-05T23:30:57Z</dcterms:modified>
</cp:coreProperties>
</file>